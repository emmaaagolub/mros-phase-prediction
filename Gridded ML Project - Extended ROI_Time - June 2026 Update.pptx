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3" r:id="rId6"/>
    <p:sldMasterId id="214748367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Lst>
  <p:sldSz cy="5143500" cx="9144000"/>
  <p:notesSz cx="6858000" cy="9144000"/>
  <p:embeddedFontLst>
    <p:embeddedFont>
      <p:font typeface="Roboto"/>
      <p:regular r:id="rId90"/>
      <p:bold r:id="rId91"/>
      <p:italic r:id="rId92"/>
      <p:boldItalic r:id="rId93"/>
    </p:embeddedFont>
    <p:embeddedFont>
      <p:font typeface="Roboto Medium"/>
      <p:regular r:id="rId94"/>
      <p:bold r:id="rId95"/>
      <p:italic r:id="rId96"/>
      <p:boldItalic r:id="rId97"/>
    </p:embeddedFont>
    <p:embeddedFont>
      <p:font typeface="Helvetica Neue Light"/>
      <p:regular r:id="rId98"/>
      <p:bold r:id="rId99"/>
      <p:italic r:id="rId100"/>
      <p:boldItalic r:id="rId101"/>
    </p:embeddedFont>
    <p:embeddedFont>
      <p:font typeface="Merriweather"/>
      <p:regular r:id="rId102"/>
      <p:bold r:id="rId103"/>
      <p:italic r:id="rId104"/>
      <p:boldItalic r:id="rId10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Nayoung Hur"/>
  <p:cmAuthor clrIdx="1" id="1" initials="" lastIdx="4" name="Emma Golub"/>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5D24AE4-C694-4153-94AB-1E15D84ED316}">
  <a:tblStyle styleId="{75D24AE4-C694-4153-94AB-1E15D84ED31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083C57D-9AA2-440F-BEE3-277E8C269043}"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5" Type="http://schemas.openxmlformats.org/officeDocument/2006/relationships/font" Target="fonts/Merriweather-boldItalic.fntdata"/><Relationship Id="rId104" Type="http://schemas.openxmlformats.org/officeDocument/2006/relationships/font" Target="fonts/Merriweather-italic.fntdata"/><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font" Target="fonts/Merriweather-bold.fntdata"/><Relationship Id="rId102" Type="http://schemas.openxmlformats.org/officeDocument/2006/relationships/font" Target="fonts/Merriweather-regular.fntdata"/><Relationship Id="rId101" Type="http://schemas.openxmlformats.org/officeDocument/2006/relationships/font" Target="fonts/HelveticaNeueLight-boldItalic.fntdata"/><Relationship Id="rId100" Type="http://schemas.openxmlformats.org/officeDocument/2006/relationships/font" Target="fonts/HelveticaNeueLight-italic.fntdata"/><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95" Type="http://schemas.openxmlformats.org/officeDocument/2006/relationships/font" Target="fonts/RobotoMedium-bold.fntdata"/><Relationship Id="rId94" Type="http://schemas.openxmlformats.org/officeDocument/2006/relationships/font" Target="fonts/RobotoMedium-regular.fntdata"/><Relationship Id="rId97" Type="http://schemas.openxmlformats.org/officeDocument/2006/relationships/font" Target="fonts/RobotoMedium-boldItalic.fntdata"/><Relationship Id="rId96" Type="http://schemas.openxmlformats.org/officeDocument/2006/relationships/font" Target="fonts/RobotoMedium-italic.fntdata"/><Relationship Id="rId11" Type="http://schemas.openxmlformats.org/officeDocument/2006/relationships/slide" Target="slides/slide3.xml"/><Relationship Id="rId99" Type="http://schemas.openxmlformats.org/officeDocument/2006/relationships/font" Target="fonts/HelveticaNeueLight-bold.fntdata"/><Relationship Id="rId10" Type="http://schemas.openxmlformats.org/officeDocument/2006/relationships/slide" Target="slides/slide2.xml"/><Relationship Id="rId98" Type="http://schemas.openxmlformats.org/officeDocument/2006/relationships/font" Target="fonts/HelveticaNeueLight-regular.fntdata"/><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font" Target="fonts/Roboto-bold.fntdata"/><Relationship Id="rId90" Type="http://schemas.openxmlformats.org/officeDocument/2006/relationships/font" Target="fonts/Roboto-regular.fntdata"/><Relationship Id="rId93" Type="http://schemas.openxmlformats.org/officeDocument/2006/relationships/font" Target="fonts/Roboto-boldItalic.fntdata"/><Relationship Id="rId92" Type="http://schemas.openxmlformats.org/officeDocument/2006/relationships/font" Target="fonts/Roboto-italic.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6-10T20:45:10.312">
    <p:pos x="6000" y="0"/>
    <p:text>might be nice to show where in relation to state lines these AOIs are. maybe an inset map showing the AOI and the state boundary?</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6-11T19:51:33.301">
    <p:pos x="0" y="1079"/>
    <p:text>Point out why CO is a smaller dataset (more obs from engagement in CA for two additional years)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 dt="2026-06-12T02:01:44.697">
    <p:pos x="6000" y="0"/>
    <p:text>@nhur@lynker.com - I actually brought these figures in to clarify what's happening near freezing, and I'd say that removing the MRoS surfaces also reduces performance near freezing as well! (when considering both wet bulb temp and air temp freezing ranges). You can see by flipping through slides 37-40 here for CA. The story is similar for CO but fairly noisier - I think because of the smaller val/test set sizes</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6-11T14:52:03.878">
    <p:pos x="6000" y="0"/>
    <p:text>this applies to CO as well, but i'm curious how we are defining "better" in this ablation study. like we're comparing it to the baseline, but shouldn't we instead be using the raw MRoS values, and seeing where each fall under how accurate it is?
i may not be making sense here, but we can chat more about this tomorrow!</p:text>
  </p:cm>
  <p:cm authorId="1" idx="3" dt="2026-06-11T14:52:03.878">
    <p:pos x="6000" y="0"/>
    <p:text>Do you mean raw MRoS values as in the point target labels? All the performance metrics shown are in relation to how the model predicts those "raw" MRoS point labels from our surface inputs (LOOCV MRoS data being one of those inputs)
Also - thank you for taking the time to look through these slides a bit!</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6-10T21:46:22.056">
    <p:pos x="125" y="631"/>
    <p:text>ok, this sort of answers my question, but still curious on methods for the ablation study!</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6-11T16:05:44.215">
    <p:pos x="315" y="714"/>
    <p:text>i'm not exactly sure what this means!</p:text>
  </p:cm>
  <p:cm authorId="1" idx="4" dt="2026-06-11T16:05:44.215">
    <p:pos x="315" y="714"/>
    <p:text>What I mean by "credit-splitting" is really the way in which both XGBoost and SHAP handle the decision tree with correlated variables.
When the MRoS LOOCV surfaces are included, XGBoost splits on them because they end up carrying a stronger phase signal than any temp variable alone (possibly because they encode what nearby observers actually reported, which already reflects local temp conditions plus terrain), making temp appear less important.
When we consider the case where remove the LOOCV surfaces (I haven't shown you the SHAP figure for this but I can show you today), the model falls back on temp, but wet bulb still doesn't dominate. We know wet bulb, air temperature, and dew point are highly correlated to begin with, so I think XGBoost spreads its reliance across all of the temperature variables and SHAP divides the credit accordingly. 
One note: dew point does come out slightly stronger in the no-LOOCV case, perhaps because it carries some independent moisture information that air temperature and wet bulb don't?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50d369450688581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50d369450688581_13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50d369450688581_13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8b76cb92fc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8b76cb92f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b052b7f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b052b7f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755dcf1d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755dcf1d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578daa2f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9578daa2f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a7a7a9f3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aa7a7a9f3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85750" lvl="0" marL="457200" rtl="0" algn="l">
              <a:lnSpc>
                <a:spcPct val="115000"/>
              </a:lnSpc>
              <a:spcBef>
                <a:spcPts val="1200"/>
              </a:spcBef>
              <a:spcAft>
                <a:spcPts val="0"/>
              </a:spcAft>
              <a:buClr>
                <a:schemeClr val="dk1"/>
              </a:buClr>
              <a:buSzPts val="900"/>
              <a:buChar char="●"/>
            </a:pPr>
            <a:r>
              <a:t/>
            </a:r>
            <a:endParaRPr sz="10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4c0020546_1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a4c0020546_1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86e2c783b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d86e2c783b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cb3514f57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cb3514f57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e2f72f19f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e2f72f19f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sz="1200">
                <a:solidFill>
                  <a:schemeClr val="dk1"/>
                </a:solidFill>
              </a:rPr>
              <a:t>Rerun to change green color of MRoS stations in CA extent to BLACK</a:t>
            </a:r>
            <a:endParaRPr i="1" sz="1200">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ed41fea425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ed41fea425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Adjust to better visualize phase locations overlap - also consider talking more to how we EXCLUDE the summer non-obs seasons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e0dc898aa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e0dc898a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Adjust to better visualize phase locations overlap</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eb8c035f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eb8c035f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Subregion to investigate most balanced dataset? To prove imbalance is affecting SHAP feature – run on a subset of elevation</a:t>
            </a:r>
            <a:endParaRPr b="1"/>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e2f72f19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e2f72f19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e2f72f19f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e2f72f19f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ed3a99ed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ed3a99ed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9755dcf1dd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9755dcf1dd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a8875886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a8875886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8b76cb92fc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8b76cb92fc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cc9b0c116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cc9b0c116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9a93cb88a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9a93cb88a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9755dcf1dd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9755dcf1dd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9a93cb88a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9a93cb88a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ed41fea425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ed41fea425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ed55feea9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ed55feea9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9a93cb88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9a93cb88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abstention test in ML refers to evaluating a model’s ability to refuse to answer; identifying its own limitations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ed55feea9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ed55feea9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a post-hoc construction applied to a binary probability output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9755dcf1dd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9755dcf1dd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9578daa2fc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9578daa2fc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ed41fea42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ed41fea42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eb8c035ff9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eb8c035ff9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ed55feea9d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ed55feea9d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PR curve still reflecting class imbalance, but strong AP - snow dominated; showing what we know already, not necessarily model skill</a:t>
            </a:r>
            <a:endParaRPr sz="1200">
              <a:solidFill>
                <a:schemeClr val="dk1"/>
              </a:solidFill>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9755dcf1dd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9755dcf1d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ed41fea425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ed41fea425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i="1" lang="en">
                <a:solidFill>
                  <a:schemeClr val="dk1"/>
                </a:solidFill>
              </a:rPr>
              <a:t>Abstention rate is the operational behavior of the flag: how often will a user see "uncertain" at each temperature</a:t>
            </a: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i="1" lang="en">
                <a:solidFill>
                  <a:schemeClr val="dk1"/>
                </a:solidFill>
              </a:rPr>
              <a:t>Observer-mix in band shows whether the flag is physically meaningful: does it land on the events that are genuinely hard to predict?</a:t>
            </a:r>
            <a:endParaRPr i="1">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eb8c035ff9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eb8c035ff9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Explore what those figures from previous slide would look like on axis with air temperature instead of just wet bulb temperature</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ed41fea42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ed41fea42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Model is overconfident —assigning extreme probabilities to events that are uncertain, pushing them outside the band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Most mix events are confidently assigned as either snow (p≈1, many red X's at top) or rain (p≈0, many red X's at bottom)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CA's mix events are harder →</a:t>
            </a:r>
            <a:r>
              <a:rPr lang="en">
                <a:solidFill>
                  <a:schemeClr val="dk1"/>
                </a:solidFill>
              </a:rPr>
              <a:t> </a:t>
            </a:r>
            <a:r>
              <a:rPr lang="en">
                <a:solidFill>
                  <a:schemeClr val="dk1"/>
                </a:solidFill>
              </a:rPr>
              <a:t>they span a wider temperature and probability range, suggesting meteorological ambiguity.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later slide, CO's missed mix events are mostly cases where the model was confidently wrong (high p(snow) assigned to a mix event), rather than spread-out uncertainty.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Violin plots: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Snow: Extremely tight at p≈1.0 across all temperature bins, even into positive T_wet. The model is very confident about snow across the board →</a:t>
            </a:r>
            <a:r>
              <a:rPr lang="en">
                <a:solidFill>
                  <a:schemeClr val="dk1"/>
                </a:solidFill>
              </a:rPr>
              <a:t> </a:t>
            </a:r>
            <a:r>
              <a:rPr lang="en">
                <a:solidFill>
                  <a:schemeClr val="dk1"/>
                </a:solidFill>
              </a:rPr>
              <a:t>maybe too confident at warmer bins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Rain: Concentrated near p≈0 at cold bins, but spreads substantially as T_wet increases, showing healthy uncertainty growth at warmer temps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Mix/uncertainty: Broadly distributed across the full p(snow) range in every bin →</a:t>
            </a:r>
            <a:r>
              <a:rPr lang="en">
                <a:solidFill>
                  <a:schemeClr val="dk1"/>
                </a:solidFill>
              </a:rPr>
              <a:t> </a:t>
            </a:r>
            <a:r>
              <a:rPr lang="en">
                <a:solidFill>
                  <a:schemeClr val="dk1"/>
                </a:solidFill>
              </a:rPr>
              <a:t>the model assigns “mix”/uncertainty events all kinds of probabilities with no consistent center. This confirms mix events are not forming a coherent third cluster; they're scattered between the snow and rain distributions</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ed41fea425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ed41fea425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eb8c035ff9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eb8c035ff9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ed55feea9d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ed55feea9d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eb8c035ff9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eb8c035ff9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9755dcf1d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9755dcf1d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e7447f6f0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e7447f6f0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Something wrong is happening with the multiregion IDW</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e7447f6f01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e7447f6f01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ed41fea42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ed41fea42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Feature importance profile is balanced across features:</a:t>
            </a:r>
            <a:endParaRPr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rPr>
              <a:t>elev and mros_p_snow_loocv are the top two features overall (~0.105–0.13), followed closely by mros_p_rain_loocv and imerg_plp</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Temperature features (temp_air, temp_wet) are surprisingly </a:t>
            </a:r>
            <a:r>
              <a:rPr i="1" lang="en" sz="1300">
                <a:solidFill>
                  <a:schemeClr val="dk1"/>
                </a:solidFill>
              </a:rPr>
              <a:t>weak</a:t>
            </a:r>
            <a:r>
              <a:rPr lang="en" sz="1300">
                <a:solidFill>
                  <a:schemeClr val="dk1"/>
                </a:solidFill>
              </a:rPr>
              <a:t> →</a:t>
            </a:r>
            <a:r>
              <a:rPr lang="en" sz="1300">
                <a:solidFill>
                  <a:schemeClr val="dk1"/>
                </a:solidFill>
              </a:rPr>
              <a:t> </a:t>
            </a:r>
            <a:r>
              <a:rPr lang="en" sz="1300">
                <a:solidFill>
                  <a:schemeClr val="dk1"/>
                </a:solidFill>
              </a:rPr>
              <a:t>among the lowest SHAP values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“Mix” predictions are dominated by elev (0.18). When the model is uncertain in CA, elevation is the primary driver, suggesting the band captures events where topographic context is most informative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Rain and snow predictions are driven by a combo of mros loocv features and elevation roughly equally</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temp_dew matters more than temp_air or temp_wet for rain prediction →</a:t>
            </a:r>
            <a:r>
              <a:rPr lang="en" sz="1300">
                <a:solidFill>
                  <a:schemeClr val="dk1"/>
                </a:solidFill>
              </a:rPr>
              <a:t> </a:t>
            </a:r>
            <a:r>
              <a:rPr lang="en" sz="1300">
                <a:solidFill>
                  <a:schemeClr val="dk1"/>
                </a:solidFill>
              </a:rPr>
              <a:t>moisture content is more discriminating than raw temperature in CA?</a:t>
            </a:r>
            <a:endParaRPr sz="1300">
              <a:solidFill>
                <a:schemeClr val="dk1"/>
              </a:solidFill>
            </a:endParaRPr>
          </a:p>
          <a:p>
            <a:pPr indent="0" lvl="0" marL="0" rtl="0" algn="l">
              <a:spcBef>
                <a:spcPts val="1200"/>
              </a:spcBef>
              <a:spcAft>
                <a:spcPts val="0"/>
              </a:spcAft>
              <a:buNone/>
            </a:pPr>
            <a:r>
              <a:t/>
            </a:r>
            <a:endParaRPr sz="1300"/>
          </a:p>
          <a:p>
            <a:pPr indent="0" lvl="0" marL="0" rtl="0" algn="l">
              <a:spcBef>
                <a:spcPts val="0"/>
              </a:spcBef>
              <a:spcAft>
                <a:spcPts val="0"/>
              </a:spcAft>
              <a:buNone/>
            </a:pPr>
            <a:r>
              <a:rPr lang="en" sz="1300"/>
              <a:t>Since data is </a:t>
            </a:r>
            <a:r>
              <a:rPr lang="en" sz="1300"/>
              <a:t>imbalance</a:t>
            </a:r>
            <a:r>
              <a:rPr lang="en" sz="1300"/>
              <a:t>, lack of rain is being overcorrected for? That’s why rain is a little higher in importance?</a:t>
            </a:r>
            <a:endParaRPr sz="1300"/>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ed66800eb1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ed66800eb1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ed41fea425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ed41fea425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Char char="●"/>
            </a:pPr>
            <a:r>
              <a:rPr lang="en" sz="1300">
                <a:solidFill>
                  <a:schemeClr val="dk1"/>
                </a:solidFill>
              </a:rPr>
              <a:t>elev is dominant in the transition zone (-2 to +2°C), peaking sharply at 0–1°C (~0.143) →</a:t>
            </a:r>
            <a:r>
              <a:rPr lang="en" sz="1300">
                <a:solidFill>
                  <a:schemeClr val="dk1"/>
                </a:solidFill>
              </a:rPr>
              <a:t> </a:t>
            </a:r>
            <a:r>
              <a:rPr lang="en" sz="1300">
                <a:solidFill>
                  <a:schemeClr val="dk1"/>
                </a:solidFill>
              </a:rPr>
              <a:t>we expect topographic effects to matter most for phase determination here</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mros_p_rain_loocv rises through the transition zone and stays high at warm bins, showing rain prior kicks in as T_wet increases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mros_p_snow_loocv dominates at cold bins and falls off through the transition zone →</a:t>
            </a:r>
            <a:r>
              <a:rPr lang="en" sz="1300">
                <a:solidFill>
                  <a:schemeClr val="dk1"/>
                </a:solidFill>
              </a:rPr>
              <a:t> </a:t>
            </a:r>
            <a:r>
              <a:rPr lang="en" sz="1300">
                <a:solidFill>
                  <a:schemeClr val="dk1"/>
                </a:solidFill>
              </a:rPr>
              <a:t>the snow prior is most useful when it's clearly cold</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imerg_plp stays relatively flat and low throughout</a:t>
            </a:r>
            <a:endParaRPr sz="1300">
              <a:solidFill>
                <a:schemeClr val="dk1"/>
              </a:solidFill>
            </a:endParaRPr>
          </a:p>
          <a:p>
            <a:pPr indent="-311150" lvl="0" marL="457200" rtl="0" algn="l">
              <a:spcBef>
                <a:spcPts val="0"/>
              </a:spcBef>
              <a:spcAft>
                <a:spcPts val="0"/>
              </a:spcAft>
              <a:buClr>
                <a:srgbClr val="FF0000"/>
              </a:buClr>
              <a:buSzPts val="1300"/>
              <a:buChar char="●"/>
            </a:pPr>
            <a:r>
              <a:rPr lang="en" sz="1300">
                <a:solidFill>
                  <a:srgbClr val="FF0000"/>
                </a:solidFill>
              </a:rPr>
              <a:t>temp_dew is the weakest feature… why? Perhaps because SHAP on XGBoosted trees steals influence/importance from other temperature variables… issue of redundancy?</a:t>
            </a:r>
            <a:endParaRPr sz="1300">
              <a:solidFill>
                <a:srgbClr val="FF0000"/>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e85cd58fc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e85cd58fc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e8b6fd557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e8b6fd557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The F1 score measured model’s balance between precision and recall (i.e., slide 32) vs </a:t>
            </a:r>
            <a:r>
              <a:rPr b="1" i="1" lang="en"/>
              <a:t>macro F1</a:t>
            </a:r>
            <a:r>
              <a:rPr i="1" lang="en"/>
              <a:t> score averages F1 scores across both class equally, regardless of class size</a:t>
            </a:r>
            <a:endParaRPr i="1"/>
          </a:p>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e8b6fd557c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e8b6fd557c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e8b6fd557c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e8b6fd557c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t>Other graph TBA</a:t>
            </a:r>
            <a:endParaRPr sz="1300"/>
          </a:p>
          <a:p>
            <a:pPr indent="0" lvl="0" marL="0" rtl="0" algn="l">
              <a:lnSpc>
                <a:spcPct val="115000"/>
              </a:lnSpc>
              <a:spcBef>
                <a:spcPts val="1200"/>
              </a:spcBef>
              <a:spcAft>
                <a:spcPts val="1200"/>
              </a:spcAft>
              <a:buNone/>
            </a:pPr>
            <a:r>
              <a:rPr lang="en" sz="1300"/>
              <a:t>Graph on right shows tradeoff between capture rate and macro F1</a:t>
            </a:r>
            <a:endParaRPr sz="1300"/>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e8b6fd557c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e8b6fd557c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t>larger negative delta means that ablation has lower ECE than baseline, so removing those features actually improved calibration</a:t>
            </a:r>
            <a:endParaRPr sz="1300"/>
          </a:p>
          <a:p>
            <a:pPr indent="-311150" lvl="0" marL="457200" rtl="0" algn="l">
              <a:spcBef>
                <a:spcPts val="0"/>
              </a:spcBef>
              <a:spcAft>
                <a:spcPts val="0"/>
              </a:spcAft>
              <a:buSzPts val="1300"/>
              <a:buChar char="-"/>
            </a:pPr>
            <a:r>
              <a:rPr lang="en" sz="1300"/>
              <a:t>lower ECE ≠ better model; the features driving performance also drive overconfidence, let’s investigate where those features or problem cluster in CA are occuring…</a:t>
            </a:r>
            <a:endParaRPr sz="1300"/>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e8b6fd557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e8b6fd557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42 CA observations (~0.2% of data) where calibrated p(snow) &lt; 0.05 but the observer reported snow (each contributing outsized ECE penalty)</a:t>
            </a:r>
            <a:endParaRPr/>
          </a:p>
          <a:p>
            <a:pPr indent="-298450" lvl="0" marL="457200" rtl="0" algn="l">
              <a:spcBef>
                <a:spcPts val="0"/>
              </a:spcBef>
              <a:spcAft>
                <a:spcPts val="0"/>
              </a:spcAft>
              <a:buSzPts val="1100"/>
              <a:buChar char="●"/>
            </a:pPr>
            <a:r>
              <a:rPr lang="en"/>
              <a:t>The model isn’t necessarily miscalibrated; it’s learning network consensus over a single observer. Whether the observer or the network is correct cannot be resolved from available data</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e8b6fd557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3e8b6fd557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e8b6fd557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e8b6fd557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e8b6fd557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e8b6fd557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e8b6fd557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3e8b6fd557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d55feea9d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ed55feea9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 sz="1200">
                <a:solidFill>
                  <a:schemeClr val="dk1"/>
                </a:solidFill>
                <a:latin typeface="Roboto"/>
                <a:ea typeface="Roboto"/>
                <a:cs typeface="Roboto"/>
                <a:sym typeface="Roboto"/>
              </a:rPr>
              <a:t>Remaining snow bias, even after class imbalance handling; most observations in the dataset are snow.</a:t>
            </a:r>
            <a:endParaRPr sz="1200">
              <a:solidFill>
                <a:schemeClr val="dk1"/>
              </a:solidFill>
              <a:latin typeface="Roboto"/>
              <a:ea typeface="Roboto"/>
              <a:cs typeface="Roboto"/>
              <a:sym typeface="Roboto"/>
            </a:endParaRPr>
          </a:p>
          <a:p>
            <a:pPr indent="0" lvl="0" marL="457200" rtl="0" algn="l">
              <a:spcBef>
                <a:spcPts val="0"/>
              </a:spcBef>
              <a:spcAft>
                <a:spcPts val="0"/>
              </a:spcAft>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ed55feea9d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ed55feea9d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Why the near 1.0 nature in PR curve?</a:t>
            </a:r>
            <a:endParaRPr sz="1200">
              <a:solidFill>
                <a:schemeClr val="dk1"/>
              </a:solidFill>
              <a:latin typeface="Roboto"/>
              <a:ea typeface="Roboto"/>
              <a:cs typeface="Roboto"/>
              <a:sym typeface="Roboto"/>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e85cd58fcb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3e85cd58fc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85cd58fcb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e85cd58fc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e85cd58fc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e85cd58fc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Far fewer mix events total →</a:t>
            </a:r>
            <a:r>
              <a:rPr lang="en">
                <a:solidFill>
                  <a:schemeClr val="dk1"/>
                </a:solidFill>
              </a:rPr>
              <a:t> </a:t>
            </a:r>
            <a:r>
              <a:rPr lang="en">
                <a:solidFill>
                  <a:schemeClr val="dk1"/>
                </a:solidFill>
              </a:rPr>
              <a:t>CO doesn't generate many ambiguous cases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Capture rate is slightly better than CA (35% vs 29%)</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Nearly all the missed red X's sit at p&gt;0.8 or p&lt;0.2 →</a:t>
            </a:r>
            <a:r>
              <a:rPr lang="en">
                <a:solidFill>
                  <a:schemeClr val="dk1"/>
                </a:solidFill>
              </a:rPr>
              <a:t> </a:t>
            </a:r>
            <a:r>
              <a:rPr lang="en">
                <a:solidFill>
                  <a:schemeClr val="dk1"/>
                </a:solidFill>
              </a:rPr>
              <a:t>again model is overconfident, but captured dots are much more tightly clustered near p=0.5–0.65 and T_wet -1 to +2°C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band placement looks more appropriate for CO's actual mix distribution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Violin plots: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Snow (blue): Also tight near p=1.0 in cold bins, but notably the distribution widens and drops in the +2–4°C and +4–6°C bins →</a:t>
            </a:r>
            <a:r>
              <a:rPr lang="en">
                <a:solidFill>
                  <a:schemeClr val="dk1"/>
                </a:solidFill>
              </a:rPr>
              <a:t> </a:t>
            </a:r>
            <a:r>
              <a:rPr lang="en">
                <a:solidFill>
                  <a:schemeClr val="dk1"/>
                </a:solidFill>
              </a:rPr>
              <a:t>the model knows it's less certain about warm snow in CO, which is good calibration behavior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Rain (green): Much wider distributions than CA at all temperature bins, especially -4 to +2°C. Rain in CO spans from p=0.2 to p=0.9 in the transition zone →</a:t>
            </a:r>
            <a:r>
              <a:rPr lang="en">
                <a:solidFill>
                  <a:schemeClr val="dk1"/>
                </a:solidFill>
              </a:rPr>
              <a:t> </a:t>
            </a:r>
            <a:r>
              <a:rPr lang="en">
                <a:solidFill>
                  <a:schemeClr val="dk1"/>
                </a:solidFill>
              </a:rPr>
              <a:t>the model struggles to separate rain from snow there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Mix (pink): In CO, mix distributions are narrower and more centered around p=0.5–0.7 in the transition bins (0–2°C, 2–4°C), suggesting the model's uncertainty is better targeted to the right temperature range, even if capture rate is still low</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e85cd58fcb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e85cd58fcb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eb8c035ff9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eb8c035ff9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ed55feea9d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3ed55feea9d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eb8c035ff9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3eb8c035ff9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e7447f6f01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3e7447f6f01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Something wrong was happening with the multiregion IDW…</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e85cd58fc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3e85cd58fc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Char char="●"/>
            </a:pPr>
            <a:r>
              <a:rPr lang="en" sz="1300">
                <a:solidFill>
                  <a:schemeClr val="dk1"/>
                </a:solidFill>
              </a:rPr>
              <a:t>imerg_plp is the dominant feature overall, and especially for rain (~0.19) and mix (~0.15) →</a:t>
            </a:r>
            <a:r>
              <a:rPr lang="en" sz="1300">
                <a:solidFill>
                  <a:schemeClr val="dk1"/>
                </a:solidFill>
              </a:rPr>
              <a:t> </a:t>
            </a:r>
            <a:r>
              <a:rPr lang="en" sz="1300">
                <a:solidFill>
                  <a:schemeClr val="dk1"/>
                </a:solidFill>
              </a:rPr>
              <a:t>precipitation amount is </a:t>
            </a:r>
            <a:r>
              <a:rPr i="1" lang="en" sz="1300">
                <a:solidFill>
                  <a:schemeClr val="dk1"/>
                </a:solidFill>
              </a:rPr>
              <a:t>far</a:t>
            </a:r>
            <a:r>
              <a:rPr lang="en" sz="1300">
                <a:solidFill>
                  <a:schemeClr val="dk1"/>
                </a:solidFill>
              </a:rPr>
              <a:t> more important in CO than CA</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mros_p_snow_loocv is the second most important, especially for rain and mix (~0.145)</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temp_air matters much more in CO than CA, especially for rain (~0.13) and mix (~0.095) →</a:t>
            </a:r>
            <a:r>
              <a:rPr lang="en" sz="1300">
                <a:solidFill>
                  <a:schemeClr val="dk1"/>
                </a:solidFill>
              </a:rPr>
              <a:t> </a:t>
            </a:r>
            <a:r>
              <a:rPr lang="en" sz="1300">
                <a:solidFill>
                  <a:schemeClr val="dk1"/>
                </a:solidFill>
              </a:rPr>
              <a:t>CO actually uses temperature</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elev is relatively weak (~0.065–0.098) compared to CA where it dominated</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mros_p_rain_loocv and mros_p_mix_loocv are low across all phases →</a:t>
            </a:r>
            <a:r>
              <a:rPr lang="en" sz="1300">
                <a:solidFill>
                  <a:schemeClr val="dk1"/>
                </a:solidFill>
              </a:rPr>
              <a:t> </a:t>
            </a:r>
            <a:r>
              <a:rPr lang="en" sz="1300">
                <a:solidFill>
                  <a:schemeClr val="dk1"/>
                </a:solidFill>
              </a:rPr>
              <a:t>the model has weak rain/mix climatological priors in CO, consistent with those being rare events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Snow predictions are curiously low on almost everything →</a:t>
            </a:r>
            <a:r>
              <a:rPr lang="en" sz="1300">
                <a:solidFill>
                  <a:schemeClr val="dk1"/>
                </a:solidFill>
              </a:rPr>
              <a:t> </a:t>
            </a:r>
            <a:r>
              <a:rPr lang="en" sz="1300">
                <a:solidFill>
                  <a:schemeClr val="dk1"/>
                </a:solidFill>
              </a:rPr>
              <a:t>the model is confident about snow without needing strong feature signals</a:t>
            </a:r>
            <a:endParaRPr sz="1300"/>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ed41fea425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3ed41fea425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Clr>
                <a:schemeClr val="dk1"/>
              </a:buClr>
              <a:buSzPts val="1300"/>
              <a:buChar char="●"/>
            </a:pPr>
            <a:r>
              <a:rPr lang="en" sz="1300">
                <a:solidFill>
                  <a:schemeClr val="dk1"/>
                </a:solidFill>
              </a:rPr>
              <a:t>imerg_plp starts moderate at cold bins (~0.08) and rises</a:t>
            </a:r>
            <a:r>
              <a:rPr i="1" lang="en" sz="1300">
                <a:solidFill>
                  <a:schemeClr val="dk1"/>
                </a:solidFill>
              </a:rPr>
              <a:t> </a:t>
            </a:r>
            <a:r>
              <a:rPr lang="en" sz="1300">
                <a:solidFill>
                  <a:schemeClr val="dk1"/>
                </a:solidFill>
              </a:rPr>
              <a:t>through the transition zone, reaching ~0.20 at warm bins (&gt;6°C). This is unlike anything in CA – precipitation amount becomes the dominant signal at warm temperatures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mros_p_snow_loocv rises sharply entering the transition zone (-2 to 0°C, reaching ~0.12) and stays elevated →</a:t>
            </a:r>
            <a:r>
              <a:rPr lang="en" sz="1300">
                <a:solidFill>
                  <a:schemeClr val="dk1"/>
                </a:solidFill>
              </a:rPr>
              <a:t> </a:t>
            </a:r>
            <a:r>
              <a:rPr lang="en" sz="1300">
                <a:solidFill>
                  <a:schemeClr val="dk1"/>
                </a:solidFill>
              </a:rPr>
              <a:t>snow climatological prior</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elev stays flat and relatively low (~0.07–0.095) throughout →</a:t>
            </a:r>
            <a:r>
              <a:rPr lang="en" sz="1300">
                <a:solidFill>
                  <a:schemeClr val="dk1"/>
                </a:solidFill>
              </a:rPr>
              <a:t> </a:t>
            </a:r>
            <a:r>
              <a:rPr lang="en" sz="1300">
                <a:solidFill>
                  <a:schemeClr val="dk1"/>
                </a:solidFill>
              </a:rPr>
              <a:t>elevation doesn't carry special importance in CO's transition zone the way it does in CA</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temp_air is actually highest at cold bins (~0.10) and dips in the transition zone before recovering →</a:t>
            </a:r>
            <a:r>
              <a:rPr lang="en" sz="1300">
                <a:solidFill>
                  <a:schemeClr val="dk1"/>
                </a:solidFill>
              </a:rPr>
              <a:t> </a:t>
            </a:r>
            <a:r>
              <a:rPr lang="en" sz="1300">
                <a:solidFill>
                  <a:schemeClr val="dk1"/>
                </a:solidFill>
              </a:rPr>
              <a:t>it helps confirm cold snow but is less useful at the boundary</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mros_p_rain_loocv stays low everywhere (~0.015–0.075), confirming the model has little rain prior to draw on</a:t>
            </a:r>
            <a:endParaRPr sz="1300"/>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e8b6fd557c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3e8b6fd557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e8b6fd557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3e8b6fd557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e8b6fd557c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e8b6fd557c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e8b6fd557c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3e8b6fd557c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 graph TBA</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e8b6fd557c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e8b6fd557c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9755dcf1dd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39755dcf1d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9755dcf1dd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9755dcf1d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ed55feea9d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3ed55feea9d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ed55feea9d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3ed55feea9d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ed55feea9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3ed55feea9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3ed55feea9d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3" name="Google Shape;823;g3ed55feea9d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e687e36a9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e687e36a9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9578daa2fc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39578daa2fc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11699" y="301500"/>
            <a:ext cx="6990000" cy="2052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4200"/>
              <a:buFont typeface="Roboto Medium"/>
              <a:buNone/>
              <a:defRPr sz="4200">
                <a:solidFill>
                  <a:schemeClr val="lt1"/>
                </a:solidFill>
                <a:latin typeface="Roboto Medium"/>
                <a:ea typeface="Roboto Medium"/>
                <a:cs typeface="Roboto Medium"/>
                <a:sym typeface="Roboto Medium"/>
              </a:defRPr>
            </a:lvl1pPr>
            <a:lvl2pPr lvl="1">
              <a:spcBef>
                <a:spcPts val="0"/>
              </a:spcBef>
              <a:spcAft>
                <a:spcPts val="0"/>
              </a:spcAft>
              <a:buClr>
                <a:schemeClr val="lt1"/>
              </a:buClr>
              <a:buSzPts val="4200"/>
              <a:buFont typeface="Roboto Medium"/>
              <a:buNone/>
              <a:defRPr sz="4200">
                <a:solidFill>
                  <a:schemeClr val="lt1"/>
                </a:solidFill>
                <a:latin typeface="Roboto Medium"/>
                <a:ea typeface="Roboto Medium"/>
                <a:cs typeface="Roboto Medium"/>
                <a:sym typeface="Roboto Medium"/>
              </a:defRPr>
            </a:lvl2pPr>
            <a:lvl3pPr lvl="2">
              <a:spcBef>
                <a:spcPts val="0"/>
              </a:spcBef>
              <a:spcAft>
                <a:spcPts val="0"/>
              </a:spcAft>
              <a:buClr>
                <a:schemeClr val="lt1"/>
              </a:buClr>
              <a:buSzPts val="4200"/>
              <a:buFont typeface="Roboto Medium"/>
              <a:buNone/>
              <a:defRPr sz="4200">
                <a:solidFill>
                  <a:schemeClr val="lt1"/>
                </a:solidFill>
                <a:latin typeface="Roboto Medium"/>
                <a:ea typeface="Roboto Medium"/>
                <a:cs typeface="Roboto Medium"/>
                <a:sym typeface="Roboto Medium"/>
              </a:defRPr>
            </a:lvl3pPr>
            <a:lvl4pPr lvl="3">
              <a:spcBef>
                <a:spcPts val="0"/>
              </a:spcBef>
              <a:spcAft>
                <a:spcPts val="0"/>
              </a:spcAft>
              <a:buClr>
                <a:schemeClr val="lt1"/>
              </a:buClr>
              <a:buSzPts val="4200"/>
              <a:buFont typeface="Roboto Medium"/>
              <a:buNone/>
              <a:defRPr sz="4200">
                <a:solidFill>
                  <a:schemeClr val="lt1"/>
                </a:solidFill>
                <a:latin typeface="Roboto Medium"/>
                <a:ea typeface="Roboto Medium"/>
                <a:cs typeface="Roboto Medium"/>
                <a:sym typeface="Roboto Medium"/>
              </a:defRPr>
            </a:lvl4pPr>
            <a:lvl5pPr lvl="4">
              <a:spcBef>
                <a:spcPts val="0"/>
              </a:spcBef>
              <a:spcAft>
                <a:spcPts val="0"/>
              </a:spcAft>
              <a:buClr>
                <a:schemeClr val="lt1"/>
              </a:buClr>
              <a:buSzPts val="4200"/>
              <a:buFont typeface="Roboto Medium"/>
              <a:buNone/>
              <a:defRPr sz="4200">
                <a:solidFill>
                  <a:schemeClr val="lt1"/>
                </a:solidFill>
                <a:latin typeface="Roboto Medium"/>
                <a:ea typeface="Roboto Medium"/>
                <a:cs typeface="Roboto Medium"/>
                <a:sym typeface="Roboto Medium"/>
              </a:defRPr>
            </a:lvl5pPr>
            <a:lvl6pPr lvl="5">
              <a:spcBef>
                <a:spcPts val="0"/>
              </a:spcBef>
              <a:spcAft>
                <a:spcPts val="0"/>
              </a:spcAft>
              <a:buClr>
                <a:schemeClr val="lt1"/>
              </a:buClr>
              <a:buSzPts val="4200"/>
              <a:buFont typeface="Roboto Medium"/>
              <a:buNone/>
              <a:defRPr sz="4200">
                <a:solidFill>
                  <a:schemeClr val="lt1"/>
                </a:solidFill>
                <a:latin typeface="Roboto Medium"/>
                <a:ea typeface="Roboto Medium"/>
                <a:cs typeface="Roboto Medium"/>
                <a:sym typeface="Roboto Medium"/>
              </a:defRPr>
            </a:lvl6pPr>
            <a:lvl7pPr lvl="6">
              <a:spcBef>
                <a:spcPts val="0"/>
              </a:spcBef>
              <a:spcAft>
                <a:spcPts val="0"/>
              </a:spcAft>
              <a:buClr>
                <a:schemeClr val="lt1"/>
              </a:buClr>
              <a:buSzPts val="4200"/>
              <a:buFont typeface="Roboto Medium"/>
              <a:buNone/>
              <a:defRPr sz="4200">
                <a:solidFill>
                  <a:schemeClr val="lt1"/>
                </a:solidFill>
                <a:latin typeface="Roboto Medium"/>
                <a:ea typeface="Roboto Medium"/>
                <a:cs typeface="Roboto Medium"/>
                <a:sym typeface="Roboto Medium"/>
              </a:defRPr>
            </a:lvl7pPr>
            <a:lvl8pPr lvl="7">
              <a:spcBef>
                <a:spcPts val="0"/>
              </a:spcBef>
              <a:spcAft>
                <a:spcPts val="0"/>
              </a:spcAft>
              <a:buClr>
                <a:schemeClr val="lt1"/>
              </a:buClr>
              <a:buSzPts val="4200"/>
              <a:buFont typeface="Roboto Medium"/>
              <a:buNone/>
              <a:defRPr sz="4200">
                <a:solidFill>
                  <a:schemeClr val="lt1"/>
                </a:solidFill>
                <a:latin typeface="Roboto Medium"/>
                <a:ea typeface="Roboto Medium"/>
                <a:cs typeface="Roboto Medium"/>
                <a:sym typeface="Roboto Medium"/>
              </a:defRPr>
            </a:lvl8pPr>
            <a:lvl9pPr lvl="8">
              <a:spcBef>
                <a:spcPts val="0"/>
              </a:spcBef>
              <a:spcAft>
                <a:spcPts val="0"/>
              </a:spcAft>
              <a:buClr>
                <a:schemeClr val="lt1"/>
              </a:buClr>
              <a:buSzPts val="4200"/>
              <a:buFont typeface="Roboto Medium"/>
              <a:buNone/>
              <a:defRPr sz="4200">
                <a:solidFill>
                  <a:schemeClr val="lt1"/>
                </a:solidFill>
                <a:latin typeface="Roboto Medium"/>
                <a:ea typeface="Roboto Medium"/>
                <a:cs typeface="Roboto Medium"/>
                <a:sym typeface="Roboto Medium"/>
              </a:defRPr>
            </a:lvl9pPr>
          </a:lstStyle>
          <a:p/>
        </p:txBody>
      </p:sp>
      <p:sp>
        <p:nvSpPr>
          <p:cNvPr id="11" name="Google Shape;11;p2"/>
          <p:cNvSpPr txBox="1"/>
          <p:nvPr>
            <p:ph idx="1" type="subTitle"/>
          </p:nvPr>
        </p:nvSpPr>
        <p:spPr>
          <a:xfrm>
            <a:off x="4366575" y="2658550"/>
            <a:ext cx="4465800" cy="792600"/>
          </a:xfrm>
          <a:prstGeom prst="rect">
            <a:avLst/>
          </a:prstGeom>
        </p:spPr>
        <p:txBody>
          <a:bodyPr anchorCtr="0" anchor="t" bIns="91425" lIns="91425" spcFirstLastPara="1" rIns="91425" wrap="square" tIns="91425">
            <a:normAutofit/>
          </a:bodyPr>
          <a:lstStyle>
            <a:lvl1pPr lvl="0" algn="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3"/>
          <p:cNvSpPr txBox="1"/>
          <p:nvPr>
            <p:ph type="title"/>
          </p:nvPr>
        </p:nvSpPr>
        <p:spPr>
          <a:xfrm>
            <a:off x="311700" y="1050275"/>
            <a:ext cx="3831900" cy="2532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Font typeface="Roboto Medium"/>
              <a:buNone/>
              <a:defRPr sz="3000">
                <a:solidFill>
                  <a:schemeClr val="lt1"/>
                </a:solidFill>
                <a:latin typeface="Roboto Medium"/>
                <a:ea typeface="Roboto Medium"/>
                <a:cs typeface="Roboto Medium"/>
                <a:sym typeface="Roboto Medium"/>
              </a:defRPr>
            </a:lvl1pPr>
            <a:lvl2pPr lvl="1"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2pPr>
            <a:lvl3pPr lvl="2"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3pPr>
            <a:lvl4pPr lvl="3"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4pPr>
            <a:lvl5pPr lvl="4"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5pPr>
            <a:lvl6pPr lvl="5"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6pPr>
            <a:lvl7pPr lvl="6"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7pPr>
            <a:lvl8pPr lvl="7"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8pPr>
            <a:lvl9pPr lvl="8"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ody">
  <p:cSld name="SECTION_HEADER_1">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4"/>
          <p:cNvSpPr txBox="1"/>
          <p:nvPr>
            <p:ph type="title"/>
          </p:nvPr>
        </p:nvSpPr>
        <p:spPr>
          <a:xfrm>
            <a:off x="311700" y="1050275"/>
            <a:ext cx="3831900" cy="2532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Font typeface="Roboto Medium"/>
              <a:buNone/>
              <a:defRPr sz="3000">
                <a:solidFill>
                  <a:schemeClr val="lt1"/>
                </a:solidFill>
                <a:latin typeface="Roboto Medium"/>
                <a:ea typeface="Roboto Medium"/>
                <a:cs typeface="Roboto Medium"/>
                <a:sym typeface="Roboto Medium"/>
              </a:defRPr>
            </a:lvl1pPr>
            <a:lvl2pPr lvl="1"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2pPr>
            <a:lvl3pPr lvl="2"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3pPr>
            <a:lvl4pPr lvl="3"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4pPr>
            <a:lvl5pPr lvl="4"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5pPr>
            <a:lvl6pPr lvl="5"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6pPr>
            <a:lvl7pPr lvl="6"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7pPr>
            <a:lvl8pPr lvl="7"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8pPr>
            <a:lvl9pPr lvl="8" algn="ctr">
              <a:spcBef>
                <a:spcPts val="0"/>
              </a:spcBef>
              <a:spcAft>
                <a:spcPts val="0"/>
              </a:spcAft>
              <a:buClr>
                <a:schemeClr val="lt1"/>
              </a:buClr>
              <a:buSzPts val="3000"/>
              <a:buFont typeface="Roboto"/>
              <a:buNone/>
              <a:defRPr sz="3000">
                <a:solidFill>
                  <a:schemeClr val="lt1"/>
                </a:solidFill>
                <a:latin typeface="Roboto"/>
                <a:ea typeface="Roboto"/>
                <a:cs typeface="Roboto"/>
                <a:sym typeface="Roboto"/>
              </a:defRPr>
            </a:lvl9pPr>
          </a:lstStyle>
          <a:p/>
        </p:txBody>
      </p:sp>
      <p:sp>
        <p:nvSpPr>
          <p:cNvPr id="18" name="Google Shape;18;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9" name="Google Shape;19;p4"/>
          <p:cNvSpPr txBox="1"/>
          <p:nvPr>
            <p:ph idx="1" type="body"/>
          </p:nvPr>
        </p:nvSpPr>
        <p:spPr>
          <a:xfrm>
            <a:off x="4666950" y="303600"/>
            <a:ext cx="4231800" cy="4359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type="tx">
  <p:cSld name="TITLE_AND_BODY">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1021500" y="4344025"/>
            <a:ext cx="7589400" cy="57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000"/>
              <a:buFont typeface="Roboto Medium"/>
              <a:buNone/>
              <a:defRPr sz="2000">
                <a:solidFill>
                  <a:schemeClr val="lt1"/>
                </a:solidFill>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3611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latin typeface="Roboto"/>
                <a:ea typeface="Roboto"/>
                <a:cs typeface="Roboto"/>
                <a:sym typeface="Roboto"/>
              </a:defRPr>
            </a:lvl1pPr>
            <a:lvl2pPr lvl="1">
              <a:buNone/>
              <a:defRPr>
                <a:solidFill>
                  <a:schemeClr val="lt1"/>
                </a:solidFill>
                <a:latin typeface="Roboto"/>
                <a:ea typeface="Roboto"/>
                <a:cs typeface="Roboto"/>
                <a:sym typeface="Roboto"/>
              </a:defRPr>
            </a:lvl2pPr>
            <a:lvl3pPr lvl="2">
              <a:buNone/>
              <a:defRPr>
                <a:solidFill>
                  <a:schemeClr val="lt1"/>
                </a:solidFill>
                <a:latin typeface="Roboto"/>
                <a:ea typeface="Roboto"/>
                <a:cs typeface="Roboto"/>
                <a:sym typeface="Roboto"/>
              </a:defRPr>
            </a:lvl3pPr>
            <a:lvl4pPr lvl="3">
              <a:buNone/>
              <a:defRPr>
                <a:solidFill>
                  <a:schemeClr val="lt1"/>
                </a:solidFill>
                <a:latin typeface="Roboto"/>
                <a:ea typeface="Roboto"/>
                <a:cs typeface="Roboto"/>
                <a:sym typeface="Roboto"/>
              </a:defRPr>
            </a:lvl4pPr>
            <a:lvl5pPr lvl="4">
              <a:buNone/>
              <a:defRPr>
                <a:solidFill>
                  <a:schemeClr val="lt1"/>
                </a:solidFill>
                <a:latin typeface="Roboto"/>
                <a:ea typeface="Roboto"/>
                <a:cs typeface="Roboto"/>
                <a:sym typeface="Roboto"/>
              </a:defRPr>
            </a:lvl5pPr>
            <a:lvl6pPr lvl="5">
              <a:buNone/>
              <a:defRPr>
                <a:solidFill>
                  <a:schemeClr val="lt1"/>
                </a:solidFill>
                <a:latin typeface="Roboto"/>
                <a:ea typeface="Roboto"/>
                <a:cs typeface="Roboto"/>
                <a:sym typeface="Roboto"/>
              </a:defRPr>
            </a:lvl6pPr>
            <a:lvl7pPr lvl="6">
              <a:buNone/>
              <a:defRPr>
                <a:solidFill>
                  <a:schemeClr val="lt1"/>
                </a:solidFill>
                <a:latin typeface="Roboto"/>
                <a:ea typeface="Roboto"/>
                <a:cs typeface="Roboto"/>
                <a:sym typeface="Roboto"/>
              </a:defRPr>
            </a:lvl7pPr>
            <a:lvl8pPr lvl="7">
              <a:buNone/>
              <a:defRPr>
                <a:solidFill>
                  <a:schemeClr val="lt1"/>
                </a:solidFill>
                <a:latin typeface="Roboto"/>
                <a:ea typeface="Roboto"/>
                <a:cs typeface="Roboto"/>
                <a:sym typeface="Roboto"/>
              </a:defRPr>
            </a:lvl8pPr>
            <a:lvl9pPr lvl="8">
              <a:buNone/>
              <a:defRPr>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type="twoColTx">
  <p:cSld name="TITLE_AND_TWO_COLUMNS">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6"/>
          <p:cNvSpPr txBox="1"/>
          <p:nvPr>
            <p:ph type="title"/>
          </p:nvPr>
        </p:nvSpPr>
        <p:spPr>
          <a:xfrm>
            <a:off x="311700" y="193250"/>
            <a:ext cx="7866900" cy="57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Font typeface="Roboto Medium"/>
              <a:buNone/>
              <a:defRPr>
                <a:solidFill>
                  <a:schemeClr val="lt1"/>
                </a:solidFill>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bg>
      <p:bgPr>
        <a:blipFill>
          <a:blip r:embed="rId2">
            <a:alphaModFix/>
          </a:blip>
          <a:stretch>
            <a:fillRect/>
          </a:stretch>
        </a:blipFill>
      </p:bgPr>
    </p:bg>
    <p:spTree>
      <p:nvGrpSpPr>
        <p:cNvPr id="28" name="Shape 28"/>
        <p:cNvGrpSpPr/>
        <p:nvPr/>
      </p:nvGrpSpPr>
      <p:grpSpPr>
        <a:xfrm>
          <a:off x="0" y="0"/>
          <a:ext cx="0" cy="0"/>
          <a:chOff x="0" y="0"/>
          <a:chExt cx="0" cy="0"/>
        </a:xfrm>
      </p:grpSpPr>
      <p:sp>
        <p:nvSpPr>
          <p:cNvPr id="29" name="Google Shape;29;p7"/>
          <p:cNvSpPr txBox="1"/>
          <p:nvPr>
            <p:ph type="title"/>
          </p:nvPr>
        </p:nvSpPr>
        <p:spPr>
          <a:xfrm>
            <a:off x="311700" y="193250"/>
            <a:ext cx="7828200" cy="57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Font typeface="Roboto Medium"/>
              <a:buNone/>
              <a:defRPr>
                <a:solidFill>
                  <a:schemeClr val="lt1"/>
                </a:solidFill>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bg>
      <p:bgPr>
        <a:blipFill>
          <a:blip r:embed="rId2">
            <a:alphaModFix/>
          </a:blip>
          <a:stretch>
            <a:fillRect/>
          </a:stretch>
        </a:blip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311700" y="19325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Font typeface="Roboto Medium"/>
              <a:buNone/>
              <a:defRPr>
                <a:solidFill>
                  <a:schemeClr val="lt1"/>
                </a:solidFill>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 name="Google Shape;35;p8"/>
          <p:cNvSpPr txBox="1"/>
          <p:nvPr>
            <p:ph idx="1" type="body"/>
          </p:nvPr>
        </p:nvSpPr>
        <p:spPr>
          <a:xfrm>
            <a:off x="311700" y="38992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8"/>
          <p:cNvSpPr txBox="1"/>
          <p:nvPr>
            <p:ph idx="2" type="body"/>
          </p:nvPr>
        </p:nvSpPr>
        <p:spPr>
          <a:xfrm>
            <a:off x="4832400" y="38992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latin typeface="Roboto"/>
                <a:ea typeface="Roboto"/>
                <a:cs typeface="Roboto"/>
                <a:sym typeface="Roboto"/>
              </a:defRPr>
            </a:lvl1pPr>
            <a:lvl2pPr lvl="1">
              <a:buNone/>
              <a:defRPr>
                <a:solidFill>
                  <a:schemeClr val="lt1"/>
                </a:solidFill>
                <a:latin typeface="Roboto"/>
                <a:ea typeface="Roboto"/>
                <a:cs typeface="Roboto"/>
                <a:sym typeface="Roboto"/>
              </a:defRPr>
            </a:lvl2pPr>
            <a:lvl3pPr lvl="2">
              <a:buNone/>
              <a:defRPr>
                <a:solidFill>
                  <a:schemeClr val="lt1"/>
                </a:solidFill>
                <a:latin typeface="Roboto"/>
                <a:ea typeface="Roboto"/>
                <a:cs typeface="Roboto"/>
                <a:sym typeface="Roboto"/>
              </a:defRPr>
            </a:lvl3pPr>
            <a:lvl4pPr lvl="3">
              <a:buNone/>
              <a:defRPr>
                <a:solidFill>
                  <a:schemeClr val="lt1"/>
                </a:solidFill>
                <a:latin typeface="Roboto"/>
                <a:ea typeface="Roboto"/>
                <a:cs typeface="Roboto"/>
                <a:sym typeface="Roboto"/>
              </a:defRPr>
            </a:lvl4pPr>
            <a:lvl5pPr lvl="4">
              <a:buNone/>
              <a:defRPr>
                <a:solidFill>
                  <a:schemeClr val="lt1"/>
                </a:solidFill>
                <a:latin typeface="Roboto"/>
                <a:ea typeface="Roboto"/>
                <a:cs typeface="Roboto"/>
                <a:sym typeface="Roboto"/>
              </a:defRPr>
            </a:lvl5pPr>
            <a:lvl6pPr lvl="5">
              <a:buNone/>
              <a:defRPr>
                <a:solidFill>
                  <a:schemeClr val="lt1"/>
                </a:solidFill>
                <a:latin typeface="Roboto"/>
                <a:ea typeface="Roboto"/>
                <a:cs typeface="Roboto"/>
                <a:sym typeface="Roboto"/>
              </a:defRPr>
            </a:lvl6pPr>
            <a:lvl7pPr lvl="6">
              <a:buNone/>
              <a:defRPr>
                <a:solidFill>
                  <a:schemeClr val="lt1"/>
                </a:solidFill>
                <a:latin typeface="Roboto"/>
                <a:ea typeface="Roboto"/>
                <a:cs typeface="Roboto"/>
                <a:sym typeface="Roboto"/>
              </a:defRPr>
            </a:lvl7pPr>
            <a:lvl8pPr lvl="7">
              <a:buNone/>
              <a:defRPr>
                <a:solidFill>
                  <a:schemeClr val="lt1"/>
                </a:solidFill>
                <a:latin typeface="Roboto"/>
                <a:ea typeface="Roboto"/>
                <a:cs typeface="Roboto"/>
                <a:sym typeface="Roboto"/>
              </a:defRPr>
            </a:lvl8pPr>
            <a:lvl9pPr lvl="8">
              <a:buNone/>
              <a:defRPr>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38" name="Google Shape;38;p8"/>
          <p:cNvSpPr txBox="1"/>
          <p:nvPr>
            <p:ph idx="3" type="title"/>
          </p:nvPr>
        </p:nvSpPr>
        <p:spPr>
          <a:xfrm>
            <a:off x="1004100" y="4355950"/>
            <a:ext cx="7622400" cy="57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Font typeface="Roboto Medium"/>
              <a:buNone/>
              <a:defRPr>
                <a:solidFill>
                  <a:schemeClr val="lt1"/>
                </a:solidFill>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39" name="Shape 39"/>
        <p:cNvGrpSpPr/>
        <p:nvPr/>
      </p:nvGrpSpPr>
      <p:grpSpPr>
        <a:xfrm>
          <a:off x="0" y="0"/>
          <a:ext cx="0" cy="0"/>
          <a:chOff x="0" y="0"/>
          <a:chExt cx="0" cy="0"/>
        </a:xfrm>
      </p:grpSpPr>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9"/>
          <p:cNvSpPr txBox="1"/>
          <p:nvPr>
            <p:ph type="title"/>
          </p:nvPr>
        </p:nvSpPr>
        <p:spPr>
          <a:xfrm>
            <a:off x="311700" y="193250"/>
            <a:ext cx="7874700" cy="57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Font typeface="Roboto Medium"/>
              <a:buNone/>
              <a:defRPr>
                <a:solidFill>
                  <a:schemeClr val="lt1"/>
                </a:solidFill>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10"/>
          <p:cNvSpPr txBox="1"/>
          <p:nvPr>
            <p:ph type="title"/>
          </p:nvPr>
        </p:nvSpPr>
        <p:spPr>
          <a:xfrm>
            <a:off x="490250" y="450150"/>
            <a:ext cx="8113500" cy="3564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1pPr>
            <a:lvl2pPr lvl="1">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2pPr>
            <a:lvl3pPr lvl="2">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3pPr>
            <a:lvl4pPr lvl="3">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4pPr>
            <a:lvl5pPr lvl="4">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5pPr>
            <a:lvl6pPr lvl="5">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6pPr>
            <a:lvl7pPr lvl="6">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7pPr>
            <a:lvl8pPr lvl="7">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8pPr>
            <a:lvl9pPr lvl="8">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9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latin typeface="Roboto"/>
                <a:ea typeface="Roboto"/>
                <a:cs typeface="Roboto"/>
                <a:sym typeface="Roboto"/>
              </a:defRPr>
            </a:lvl1pPr>
            <a:lvl2pPr lvl="1">
              <a:buNone/>
              <a:defRPr>
                <a:solidFill>
                  <a:schemeClr val="lt1"/>
                </a:solidFill>
                <a:latin typeface="Roboto"/>
                <a:ea typeface="Roboto"/>
                <a:cs typeface="Roboto"/>
                <a:sym typeface="Roboto"/>
              </a:defRPr>
            </a:lvl2pPr>
            <a:lvl3pPr lvl="2">
              <a:buNone/>
              <a:defRPr>
                <a:solidFill>
                  <a:schemeClr val="lt1"/>
                </a:solidFill>
                <a:latin typeface="Roboto"/>
                <a:ea typeface="Roboto"/>
                <a:cs typeface="Roboto"/>
                <a:sym typeface="Roboto"/>
              </a:defRPr>
            </a:lvl3pPr>
            <a:lvl4pPr lvl="3">
              <a:buNone/>
              <a:defRPr>
                <a:solidFill>
                  <a:schemeClr val="lt1"/>
                </a:solidFill>
                <a:latin typeface="Roboto"/>
                <a:ea typeface="Roboto"/>
                <a:cs typeface="Roboto"/>
                <a:sym typeface="Roboto"/>
              </a:defRPr>
            </a:lvl4pPr>
            <a:lvl5pPr lvl="4">
              <a:buNone/>
              <a:defRPr>
                <a:solidFill>
                  <a:schemeClr val="lt1"/>
                </a:solidFill>
                <a:latin typeface="Roboto"/>
                <a:ea typeface="Roboto"/>
                <a:cs typeface="Roboto"/>
                <a:sym typeface="Roboto"/>
              </a:defRPr>
            </a:lvl5pPr>
            <a:lvl6pPr lvl="5">
              <a:buNone/>
              <a:defRPr>
                <a:solidFill>
                  <a:schemeClr val="lt1"/>
                </a:solidFill>
                <a:latin typeface="Roboto"/>
                <a:ea typeface="Roboto"/>
                <a:cs typeface="Roboto"/>
                <a:sym typeface="Roboto"/>
              </a:defRPr>
            </a:lvl6pPr>
            <a:lvl7pPr lvl="6">
              <a:buNone/>
              <a:defRPr>
                <a:solidFill>
                  <a:schemeClr val="lt1"/>
                </a:solidFill>
                <a:latin typeface="Roboto"/>
                <a:ea typeface="Roboto"/>
                <a:cs typeface="Roboto"/>
                <a:sym typeface="Roboto"/>
              </a:defRPr>
            </a:lvl7pPr>
            <a:lvl8pPr lvl="7">
              <a:buNone/>
              <a:defRPr>
                <a:solidFill>
                  <a:schemeClr val="lt1"/>
                </a:solidFill>
                <a:latin typeface="Roboto"/>
                <a:ea typeface="Roboto"/>
                <a:cs typeface="Roboto"/>
                <a:sym typeface="Roboto"/>
              </a:defRPr>
            </a:lvl8pPr>
            <a:lvl9pPr lvl="8">
              <a:buNone/>
              <a:defRPr>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bg>
      <p:bgPr>
        <a:blipFill>
          <a:blip r:embed="rId2">
            <a:alphaModFix/>
          </a:blip>
          <a:stretch>
            <a:fillRect/>
          </a:stretch>
        </a:blipFill>
      </p:bgPr>
    </p:bg>
    <p:spTree>
      <p:nvGrpSpPr>
        <p:cNvPr id="45" name="Shape 45"/>
        <p:cNvGrpSpPr/>
        <p:nvPr/>
      </p:nvGrpSpPr>
      <p:grpSpPr>
        <a:xfrm>
          <a:off x="0" y="0"/>
          <a:ext cx="0" cy="0"/>
          <a:chOff x="0" y="0"/>
          <a:chExt cx="0" cy="0"/>
        </a:xfrm>
      </p:grpSpPr>
      <p:sp>
        <p:nvSpPr>
          <p:cNvPr id="46" name="Google Shape;46;p11"/>
          <p:cNvSpPr txBox="1"/>
          <p:nvPr>
            <p:ph type="title"/>
          </p:nvPr>
        </p:nvSpPr>
        <p:spPr>
          <a:xfrm>
            <a:off x="490250" y="450150"/>
            <a:ext cx="8113500" cy="3564000"/>
          </a:xfrm>
          <a:prstGeom prst="rect">
            <a:avLst/>
          </a:prstGeom>
        </p:spPr>
        <p:txBody>
          <a:bodyPr anchorCtr="0" anchor="ctr" bIns="91425" lIns="91425" spcFirstLastPara="1" rIns="91425" wrap="square" tIns="91425">
            <a:normAutofit/>
          </a:bodyPr>
          <a:lstStyle>
            <a:lvl1pPr lvl="0">
              <a:spcBef>
                <a:spcPts val="0"/>
              </a:spcBef>
              <a:spcAft>
                <a:spcPts val="0"/>
              </a:spcAft>
              <a:buSzPts val="4000"/>
              <a:buFont typeface="Roboto Medium"/>
              <a:buNone/>
              <a:defRPr sz="4000">
                <a:latin typeface="Roboto Medium"/>
                <a:ea typeface="Roboto Medium"/>
                <a:cs typeface="Roboto Medium"/>
                <a:sym typeface="Roboto Medium"/>
              </a:defRPr>
            </a:lvl1pPr>
            <a:lvl2pPr lvl="1">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2pPr>
            <a:lvl3pPr lvl="2">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3pPr>
            <a:lvl4pPr lvl="3">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4pPr>
            <a:lvl5pPr lvl="4">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5pPr>
            <a:lvl6pPr lvl="5">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6pPr>
            <a:lvl7pPr lvl="6">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7pPr>
            <a:lvl8pPr lvl="7">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8pPr>
            <a:lvl9pPr lvl="8">
              <a:spcBef>
                <a:spcPts val="0"/>
              </a:spcBef>
              <a:spcAft>
                <a:spcPts val="0"/>
              </a:spcAft>
              <a:buClr>
                <a:schemeClr val="lt1"/>
              </a:buClr>
              <a:buSzPts val="4000"/>
              <a:buFont typeface="Roboto Medium"/>
              <a:buNone/>
              <a:defRPr sz="4000">
                <a:solidFill>
                  <a:schemeClr val="lt1"/>
                </a:solidFill>
                <a:latin typeface="Roboto Medium"/>
                <a:ea typeface="Roboto Medium"/>
                <a:cs typeface="Roboto Medium"/>
                <a:sym typeface="Roboto Medium"/>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48" name="Shape 48"/>
        <p:cNvGrpSpPr/>
        <p:nvPr/>
      </p:nvGrpSpPr>
      <p:grpSpPr>
        <a:xfrm>
          <a:off x="0" y="0"/>
          <a:ext cx="0" cy="0"/>
          <a:chOff x="0" y="0"/>
          <a:chExt cx="0" cy="0"/>
        </a:xfrm>
      </p:grpSpPr>
      <p:sp>
        <p:nvSpPr>
          <p:cNvPr id="49" name="Google Shape;49;p12"/>
          <p:cNvSpPr txBox="1"/>
          <p:nvPr>
            <p:ph idx="1" type="body"/>
          </p:nvPr>
        </p:nvSpPr>
        <p:spPr>
          <a:xfrm>
            <a:off x="1028700" y="4373775"/>
            <a:ext cx="7621200" cy="532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800"/>
              <a:buFont typeface="Roboto Medium"/>
              <a:buNone/>
              <a:defRPr>
                <a:solidFill>
                  <a:schemeClr val="lt1"/>
                </a:solidFill>
                <a:latin typeface="Roboto Medium"/>
                <a:ea typeface="Roboto Medium"/>
                <a:cs typeface="Roboto Medium"/>
                <a:sym typeface="Roboto Medium"/>
              </a:defRPr>
            </a:lvl1pPr>
          </a:lstStyle>
          <a:p/>
        </p:txBody>
      </p:sp>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latin typeface="Roboto"/>
                <a:ea typeface="Roboto"/>
                <a:cs typeface="Roboto"/>
                <a:sym typeface="Roboto"/>
              </a:defRPr>
            </a:lvl1pPr>
            <a:lvl2pPr lvl="1">
              <a:buNone/>
              <a:defRPr>
                <a:solidFill>
                  <a:schemeClr val="lt1"/>
                </a:solidFill>
                <a:latin typeface="Roboto"/>
                <a:ea typeface="Roboto"/>
                <a:cs typeface="Roboto"/>
                <a:sym typeface="Roboto"/>
              </a:defRPr>
            </a:lvl2pPr>
            <a:lvl3pPr lvl="2">
              <a:buNone/>
              <a:defRPr>
                <a:solidFill>
                  <a:schemeClr val="lt1"/>
                </a:solidFill>
                <a:latin typeface="Roboto"/>
                <a:ea typeface="Roboto"/>
                <a:cs typeface="Roboto"/>
                <a:sym typeface="Roboto"/>
              </a:defRPr>
            </a:lvl3pPr>
            <a:lvl4pPr lvl="3">
              <a:buNone/>
              <a:defRPr>
                <a:solidFill>
                  <a:schemeClr val="lt1"/>
                </a:solidFill>
                <a:latin typeface="Roboto"/>
                <a:ea typeface="Roboto"/>
                <a:cs typeface="Roboto"/>
                <a:sym typeface="Roboto"/>
              </a:defRPr>
            </a:lvl4pPr>
            <a:lvl5pPr lvl="4">
              <a:buNone/>
              <a:defRPr>
                <a:solidFill>
                  <a:schemeClr val="lt1"/>
                </a:solidFill>
                <a:latin typeface="Roboto"/>
                <a:ea typeface="Roboto"/>
                <a:cs typeface="Roboto"/>
                <a:sym typeface="Roboto"/>
              </a:defRPr>
            </a:lvl5pPr>
            <a:lvl6pPr lvl="5">
              <a:buNone/>
              <a:defRPr>
                <a:solidFill>
                  <a:schemeClr val="lt1"/>
                </a:solidFill>
                <a:latin typeface="Roboto"/>
                <a:ea typeface="Roboto"/>
                <a:cs typeface="Roboto"/>
                <a:sym typeface="Roboto"/>
              </a:defRPr>
            </a:lvl6pPr>
            <a:lvl7pPr lvl="6">
              <a:buNone/>
              <a:defRPr>
                <a:solidFill>
                  <a:schemeClr val="lt1"/>
                </a:solidFill>
                <a:latin typeface="Roboto"/>
                <a:ea typeface="Roboto"/>
                <a:cs typeface="Roboto"/>
                <a:sym typeface="Roboto"/>
              </a:defRPr>
            </a:lvl7pPr>
            <a:lvl8pPr lvl="7">
              <a:buNone/>
              <a:defRPr>
                <a:solidFill>
                  <a:schemeClr val="lt1"/>
                </a:solidFill>
                <a:latin typeface="Roboto"/>
                <a:ea typeface="Roboto"/>
                <a:cs typeface="Roboto"/>
                <a:sym typeface="Roboto"/>
              </a:defRPr>
            </a:lvl8pPr>
            <a:lvl9pPr lvl="8">
              <a:buNone/>
              <a:defRPr>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53" name="Shape 53"/>
        <p:cNvGrpSpPr/>
        <p:nvPr/>
      </p:nvGrpSpPr>
      <p:grpSpPr>
        <a:xfrm>
          <a:off x="0" y="0"/>
          <a:ext cx="0" cy="0"/>
          <a:chOff x="0" y="0"/>
          <a:chExt cx="0" cy="0"/>
        </a:xfrm>
      </p:grpSpPr>
      <p:sp>
        <p:nvSpPr>
          <p:cNvPr id="54" name="Google Shape;54;p14"/>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56" name="Google Shape;5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_2">
  <p:cSld name="TITLE_AND_TWO_COLUMNS_2">
    <p:spTree>
      <p:nvGrpSpPr>
        <p:cNvPr id="57" name="Shape 57"/>
        <p:cNvGrpSpPr/>
        <p:nvPr/>
      </p:nvGrpSpPr>
      <p:grpSpPr>
        <a:xfrm>
          <a:off x="0" y="0"/>
          <a:ext cx="0" cy="0"/>
          <a:chOff x="0" y="0"/>
          <a:chExt cx="0" cy="0"/>
        </a:xfrm>
      </p:grpSpPr>
      <p:sp>
        <p:nvSpPr>
          <p:cNvPr id="58" name="Google Shape;58;p1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60" name="Google Shape;60;p1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1" name="Google Shape;61;p1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2" name="Google Shape;6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67" name="Shape 67"/>
        <p:cNvGrpSpPr/>
        <p:nvPr/>
      </p:nvGrpSpPr>
      <p:grpSpPr>
        <a:xfrm>
          <a:off x="0" y="0"/>
          <a:ext cx="0" cy="0"/>
          <a:chOff x="0" y="0"/>
          <a:chExt cx="0" cy="0"/>
        </a:xfrm>
      </p:grpSpPr>
      <p:sp>
        <p:nvSpPr>
          <p:cNvPr id="68" name="Google Shape;68;p17"/>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69" name="Google Shape;69;p17"/>
          <p:cNvSpPr txBox="1"/>
          <p:nvPr>
            <p:ph type="ctrTitle"/>
          </p:nvPr>
        </p:nvSpPr>
        <p:spPr>
          <a:xfrm>
            <a:off x="311700" y="539725"/>
            <a:ext cx="8520600" cy="1282500"/>
          </a:xfrm>
          <a:prstGeom prst="rect">
            <a:avLst/>
          </a:prstGeom>
          <a:noFill/>
          <a:ln>
            <a:noFill/>
          </a:ln>
        </p:spPr>
        <p:txBody>
          <a:bodyPr anchorCtr="0" anchor="t" bIns="68575" lIns="68575" spcFirstLastPara="1" rIns="68575" wrap="square" tIns="68575">
            <a:normAutofit/>
          </a:bodyPr>
          <a:lstStyle>
            <a:lvl1pPr lvl="0" algn="l">
              <a:lnSpc>
                <a:spcPct val="100000"/>
              </a:lnSpc>
              <a:spcBef>
                <a:spcPts val="0"/>
              </a:spcBef>
              <a:spcAft>
                <a:spcPts val="0"/>
              </a:spcAft>
              <a:buSzPts val="2700"/>
              <a:buNone/>
              <a:defRPr sz="3600"/>
            </a:lvl1pPr>
            <a:lvl2pPr lvl="1" algn="l">
              <a:lnSpc>
                <a:spcPct val="100000"/>
              </a:lnSpc>
              <a:spcBef>
                <a:spcPts val="0"/>
              </a:spcBef>
              <a:spcAft>
                <a:spcPts val="0"/>
              </a:spcAft>
              <a:buSzPts val="2700"/>
              <a:buNone/>
              <a:defRPr sz="3600"/>
            </a:lvl2pPr>
            <a:lvl3pPr lvl="2" algn="l">
              <a:lnSpc>
                <a:spcPct val="100000"/>
              </a:lnSpc>
              <a:spcBef>
                <a:spcPts val="0"/>
              </a:spcBef>
              <a:spcAft>
                <a:spcPts val="0"/>
              </a:spcAft>
              <a:buSzPts val="2700"/>
              <a:buNone/>
              <a:defRPr sz="3600"/>
            </a:lvl3pPr>
            <a:lvl4pPr lvl="3" algn="l">
              <a:lnSpc>
                <a:spcPct val="100000"/>
              </a:lnSpc>
              <a:spcBef>
                <a:spcPts val="0"/>
              </a:spcBef>
              <a:spcAft>
                <a:spcPts val="0"/>
              </a:spcAft>
              <a:buSzPts val="2700"/>
              <a:buNone/>
              <a:defRPr sz="3600"/>
            </a:lvl4pPr>
            <a:lvl5pPr lvl="4" algn="l">
              <a:lnSpc>
                <a:spcPct val="100000"/>
              </a:lnSpc>
              <a:spcBef>
                <a:spcPts val="0"/>
              </a:spcBef>
              <a:spcAft>
                <a:spcPts val="0"/>
              </a:spcAft>
              <a:buSzPts val="2700"/>
              <a:buNone/>
              <a:defRPr sz="3600"/>
            </a:lvl5pPr>
            <a:lvl6pPr lvl="5" algn="l">
              <a:lnSpc>
                <a:spcPct val="100000"/>
              </a:lnSpc>
              <a:spcBef>
                <a:spcPts val="0"/>
              </a:spcBef>
              <a:spcAft>
                <a:spcPts val="0"/>
              </a:spcAft>
              <a:buSzPts val="2700"/>
              <a:buNone/>
              <a:defRPr sz="3600"/>
            </a:lvl6pPr>
            <a:lvl7pPr lvl="6" algn="l">
              <a:lnSpc>
                <a:spcPct val="100000"/>
              </a:lnSpc>
              <a:spcBef>
                <a:spcPts val="0"/>
              </a:spcBef>
              <a:spcAft>
                <a:spcPts val="0"/>
              </a:spcAft>
              <a:buSzPts val="2700"/>
              <a:buNone/>
              <a:defRPr sz="3600"/>
            </a:lvl7pPr>
            <a:lvl8pPr lvl="7" algn="l">
              <a:lnSpc>
                <a:spcPct val="100000"/>
              </a:lnSpc>
              <a:spcBef>
                <a:spcPts val="0"/>
              </a:spcBef>
              <a:spcAft>
                <a:spcPts val="0"/>
              </a:spcAft>
              <a:buSzPts val="2700"/>
              <a:buNone/>
              <a:defRPr sz="3600"/>
            </a:lvl8pPr>
            <a:lvl9pPr lvl="8" algn="l">
              <a:lnSpc>
                <a:spcPct val="100000"/>
              </a:lnSpc>
              <a:spcBef>
                <a:spcPts val="0"/>
              </a:spcBef>
              <a:spcAft>
                <a:spcPts val="0"/>
              </a:spcAft>
              <a:buSzPts val="2700"/>
              <a:buNone/>
              <a:defRPr sz="3600"/>
            </a:lvl9pPr>
          </a:lstStyle>
          <a:p/>
        </p:txBody>
      </p:sp>
      <p:sp>
        <p:nvSpPr>
          <p:cNvPr id="70" name="Google Shape;70;p17"/>
          <p:cNvSpPr txBox="1"/>
          <p:nvPr>
            <p:ph idx="1" type="subTitle"/>
          </p:nvPr>
        </p:nvSpPr>
        <p:spPr>
          <a:xfrm>
            <a:off x="311700" y="1878560"/>
            <a:ext cx="4242600" cy="738300"/>
          </a:xfrm>
          <a:prstGeom prst="rect">
            <a:avLst/>
          </a:prstGeom>
          <a:noFill/>
          <a:ln>
            <a:noFill/>
          </a:ln>
        </p:spPr>
        <p:txBody>
          <a:bodyPr anchorCtr="0" anchor="t" bIns="68575" lIns="68575" spcFirstLastPara="1" rIns="68575" wrap="square" tIns="68575">
            <a:normAutofit/>
          </a:bodyPr>
          <a:lstStyle>
            <a:lvl1pPr lvl="0" algn="l">
              <a:lnSpc>
                <a:spcPct val="100000"/>
              </a:lnSpc>
              <a:spcBef>
                <a:spcPts val="0"/>
              </a:spcBef>
              <a:spcAft>
                <a:spcPts val="0"/>
              </a:spcAft>
              <a:buClr>
                <a:schemeClr val="lt2"/>
              </a:buClr>
              <a:buSzPts val="1200"/>
              <a:buNone/>
              <a:defRPr sz="1600">
                <a:solidFill>
                  <a:schemeClr val="lt2"/>
                </a:solidFill>
              </a:defRPr>
            </a:lvl1pPr>
            <a:lvl2pPr lvl="1" algn="l">
              <a:lnSpc>
                <a:spcPct val="100000"/>
              </a:lnSpc>
              <a:spcBef>
                <a:spcPts val="0"/>
              </a:spcBef>
              <a:spcAft>
                <a:spcPts val="0"/>
              </a:spcAft>
              <a:buClr>
                <a:schemeClr val="lt2"/>
              </a:buClr>
              <a:buSzPts val="1200"/>
              <a:buNone/>
              <a:defRPr sz="1600">
                <a:solidFill>
                  <a:schemeClr val="lt2"/>
                </a:solidFill>
              </a:defRPr>
            </a:lvl2pPr>
            <a:lvl3pPr lvl="2" algn="l">
              <a:lnSpc>
                <a:spcPct val="100000"/>
              </a:lnSpc>
              <a:spcBef>
                <a:spcPts val="0"/>
              </a:spcBef>
              <a:spcAft>
                <a:spcPts val="0"/>
              </a:spcAft>
              <a:buClr>
                <a:schemeClr val="lt2"/>
              </a:buClr>
              <a:buSzPts val="1200"/>
              <a:buNone/>
              <a:defRPr sz="1600">
                <a:solidFill>
                  <a:schemeClr val="lt2"/>
                </a:solidFill>
              </a:defRPr>
            </a:lvl3pPr>
            <a:lvl4pPr lvl="3" algn="l">
              <a:lnSpc>
                <a:spcPct val="100000"/>
              </a:lnSpc>
              <a:spcBef>
                <a:spcPts val="0"/>
              </a:spcBef>
              <a:spcAft>
                <a:spcPts val="0"/>
              </a:spcAft>
              <a:buClr>
                <a:schemeClr val="lt2"/>
              </a:buClr>
              <a:buSzPts val="1200"/>
              <a:buNone/>
              <a:defRPr sz="1600">
                <a:solidFill>
                  <a:schemeClr val="lt2"/>
                </a:solidFill>
              </a:defRPr>
            </a:lvl4pPr>
            <a:lvl5pPr lvl="4" algn="l">
              <a:lnSpc>
                <a:spcPct val="100000"/>
              </a:lnSpc>
              <a:spcBef>
                <a:spcPts val="0"/>
              </a:spcBef>
              <a:spcAft>
                <a:spcPts val="0"/>
              </a:spcAft>
              <a:buClr>
                <a:schemeClr val="lt2"/>
              </a:buClr>
              <a:buSzPts val="1200"/>
              <a:buNone/>
              <a:defRPr sz="1600">
                <a:solidFill>
                  <a:schemeClr val="lt2"/>
                </a:solidFill>
              </a:defRPr>
            </a:lvl5pPr>
            <a:lvl6pPr lvl="5" algn="l">
              <a:lnSpc>
                <a:spcPct val="100000"/>
              </a:lnSpc>
              <a:spcBef>
                <a:spcPts val="0"/>
              </a:spcBef>
              <a:spcAft>
                <a:spcPts val="0"/>
              </a:spcAft>
              <a:buClr>
                <a:schemeClr val="lt2"/>
              </a:buClr>
              <a:buSzPts val="1200"/>
              <a:buNone/>
              <a:defRPr sz="1600">
                <a:solidFill>
                  <a:schemeClr val="lt2"/>
                </a:solidFill>
              </a:defRPr>
            </a:lvl6pPr>
            <a:lvl7pPr lvl="6" algn="l">
              <a:lnSpc>
                <a:spcPct val="100000"/>
              </a:lnSpc>
              <a:spcBef>
                <a:spcPts val="0"/>
              </a:spcBef>
              <a:spcAft>
                <a:spcPts val="0"/>
              </a:spcAft>
              <a:buClr>
                <a:schemeClr val="lt2"/>
              </a:buClr>
              <a:buSzPts val="1200"/>
              <a:buNone/>
              <a:defRPr sz="1600">
                <a:solidFill>
                  <a:schemeClr val="lt2"/>
                </a:solidFill>
              </a:defRPr>
            </a:lvl7pPr>
            <a:lvl8pPr lvl="7" algn="l">
              <a:lnSpc>
                <a:spcPct val="100000"/>
              </a:lnSpc>
              <a:spcBef>
                <a:spcPts val="0"/>
              </a:spcBef>
              <a:spcAft>
                <a:spcPts val="0"/>
              </a:spcAft>
              <a:buClr>
                <a:schemeClr val="lt2"/>
              </a:buClr>
              <a:buSzPts val="1200"/>
              <a:buNone/>
              <a:defRPr sz="1600">
                <a:solidFill>
                  <a:schemeClr val="lt2"/>
                </a:solidFill>
              </a:defRPr>
            </a:lvl8pPr>
            <a:lvl9pPr lvl="8" algn="l">
              <a:lnSpc>
                <a:spcPct val="100000"/>
              </a:lnSpc>
              <a:spcBef>
                <a:spcPts val="0"/>
              </a:spcBef>
              <a:spcAft>
                <a:spcPts val="0"/>
              </a:spcAft>
              <a:buClr>
                <a:schemeClr val="lt2"/>
              </a:buClr>
              <a:buSzPts val="1200"/>
              <a:buNone/>
              <a:defRPr sz="1600">
                <a:solidFill>
                  <a:schemeClr val="lt2"/>
                </a:solidFill>
              </a:defRPr>
            </a:lvl9pPr>
          </a:lstStyle>
          <a:p/>
        </p:txBody>
      </p:sp>
      <p:sp>
        <p:nvSpPr>
          <p:cNvPr id="71" name="Google Shape;71;p17"/>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algn="r">
              <a:buClr>
                <a:schemeClr val="lt1"/>
              </a:buClr>
              <a:buSzPts val="1000"/>
              <a:buFont typeface="Roboto"/>
              <a:buNone/>
              <a:defRPr b="0" i="0" sz="1000" u="none" cap="none" strike="noStrike">
                <a:solidFill>
                  <a:schemeClr val="lt1"/>
                </a:solidFill>
                <a:latin typeface="Roboto"/>
                <a:ea typeface="Roboto"/>
                <a:cs typeface="Roboto"/>
                <a:sym typeface="Roboto"/>
              </a:defRPr>
            </a:lvl1pPr>
            <a:lvl2pPr indent="0" lvl="1" marL="0" algn="r">
              <a:buClr>
                <a:schemeClr val="lt1"/>
              </a:buClr>
              <a:buSzPts val="1000"/>
              <a:buFont typeface="Roboto"/>
              <a:buNone/>
              <a:defRPr b="0" i="0" sz="1000" u="none" cap="none" strike="noStrike">
                <a:solidFill>
                  <a:schemeClr val="lt1"/>
                </a:solidFill>
                <a:latin typeface="Roboto"/>
                <a:ea typeface="Roboto"/>
                <a:cs typeface="Roboto"/>
                <a:sym typeface="Roboto"/>
              </a:defRPr>
            </a:lvl2pPr>
            <a:lvl3pPr indent="0" lvl="2" marL="0" algn="r">
              <a:buClr>
                <a:schemeClr val="lt1"/>
              </a:buClr>
              <a:buSzPts val="1000"/>
              <a:buFont typeface="Roboto"/>
              <a:buNone/>
              <a:defRPr b="0" i="0" sz="1000" u="none" cap="none" strike="noStrike">
                <a:solidFill>
                  <a:schemeClr val="lt1"/>
                </a:solidFill>
                <a:latin typeface="Roboto"/>
                <a:ea typeface="Roboto"/>
                <a:cs typeface="Roboto"/>
                <a:sym typeface="Roboto"/>
              </a:defRPr>
            </a:lvl3pPr>
            <a:lvl4pPr indent="0" lvl="3" marL="0" algn="r">
              <a:buClr>
                <a:schemeClr val="lt1"/>
              </a:buClr>
              <a:buSzPts val="1000"/>
              <a:buFont typeface="Roboto"/>
              <a:buNone/>
              <a:defRPr b="0" i="0" sz="1000" u="none" cap="none" strike="noStrike">
                <a:solidFill>
                  <a:schemeClr val="lt1"/>
                </a:solidFill>
                <a:latin typeface="Roboto"/>
                <a:ea typeface="Roboto"/>
                <a:cs typeface="Roboto"/>
                <a:sym typeface="Roboto"/>
              </a:defRPr>
            </a:lvl4pPr>
            <a:lvl5pPr indent="0" lvl="4" marL="0" algn="r">
              <a:buClr>
                <a:schemeClr val="lt1"/>
              </a:buClr>
              <a:buSzPts val="1000"/>
              <a:buFont typeface="Roboto"/>
              <a:buNone/>
              <a:defRPr b="0" i="0" sz="1000" u="none" cap="none" strike="noStrike">
                <a:solidFill>
                  <a:schemeClr val="lt1"/>
                </a:solidFill>
                <a:latin typeface="Roboto"/>
                <a:ea typeface="Roboto"/>
                <a:cs typeface="Roboto"/>
                <a:sym typeface="Roboto"/>
              </a:defRPr>
            </a:lvl5pPr>
            <a:lvl6pPr indent="0" lvl="5" marL="0" algn="r">
              <a:buClr>
                <a:schemeClr val="lt1"/>
              </a:buClr>
              <a:buSzPts val="1000"/>
              <a:buFont typeface="Roboto"/>
              <a:buNone/>
              <a:defRPr b="0" i="0" sz="1000" u="none" cap="none" strike="noStrike">
                <a:solidFill>
                  <a:schemeClr val="lt1"/>
                </a:solidFill>
                <a:latin typeface="Roboto"/>
                <a:ea typeface="Roboto"/>
                <a:cs typeface="Roboto"/>
                <a:sym typeface="Roboto"/>
              </a:defRPr>
            </a:lvl6pPr>
            <a:lvl7pPr indent="0" lvl="6" marL="0" algn="r">
              <a:buClr>
                <a:schemeClr val="lt1"/>
              </a:buClr>
              <a:buSzPts val="1000"/>
              <a:buFont typeface="Roboto"/>
              <a:buNone/>
              <a:defRPr b="0" i="0" sz="1000" u="none" cap="none" strike="noStrike">
                <a:solidFill>
                  <a:schemeClr val="lt1"/>
                </a:solidFill>
                <a:latin typeface="Roboto"/>
                <a:ea typeface="Roboto"/>
                <a:cs typeface="Roboto"/>
                <a:sym typeface="Roboto"/>
              </a:defRPr>
            </a:lvl7pPr>
            <a:lvl8pPr indent="0" lvl="7" marL="0" algn="r">
              <a:buClr>
                <a:schemeClr val="lt1"/>
              </a:buClr>
              <a:buSzPts val="1000"/>
              <a:buFont typeface="Roboto"/>
              <a:buNone/>
              <a:defRPr b="0" i="0" sz="1000" u="none" cap="none" strike="noStrike">
                <a:solidFill>
                  <a:schemeClr val="lt1"/>
                </a:solidFill>
                <a:latin typeface="Roboto"/>
                <a:ea typeface="Roboto"/>
                <a:cs typeface="Roboto"/>
                <a:sym typeface="Roboto"/>
              </a:defRPr>
            </a:lvl8pPr>
            <a:lvl9pPr indent="0" lvl="8" marL="0" algn="r">
              <a:buClr>
                <a:schemeClr val="lt1"/>
              </a:buClr>
              <a:buSzPts val="1000"/>
              <a:buFont typeface="Roboto"/>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72" name="Shape 72"/>
        <p:cNvGrpSpPr/>
        <p:nvPr/>
      </p:nvGrpSpPr>
      <p:grpSpPr>
        <a:xfrm>
          <a:off x="0" y="0"/>
          <a:ext cx="0" cy="0"/>
          <a:chOff x="0" y="0"/>
          <a:chExt cx="0" cy="0"/>
        </a:xfrm>
      </p:grpSpPr>
      <p:sp>
        <p:nvSpPr>
          <p:cNvPr id="73" name="Google Shape;73;p18"/>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 name="Google Shape;74;p18"/>
          <p:cNvSpPr txBox="1"/>
          <p:nvPr>
            <p:ph type="title"/>
          </p:nvPr>
        </p:nvSpPr>
        <p:spPr>
          <a:xfrm>
            <a:off x="311725" y="500925"/>
            <a:ext cx="3127500" cy="1829100"/>
          </a:xfrm>
          <a:prstGeom prst="rect">
            <a:avLst/>
          </a:prstGeom>
          <a:noFill/>
          <a:ln>
            <a:noFill/>
          </a:ln>
        </p:spPr>
        <p:txBody>
          <a:bodyPr anchorCtr="0" anchor="t" bIns="68575" lIns="68575" spcFirstLastPara="1" rIns="68575" wrap="square" tIns="68575">
            <a:normAutofit/>
          </a:bodyPr>
          <a:lstStyle>
            <a:lvl1pPr lvl="0" algn="l">
              <a:lnSpc>
                <a:spcPct val="100000"/>
              </a:lnSpc>
              <a:spcBef>
                <a:spcPts val="0"/>
              </a:spcBef>
              <a:spcAft>
                <a:spcPts val="0"/>
              </a:spcAft>
              <a:buClr>
                <a:schemeClr val="lt1"/>
              </a:buClr>
              <a:buSzPts val="2100"/>
              <a:buNone/>
              <a:defRPr>
                <a:solidFill>
                  <a:schemeClr val="lt1"/>
                </a:solidFill>
              </a:defRPr>
            </a:lvl1pPr>
            <a:lvl2pPr lvl="1" algn="l">
              <a:lnSpc>
                <a:spcPct val="100000"/>
              </a:lnSpc>
              <a:spcBef>
                <a:spcPts val="0"/>
              </a:spcBef>
              <a:spcAft>
                <a:spcPts val="0"/>
              </a:spcAft>
              <a:buClr>
                <a:schemeClr val="lt1"/>
              </a:buClr>
              <a:buSzPts val="2100"/>
              <a:buNone/>
              <a:defRPr>
                <a:solidFill>
                  <a:schemeClr val="lt1"/>
                </a:solidFill>
              </a:defRPr>
            </a:lvl2pPr>
            <a:lvl3pPr lvl="2" algn="l">
              <a:lnSpc>
                <a:spcPct val="100000"/>
              </a:lnSpc>
              <a:spcBef>
                <a:spcPts val="0"/>
              </a:spcBef>
              <a:spcAft>
                <a:spcPts val="0"/>
              </a:spcAft>
              <a:buClr>
                <a:schemeClr val="lt1"/>
              </a:buClr>
              <a:buSzPts val="2100"/>
              <a:buNone/>
              <a:defRPr>
                <a:solidFill>
                  <a:schemeClr val="lt1"/>
                </a:solidFill>
              </a:defRPr>
            </a:lvl3pPr>
            <a:lvl4pPr lvl="3" algn="l">
              <a:lnSpc>
                <a:spcPct val="100000"/>
              </a:lnSpc>
              <a:spcBef>
                <a:spcPts val="0"/>
              </a:spcBef>
              <a:spcAft>
                <a:spcPts val="0"/>
              </a:spcAft>
              <a:buClr>
                <a:schemeClr val="lt1"/>
              </a:buClr>
              <a:buSzPts val="2100"/>
              <a:buNone/>
              <a:defRPr>
                <a:solidFill>
                  <a:schemeClr val="lt1"/>
                </a:solidFill>
              </a:defRPr>
            </a:lvl4pPr>
            <a:lvl5pPr lvl="4" algn="l">
              <a:lnSpc>
                <a:spcPct val="100000"/>
              </a:lnSpc>
              <a:spcBef>
                <a:spcPts val="0"/>
              </a:spcBef>
              <a:spcAft>
                <a:spcPts val="0"/>
              </a:spcAft>
              <a:buClr>
                <a:schemeClr val="lt1"/>
              </a:buClr>
              <a:buSzPts val="2100"/>
              <a:buNone/>
              <a:defRPr>
                <a:solidFill>
                  <a:schemeClr val="lt1"/>
                </a:solidFill>
              </a:defRPr>
            </a:lvl5pPr>
            <a:lvl6pPr lvl="5" algn="l">
              <a:lnSpc>
                <a:spcPct val="100000"/>
              </a:lnSpc>
              <a:spcBef>
                <a:spcPts val="0"/>
              </a:spcBef>
              <a:spcAft>
                <a:spcPts val="0"/>
              </a:spcAft>
              <a:buClr>
                <a:schemeClr val="lt1"/>
              </a:buClr>
              <a:buSzPts val="2100"/>
              <a:buNone/>
              <a:defRPr>
                <a:solidFill>
                  <a:schemeClr val="lt1"/>
                </a:solidFill>
              </a:defRPr>
            </a:lvl6pPr>
            <a:lvl7pPr lvl="6" algn="l">
              <a:lnSpc>
                <a:spcPct val="100000"/>
              </a:lnSpc>
              <a:spcBef>
                <a:spcPts val="0"/>
              </a:spcBef>
              <a:spcAft>
                <a:spcPts val="0"/>
              </a:spcAft>
              <a:buClr>
                <a:schemeClr val="lt1"/>
              </a:buClr>
              <a:buSzPts val="2100"/>
              <a:buNone/>
              <a:defRPr>
                <a:solidFill>
                  <a:schemeClr val="lt1"/>
                </a:solidFill>
              </a:defRPr>
            </a:lvl7pPr>
            <a:lvl8pPr lvl="7" algn="l">
              <a:lnSpc>
                <a:spcPct val="100000"/>
              </a:lnSpc>
              <a:spcBef>
                <a:spcPts val="0"/>
              </a:spcBef>
              <a:spcAft>
                <a:spcPts val="0"/>
              </a:spcAft>
              <a:buClr>
                <a:schemeClr val="lt1"/>
              </a:buClr>
              <a:buSzPts val="2100"/>
              <a:buNone/>
              <a:defRPr>
                <a:solidFill>
                  <a:schemeClr val="lt1"/>
                </a:solidFill>
              </a:defRPr>
            </a:lvl8pPr>
            <a:lvl9pPr lvl="8" algn="l">
              <a:lnSpc>
                <a:spcPct val="100000"/>
              </a:lnSpc>
              <a:spcBef>
                <a:spcPts val="0"/>
              </a:spcBef>
              <a:spcAft>
                <a:spcPts val="0"/>
              </a:spcAft>
              <a:buClr>
                <a:schemeClr val="lt1"/>
              </a:buClr>
              <a:buSzPts val="2100"/>
              <a:buNone/>
              <a:defRPr>
                <a:solidFill>
                  <a:schemeClr val="lt1"/>
                </a:solidFill>
              </a:defRPr>
            </a:lvl9pPr>
          </a:lstStyle>
          <a:p/>
        </p:txBody>
      </p:sp>
      <p:sp>
        <p:nvSpPr>
          <p:cNvPr id="75" name="Google Shape;75;p18"/>
          <p:cNvSpPr txBox="1"/>
          <p:nvPr>
            <p:ph idx="1" type="body"/>
          </p:nvPr>
        </p:nvSpPr>
        <p:spPr>
          <a:xfrm>
            <a:off x="311700" y="2390650"/>
            <a:ext cx="3127500" cy="2298000"/>
          </a:xfrm>
          <a:prstGeom prst="rect">
            <a:avLst/>
          </a:prstGeom>
          <a:noFill/>
          <a:ln>
            <a:noFill/>
          </a:ln>
        </p:spPr>
        <p:txBody>
          <a:bodyPr anchorCtr="0" anchor="t" bIns="68575" lIns="68575" spcFirstLastPara="1" rIns="68575" wrap="square" tIns="68575">
            <a:normAutofit/>
          </a:bodyPr>
          <a:lstStyle>
            <a:lvl1pPr indent="-292100" lvl="0" marL="457200" algn="l">
              <a:lnSpc>
                <a:spcPct val="115000"/>
              </a:lnSpc>
              <a:spcBef>
                <a:spcPts val="0"/>
              </a:spcBef>
              <a:spcAft>
                <a:spcPts val="0"/>
              </a:spcAft>
              <a:buClr>
                <a:schemeClr val="accent2"/>
              </a:buClr>
              <a:buSzPts val="1000"/>
              <a:buChar char="●"/>
              <a:defRPr>
                <a:solidFill>
                  <a:schemeClr val="accent2"/>
                </a:solidFill>
              </a:defRPr>
            </a:lvl1pPr>
            <a:lvl2pPr indent="-279400" lvl="1" marL="914400" algn="l">
              <a:lnSpc>
                <a:spcPct val="115000"/>
              </a:lnSpc>
              <a:spcBef>
                <a:spcPts val="0"/>
              </a:spcBef>
              <a:spcAft>
                <a:spcPts val="0"/>
              </a:spcAft>
              <a:buClr>
                <a:schemeClr val="accent2"/>
              </a:buClr>
              <a:buSzPts val="800"/>
              <a:buChar char="○"/>
              <a:defRPr>
                <a:solidFill>
                  <a:schemeClr val="accent2"/>
                </a:solidFill>
              </a:defRPr>
            </a:lvl2pPr>
            <a:lvl3pPr indent="-279400" lvl="2" marL="1371600" algn="l">
              <a:lnSpc>
                <a:spcPct val="115000"/>
              </a:lnSpc>
              <a:spcBef>
                <a:spcPts val="0"/>
              </a:spcBef>
              <a:spcAft>
                <a:spcPts val="0"/>
              </a:spcAft>
              <a:buClr>
                <a:schemeClr val="accent2"/>
              </a:buClr>
              <a:buSzPts val="800"/>
              <a:buChar char="■"/>
              <a:defRPr>
                <a:solidFill>
                  <a:schemeClr val="accent2"/>
                </a:solidFill>
              </a:defRPr>
            </a:lvl3pPr>
            <a:lvl4pPr indent="-279400" lvl="3" marL="1828800" algn="l">
              <a:lnSpc>
                <a:spcPct val="115000"/>
              </a:lnSpc>
              <a:spcBef>
                <a:spcPts val="0"/>
              </a:spcBef>
              <a:spcAft>
                <a:spcPts val="0"/>
              </a:spcAft>
              <a:buClr>
                <a:schemeClr val="accent2"/>
              </a:buClr>
              <a:buSzPts val="800"/>
              <a:buChar char="●"/>
              <a:defRPr>
                <a:solidFill>
                  <a:schemeClr val="accent2"/>
                </a:solidFill>
              </a:defRPr>
            </a:lvl4pPr>
            <a:lvl5pPr indent="-279400" lvl="4" marL="2286000" algn="l">
              <a:lnSpc>
                <a:spcPct val="115000"/>
              </a:lnSpc>
              <a:spcBef>
                <a:spcPts val="0"/>
              </a:spcBef>
              <a:spcAft>
                <a:spcPts val="0"/>
              </a:spcAft>
              <a:buClr>
                <a:schemeClr val="accent2"/>
              </a:buClr>
              <a:buSzPts val="800"/>
              <a:buChar char="○"/>
              <a:defRPr>
                <a:solidFill>
                  <a:schemeClr val="accent2"/>
                </a:solidFill>
              </a:defRPr>
            </a:lvl5pPr>
            <a:lvl6pPr indent="-279400" lvl="5" marL="2743200" algn="l">
              <a:lnSpc>
                <a:spcPct val="115000"/>
              </a:lnSpc>
              <a:spcBef>
                <a:spcPts val="0"/>
              </a:spcBef>
              <a:spcAft>
                <a:spcPts val="0"/>
              </a:spcAft>
              <a:buClr>
                <a:schemeClr val="accent2"/>
              </a:buClr>
              <a:buSzPts val="800"/>
              <a:buChar char="■"/>
              <a:defRPr>
                <a:solidFill>
                  <a:schemeClr val="accent2"/>
                </a:solidFill>
              </a:defRPr>
            </a:lvl6pPr>
            <a:lvl7pPr indent="-279400" lvl="6" marL="3200400" algn="l">
              <a:lnSpc>
                <a:spcPct val="115000"/>
              </a:lnSpc>
              <a:spcBef>
                <a:spcPts val="0"/>
              </a:spcBef>
              <a:spcAft>
                <a:spcPts val="0"/>
              </a:spcAft>
              <a:buClr>
                <a:schemeClr val="accent2"/>
              </a:buClr>
              <a:buSzPts val="800"/>
              <a:buChar char="●"/>
              <a:defRPr>
                <a:solidFill>
                  <a:schemeClr val="accent2"/>
                </a:solidFill>
              </a:defRPr>
            </a:lvl7pPr>
            <a:lvl8pPr indent="-279400" lvl="7" marL="3657600" algn="l">
              <a:lnSpc>
                <a:spcPct val="115000"/>
              </a:lnSpc>
              <a:spcBef>
                <a:spcPts val="0"/>
              </a:spcBef>
              <a:spcAft>
                <a:spcPts val="0"/>
              </a:spcAft>
              <a:buClr>
                <a:schemeClr val="accent2"/>
              </a:buClr>
              <a:buSzPts val="800"/>
              <a:buChar char="○"/>
              <a:defRPr>
                <a:solidFill>
                  <a:schemeClr val="accent2"/>
                </a:solidFill>
              </a:defRPr>
            </a:lvl8pPr>
            <a:lvl9pPr indent="-279400" lvl="8" marL="4114800" algn="l">
              <a:lnSpc>
                <a:spcPct val="115000"/>
              </a:lnSpc>
              <a:spcBef>
                <a:spcPts val="0"/>
              </a:spcBef>
              <a:spcAft>
                <a:spcPts val="0"/>
              </a:spcAft>
              <a:buClr>
                <a:schemeClr val="accent2"/>
              </a:buClr>
              <a:buSzPts val="800"/>
              <a:buChar char="■"/>
              <a:defRPr>
                <a:solidFill>
                  <a:schemeClr val="accent2"/>
                </a:solidFill>
              </a:defRPr>
            </a:lvl9pPr>
          </a:lstStyle>
          <a:p/>
        </p:txBody>
      </p:sp>
      <p:sp>
        <p:nvSpPr>
          <p:cNvPr id="76" name="Google Shape;76;p18"/>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algn="r">
              <a:buClr>
                <a:schemeClr val="dk2"/>
              </a:buClr>
              <a:buSzPts val="1000"/>
              <a:buFont typeface="Roboto"/>
              <a:buNone/>
              <a:defRPr b="0" i="0" sz="1000" u="none" cap="none" strike="noStrike">
                <a:solidFill>
                  <a:schemeClr val="dk2"/>
                </a:solidFill>
                <a:latin typeface="Roboto"/>
                <a:ea typeface="Roboto"/>
                <a:cs typeface="Roboto"/>
                <a:sym typeface="Roboto"/>
              </a:defRPr>
            </a:lvl1pPr>
            <a:lvl2pPr indent="0" lvl="1" marL="0" algn="r">
              <a:buClr>
                <a:schemeClr val="dk2"/>
              </a:buClr>
              <a:buSzPts val="1000"/>
              <a:buFont typeface="Roboto"/>
              <a:buNone/>
              <a:defRPr b="0" i="0" sz="1000" u="none" cap="none" strike="noStrike">
                <a:solidFill>
                  <a:schemeClr val="dk2"/>
                </a:solidFill>
                <a:latin typeface="Roboto"/>
                <a:ea typeface="Roboto"/>
                <a:cs typeface="Roboto"/>
                <a:sym typeface="Roboto"/>
              </a:defRPr>
            </a:lvl2pPr>
            <a:lvl3pPr indent="0" lvl="2" marL="0" algn="r">
              <a:buClr>
                <a:schemeClr val="dk2"/>
              </a:buClr>
              <a:buSzPts val="1000"/>
              <a:buFont typeface="Roboto"/>
              <a:buNone/>
              <a:defRPr b="0" i="0" sz="1000" u="none" cap="none" strike="noStrike">
                <a:solidFill>
                  <a:schemeClr val="dk2"/>
                </a:solidFill>
                <a:latin typeface="Roboto"/>
                <a:ea typeface="Roboto"/>
                <a:cs typeface="Roboto"/>
                <a:sym typeface="Roboto"/>
              </a:defRPr>
            </a:lvl3pPr>
            <a:lvl4pPr indent="0" lvl="3" marL="0" algn="r">
              <a:buClr>
                <a:schemeClr val="dk2"/>
              </a:buClr>
              <a:buSzPts val="1000"/>
              <a:buFont typeface="Roboto"/>
              <a:buNone/>
              <a:defRPr b="0" i="0" sz="1000" u="none" cap="none" strike="noStrike">
                <a:solidFill>
                  <a:schemeClr val="dk2"/>
                </a:solidFill>
                <a:latin typeface="Roboto"/>
                <a:ea typeface="Roboto"/>
                <a:cs typeface="Roboto"/>
                <a:sym typeface="Roboto"/>
              </a:defRPr>
            </a:lvl4pPr>
            <a:lvl5pPr indent="0" lvl="4" marL="0" algn="r">
              <a:buClr>
                <a:schemeClr val="dk2"/>
              </a:buClr>
              <a:buSzPts val="1000"/>
              <a:buFont typeface="Roboto"/>
              <a:buNone/>
              <a:defRPr b="0" i="0" sz="1000" u="none" cap="none" strike="noStrike">
                <a:solidFill>
                  <a:schemeClr val="dk2"/>
                </a:solidFill>
                <a:latin typeface="Roboto"/>
                <a:ea typeface="Roboto"/>
                <a:cs typeface="Roboto"/>
                <a:sym typeface="Roboto"/>
              </a:defRPr>
            </a:lvl5pPr>
            <a:lvl6pPr indent="0" lvl="5" marL="0" algn="r">
              <a:buClr>
                <a:schemeClr val="dk2"/>
              </a:buClr>
              <a:buSzPts val="1000"/>
              <a:buFont typeface="Roboto"/>
              <a:buNone/>
              <a:defRPr b="0" i="0" sz="1000" u="none" cap="none" strike="noStrike">
                <a:solidFill>
                  <a:schemeClr val="dk2"/>
                </a:solidFill>
                <a:latin typeface="Roboto"/>
                <a:ea typeface="Roboto"/>
                <a:cs typeface="Roboto"/>
                <a:sym typeface="Roboto"/>
              </a:defRPr>
            </a:lvl6pPr>
            <a:lvl7pPr indent="0" lvl="6" marL="0" algn="r">
              <a:buClr>
                <a:schemeClr val="dk2"/>
              </a:buClr>
              <a:buSzPts val="1000"/>
              <a:buFont typeface="Roboto"/>
              <a:buNone/>
              <a:defRPr b="0" i="0" sz="1000" u="none" cap="none" strike="noStrike">
                <a:solidFill>
                  <a:schemeClr val="dk2"/>
                </a:solidFill>
                <a:latin typeface="Roboto"/>
                <a:ea typeface="Roboto"/>
                <a:cs typeface="Roboto"/>
                <a:sym typeface="Roboto"/>
              </a:defRPr>
            </a:lvl7pPr>
            <a:lvl8pPr indent="0" lvl="7" marL="0" algn="r">
              <a:buClr>
                <a:schemeClr val="dk2"/>
              </a:buClr>
              <a:buSzPts val="1000"/>
              <a:buFont typeface="Roboto"/>
              <a:buNone/>
              <a:defRPr b="0" i="0" sz="1000" u="none" cap="none" strike="noStrike">
                <a:solidFill>
                  <a:schemeClr val="dk2"/>
                </a:solidFill>
                <a:latin typeface="Roboto"/>
                <a:ea typeface="Roboto"/>
                <a:cs typeface="Roboto"/>
                <a:sym typeface="Roboto"/>
              </a:defRPr>
            </a:lvl8pPr>
            <a:lvl9pPr indent="0" lvl="8" marL="0" algn="r">
              <a:buClr>
                <a:schemeClr val="dk2"/>
              </a:buClr>
              <a:buSzPts val="1000"/>
              <a:buFont typeface="Roboto"/>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type="twoColTx">
  <p:cSld name="TITLE_AND_TWO_COLUMNS">
    <p:bg>
      <p:bgPr>
        <a:blipFill>
          <a:blip r:embed="rId2">
            <a:alphaModFix/>
          </a:blip>
          <a:stretch>
            <a:fillRect/>
          </a:stretch>
        </a:blipFill>
      </p:bgPr>
    </p:bg>
    <p:spTree>
      <p:nvGrpSpPr>
        <p:cNvPr id="77" name="Shape 77"/>
        <p:cNvGrpSpPr/>
        <p:nvPr/>
      </p:nvGrpSpPr>
      <p:grpSpPr>
        <a:xfrm>
          <a:off x="0" y="0"/>
          <a:ext cx="0" cy="0"/>
          <a:chOff x="0" y="0"/>
          <a:chExt cx="0" cy="0"/>
        </a:xfrm>
      </p:grpSpPr>
      <p:sp>
        <p:nvSpPr>
          <p:cNvPr id="78" name="Google Shape;78;p19"/>
          <p:cNvSpPr txBox="1"/>
          <p:nvPr>
            <p:ph type="title"/>
          </p:nvPr>
        </p:nvSpPr>
        <p:spPr>
          <a:xfrm>
            <a:off x="311700" y="193250"/>
            <a:ext cx="7866900" cy="572700"/>
          </a:xfrm>
          <a:prstGeom prst="rect">
            <a:avLst/>
          </a:prstGeom>
          <a:noFill/>
          <a:ln>
            <a:noFill/>
          </a:ln>
        </p:spPr>
        <p:txBody>
          <a:bodyPr anchorCtr="0" anchor="t" bIns="68575" lIns="68575" spcFirstLastPara="1" rIns="68575" wrap="square" tIns="68575">
            <a:normAutofit/>
          </a:bodyPr>
          <a:lstStyle>
            <a:lvl1pPr lvl="0" algn="l">
              <a:lnSpc>
                <a:spcPct val="100000"/>
              </a:lnSpc>
              <a:spcBef>
                <a:spcPts val="0"/>
              </a:spcBef>
              <a:spcAft>
                <a:spcPts val="0"/>
              </a:spcAft>
              <a:buClr>
                <a:schemeClr val="lt1"/>
              </a:buClr>
              <a:buSzPts val="2100"/>
              <a:buFont typeface="Roboto Medium"/>
              <a:buNone/>
              <a:defRPr>
                <a:solidFill>
                  <a:schemeClr val="lt1"/>
                </a:solidFill>
                <a:latin typeface="Roboto Medium"/>
                <a:ea typeface="Roboto Medium"/>
                <a:cs typeface="Roboto Medium"/>
                <a:sym typeface="Roboto Medium"/>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79" name="Google Shape;79;p19"/>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298450" lvl="0" marL="457200" algn="l">
              <a:lnSpc>
                <a:spcPct val="115000"/>
              </a:lnSpc>
              <a:spcBef>
                <a:spcPts val="0"/>
              </a:spcBef>
              <a:spcAft>
                <a:spcPts val="0"/>
              </a:spcAft>
              <a:buSzPts val="1100"/>
              <a:buChar char="●"/>
              <a:defRPr sz="1400"/>
            </a:lvl1pPr>
            <a:lvl2pPr indent="-285750" lvl="1" marL="914400" algn="l">
              <a:lnSpc>
                <a:spcPct val="115000"/>
              </a:lnSpc>
              <a:spcBef>
                <a:spcPts val="0"/>
              </a:spcBef>
              <a:spcAft>
                <a:spcPts val="0"/>
              </a:spcAft>
              <a:buSzPts val="900"/>
              <a:buChar char="○"/>
              <a:defRPr sz="1200"/>
            </a:lvl2pPr>
            <a:lvl3pPr indent="-285750" lvl="2" marL="1371600" algn="l">
              <a:lnSpc>
                <a:spcPct val="115000"/>
              </a:lnSpc>
              <a:spcBef>
                <a:spcPts val="0"/>
              </a:spcBef>
              <a:spcAft>
                <a:spcPts val="0"/>
              </a:spcAft>
              <a:buSzPts val="900"/>
              <a:buChar char="■"/>
              <a:defRPr sz="1200"/>
            </a:lvl3pPr>
            <a:lvl4pPr indent="-285750" lvl="3" marL="1828800" algn="l">
              <a:lnSpc>
                <a:spcPct val="115000"/>
              </a:lnSpc>
              <a:spcBef>
                <a:spcPts val="0"/>
              </a:spcBef>
              <a:spcAft>
                <a:spcPts val="0"/>
              </a:spcAft>
              <a:buSzPts val="900"/>
              <a:buChar char="●"/>
              <a:defRPr sz="1200"/>
            </a:lvl4pPr>
            <a:lvl5pPr indent="-285750" lvl="4" marL="2286000" algn="l">
              <a:lnSpc>
                <a:spcPct val="115000"/>
              </a:lnSpc>
              <a:spcBef>
                <a:spcPts val="0"/>
              </a:spcBef>
              <a:spcAft>
                <a:spcPts val="0"/>
              </a:spcAft>
              <a:buSzPts val="900"/>
              <a:buChar char="○"/>
              <a:defRPr sz="1200"/>
            </a:lvl5pPr>
            <a:lvl6pPr indent="-285750" lvl="5" marL="2743200" algn="l">
              <a:lnSpc>
                <a:spcPct val="115000"/>
              </a:lnSpc>
              <a:spcBef>
                <a:spcPts val="0"/>
              </a:spcBef>
              <a:spcAft>
                <a:spcPts val="0"/>
              </a:spcAft>
              <a:buSzPts val="900"/>
              <a:buChar char="■"/>
              <a:defRPr sz="1200"/>
            </a:lvl6pPr>
            <a:lvl7pPr indent="-285750" lvl="6" marL="3200400" algn="l">
              <a:lnSpc>
                <a:spcPct val="115000"/>
              </a:lnSpc>
              <a:spcBef>
                <a:spcPts val="0"/>
              </a:spcBef>
              <a:spcAft>
                <a:spcPts val="0"/>
              </a:spcAft>
              <a:buSzPts val="900"/>
              <a:buChar char="●"/>
              <a:defRPr sz="1200"/>
            </a:lvl7pPr>
            <a:lvl8pPr indent="-285750" lvl="7" marL="3657600" algn="l">
              <a:lnSpc>
                <a:spcPct val="115000"/>
              </a:lnSpc>
              <a:spcBef>
                <a:spcPts val="0"/>
              </a:spcBef>
              <a:spcAft>
                <a:spcPts val="0"/>
              </a:spcAft>
              <a:buSzPts val="900"/>
              <a:buChar char="○"/>
              <a:defRPr sz="1200"/>
            </a:lvl8pPr>
            <a:lvl9pPr indent="-285750" lvl="8" marL="4114800" algn="l">
              <a:lnSpc>
                <a:spcPct val="115000"/>
              </a:lnSpc>
              <a:spcBef>
                <a:spcPts val="0"/>
              </a:spcBef>
              <a:spcAft>
                <a:spcPts val="0"/>
              </a:spcAft>
              <a:buSzPts val="900"/>
              <a:buChar char="■"/>
              <a:defRPr sz="1200"/>
            </a:lvl9pPr>
          </a:lstStyle>
          <a:p/>
        </p:txBody>
      </p:sp>
      <p:sp>
        <p:nvSpPr>
          <p:cNvPr id="80" name="Google Shape;80;p19"/>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 name="Shape 81"/>
        <p:cNvGrpSpPr/>
        <p:nvPr/>
      </p:nvGrpSpPr>
      <p:grpSpPr>
        <a:xfrm>
          <a:off x="0" y="0"/>
          <a:ext cx="0" cy="0"/>
          <a:chOff x="0" y="0"/>
          <a:chExt cx="0" cy="0"/>
        </a:xfrm>
      </p:grpSpPr>
      <p:sp>
        <p:nvSpPr>
          <p:cNvPr id="82" name="Google Shape;82;p2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3" name="Google Shape;83;p20"/>
          <p:cNvSpPr txBox="1"/>
          <p:nvPr>
            <p:ph idx="1" type="body"/>
          </p:nvPr>
        </p:nvSpPr>
        <p:spPr>
          <a:xfrm>
            <a:off x="311700" y="4521400"/>
            <a:ext cx="7979400" cy="460500"/>
          </a:xfrm>
          <a:prstGeom prst="rect">
            <a:avLst/>
          </a:prstGeom>
          <a:noFill/>
          <a:ln>
            <a:noFill/>
          </a:ln>
        </p:spPr>
        <p:txBody>
          <a:bodyPr anchorCtr="0" anchor="ctr" bIns="68575" lIns="68575" spcFirstLastPara="1" rIns="68575" wrap="square" tIns="68575">
            <a:normAutofit/>
          </a:bodyPr>
          <a:lstStyle>
            <a:lvl1pPr indent="-228600" lvl="0" marL="457200" algn="l">
              <a:lnSpc>
                <a:spcPct val="100000"/>
              </a:lnSpc>
              <a:spcBef>
                <a:spcPts val="0"/>
              </a:spcBef>
              <a:spcAft>
                <a:spcPts val="0"/>
              </a:spcAft>
              <a:buClr>
                <a:schemeClr val="lt1"/>
              </a:buClr>
              <a:buSzPts val="1000"/>
              <a:buFont typeface="Merriweather"/>
              <a:buNone/>
              <a:defRPr>
                <a:solidFill>
                  <a:schemeClr val="lt1"/>
                </a:solidFill>
                <a:latin typeface="Merriweather"/>
                <a:ea typeface="Merriweather"/>
                <a:cs typeface="Merriweather"/>
                <a:sym typeface="Merriweather"/>
              </a:defRPr>
            </a:lvl1pPr>
            <a:lvl2pPr indent="-279400" lvl="1" marL="914400" algn="l">
              <a:lnSpc>
                <a:spcPct val="115000"/>
              </a:lnSpc>
              <a:spcBef>
                <a:spcPts val="0"/>
              </a:spcBef>
              <a:spcAft>
                <a:spcPts val="0"/>
              </a:spcAft>
              <a:buSzPts val="800"/>
              <a:buChar char="○"/>
              <a:defRPr/>
            </a:lvl2pPr>
            <a:lvl3pPr indent="-279400" lvl="2" marL="1371600" algn="l">
              <a:lnSpc>
                <a:spcPct val="115000"/>
              </a:lnSpc>
              <a:spcBef>
                <a:spcPts val="0"/>
              </a:spcBef>
              <a:spcAft>
                <a:spcPts val="0"/>
              </a:spcAft>
              <a:buSzPts val="800"/>
              <a:buChar char="■"/>
              <a:defRPr/>
            </a:lvl3pPr>
            <a:lvl4pPr indent="-279400" lvl="3" marL="1828800" algn="l">
              <a:lnSpc>
                <a:spcPct val="115000"/>
              </a:lnSpc>
              <a:spcBef>
                <a:spcPts val="0"/>
              </a:spcBef>
              <a:spcAft>
                <a:spcPts val="0"/>
              </a:spcAft>
              <a:buSzPts val="800"/>
              <a:buChar char="●"/>
              <a:defRPr/>
            </a:lvl4pPr>
            <a:lvl5pPr indent="-279400" lvl="4" marL="2286000" algn="l">
              <a:lnSpc>
                <a:spcPct val="115000"/>
              </a:lnSpc>
              <a:spcBef>
                <a:spcPts val="0"/>
              </a:spcBef>
              <a:spcAft>
                <a:spcPts val="0"/>
              </a:spcAft>
              <a:buSzPts val="800"/>
              <a:buChar char="○"/>
              <a:defRPr/>
            </a:lvl5pPr>
            <a:lvl6pPr indent="-279400" lvl="5" marL="2743200" algn="l">
              <a:lnSpc>
                <a:spcPct val="115000"/>
              </a:lnSpc>
              <a:spcBef>
                <a:spcPts val="0"/>
              </a:spcBef>
              <a:spcAft>
                <a:spcPts val="0"/>
              </a:spcAft>
              <a:buSzPts val="800"/>
              <a:buChar char="■"/>
              <a:defRPr/>
            </a:lvl6pPr>
            <a:lvl7pPr indent="-279400" lvl="6" marL="3200400" algn="l">
              <a:lnSpc>
                <a:spcPct val="115000"/>
              </a:lnSpc>
              <a:spcBef>
                <a:spcPts val="0"/>
              </a:spcBef>
              <a:spcAft>
                <a:spcPts val="0"/>
              </a:spcAft>
              <a:buSzPts val="800"/>
              <a:buChar char="●"/>
              <a:defRPr/>
            </a:lvl7pPr>
            <a:lvl8pPr indent="-279400" lvl="7" marL="3657600" algn="l">
              <a:lnSpc>
                <a:spcPct val="115000"/>
              </a:lnSpc>
              <a:spcBef>
                <a:spcPts val="0"/>
              </a:spcBef>
              <a:spcAft>
                <a:spcPts val="0"/>
              </a:spcAft>
              <a:buSzPts val="800"/>
              <a:buChar char="○"/>
              <a:defRPr/>
            </a:lvl8pPr>
            <a:lvl9pPr indent="-279400" lvl="8" marL="4114800" algn="l">
              <a:lnSpc>
                <a:spcPct val="115000"/>
              </a:lnSpc>
              <a:spcBef>
                <a:spcPts val="0"/>
              </a:spcBef>
              <a:spcAft>
                <a:spcPts val="0"/>
              </a:spcAft>
              <a:buSzPts val="800"/>
              <a:buChar char="■"/>
              <a:defRPr/>
            </a:lvl9pPr>
          </a:lstStyle>
          <a:p/>
        </p:txBody>
      </p:sp>
      <p:sp>
        <p:nvSpPr>
          <p:cNvPr id="84" name="Google Shape;84;p20"/>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algn="r">
              <a:buClr>
                <a:schemeClr val="lt1"/>
              </a:buClr>
              <a:buSzPts val="1000"/>
              <a:buFont typeface="Roboto"/>
              <a:buNone/>
              <a:defRPr sz="1000">
                <a:solidFill>
                  <a:schemeClr val="lt1"/>
                </a:solidFill>
                <a:latin typeface="Roboto"/>
                <a:ea typeface="Roboto"/>
                <a:cs typeface="Roboto"/>
                <a:sym typeface="Roboto"/>
              </a:defRPr>
            </a:lvl1pPr>
            <a:lvl2pPr indent="0" lvl="1" marL="0" algn="r">
              <a:buClr>
                <a:schemeClr val="lt1"/>
              </a:buClr>
              <a:buSzPts val="1000"/>
              <a:buFont typeface="Roboto"/>
              <a:buNone/>
              <a:defRPr sz="1000">
                <a:solidFill>
                  <a:schemeClr val="lt1"/>
                </a:solidFill>
                <a:latin typeface="Roboto"/>
                <a:ea typeface="Roboto"/>
                <a:cs typeface="Roboto"/>
                <a:sym typeface="Roboto"/>
              </a:defRPr>
            </a:lvl2pPr>
            <a:lvl3pPr indent="0" lvl="2" marL="0" algn="r">
              <a:buClr>
                <a:schemeClr val="lt1"/>
              </a:buClr>
              <a:buSzPts val="1000"/>
              <a:buFont typeface="Roboto"/>
              <a:buNone/>
              <a:defRPr sz="1000">
                <a:solidFill>
                  <a:schemeClr val="lt1"/>
                </a:solidFill>
                <a:latin typeface="Roboto"/>
                <a:ea typeface="Roboto"/>
                <a:cs typeface="Roboto"/>
                <a:sym typeface="Roboto"/>
              </a:defRPr>
            </a:lvl3pPr>
            <a:lvl4pPr indent="0" lvl="3" marL="0" algn="r">
              <a:buClr>
                <a:schemeClr val="lt1"/>
              </a:buClr>
              <a:buSzPts val="1000"/>
              <a:buFont typeface="Roboto"/>
              <a:buNone/>
              <a:defRPr sz="1000">
                <a:solidFill>
                  <a:schemeClr val="lt1"/>
                </a:solidFill>
                <a:latin typeface="Roboto"/>
                <a:ea typeface="Roboto"/>
                <a:cs typeface="Roboto"/>
                <a:sym typeface="Roboto"/>
              </a:defRPr>
            </a:lvl4pPr>
            <a:lvl5pPr indent="0" lvl="4" marL="0" algn="r">
              <a:buClr>
                <a:schemeClr val="lt1"/>
              </a:buClr>
              <a:buSzPts val="1000"/>
              <a:buFont typeface="Roboto"/>
              <a:buNone/>
              <a:defRPr sz="1000">
                <a:solidFill>
                  <a:schemeClr val="lt1"/>
                </a:solidFill>
                <a:latin typeface="Roboto"/>
                <a:ea typeface="Roboto"/>
                <a:cs typeface="Roboto"/>
                <a:sym typeface="Roboto"/>
              </a:defRPr>
            </a:lvl5pPr>
            <a:lvl6pPr indent="0" lvl="5" marL="0" algn="r">
              <a:buClr>
                <a:schemeClr val="lt1"/>
              </a:buClr>
              <a:buSzPts val="1000"/>
              <a:buFont typeface="Roboto"/>
              <a:buNone/>
              <a:defRPr sz="1000">
                <a:solidFill>
                  <a:schemeClr val="lt1"/>
                </a:solidFill>
                <a:latin typeface="Roboto"/>
                <a:ea typeface="Roboto"/>
                <a:cs typeface="Roboto"/>
                <a:sym typeface="Roboto"/>
              </a:defRPr>
            </a:lvl6pPr>
            <a:lvl7pPr indent="0" lvl="6" marL="0" algn="r">
              <a:buClr>
                <a:schemeClr val="lt1"/>
              </a:buClr>
              <a:buSzPts val="1000"/>
              <a:buFont typeface="Roboto"/>
              <a:buNone/>
              <a:defRPr sz="1000">
                <a:solidFill>
                  <a:schemeClr val="lt1"/>
                </a:solidFill>
                <a:latin typeface="Roboto"/>
                <a:ea typeface="Roboto"/>
                <a:cs typeface="Roboto"/>
                <a:sym typeface="Roboto"/>
              </a:defRPr>
            </a:lvl7pPr>
            <a:lvl8pPr indent="0" lvl="7" marL="0" algn="r">
              <a:buClr>
                <a:schemeClr val="lt1"/>
              </a:buClr>
              <a:buSzPts val="1000"/>
              <a:buFont typeface="Roboto"/>
              <a:buNone/>
              <a:defRPr sz="1000">
                <a:solidFill>
                  <a:schemeClr val="lt1"/>
                </a:solidFill>
                <a:latin typeface="Roboto"/>
                <a:ea typeface="Roboto"/>
                <a:cs typeface="Roboto"/>
                <a:sym typeface="Roboto"/>
              </a:defRPr>
            </a:lvl8pPr>
            <a:lvl9pPr indent="0" lvl="8" marL="0" algn="r">
              <a:buClr>
                <a:schemeClr val="lt1"/>
              </a:buClr>
              <a:buSzPts val="1000"/>
              <a:buFont typeface="Roboto"/>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85" name="Shape 85"/>
        <p:cNvGrpSpPr/>
        <p:nvPr/>
      </p:nvGrpSpPr>
      <p:grpSpPr>
        <a:xfrm>
          <a:off x="0" y="0"/>
          <a:ext cx="0" cy="0"/>
          <a:chOff x="0" y="0"/>
          <a:chExt cx="0" cy="0"/>
        </a:xfrm>
      </p:grpSpPr>
      <p:sp>
        <p:nvSpPr>
          <p:cNvPr id="86" name="Google Shape;86;p21"/>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7" name="Google Shape;87;p21"/>
          <p:cNvSpPr txBox="1"/>
          <p:nvPr>
            <p:ph type="title"/>
          </p:nvPr>
        </p:nvSpPr>
        <p:spPr>
          <a:xfrm>
            <a:off x="311725" y="500925"/>
            <a:ext cx="8520600" cy="623700"/>
          </a:xfrm>
          <a:prstGeom prst="rect">
            <a:avLst/>
          </a:prstGeom>
          <a:noFill/>
          <a:ln>
            <a:noFill/>
          </a:ln>
        </p:spPr>
        <p:txBody>
          <a:bodyPr anchorCtr="0" anchor="t" bIns="68575" lIns="68575" spcFirstLastPara="1" rIns="68575" wrap="square" tIns="68575">
            <a:normAutofit/>
          </a:bodyPr>
          <a:lstStyle>
            <a:lvl1pPr lvl="0" algn="l">
              <a:lnSpc>
                <a:spcPct val="100000"/>
              </a:lnSpc>
              <a:spcBef>
                <a:spcPts val="0"/>
              </a:spcBef>
              <a:spcAft>
                <a:spcPts val="0"/>
              </a:spcAft>
              <a:buClr>
                <a:schemeClr val="lt1"/>
              </a:buClr>
              <a:buSzPts val="2100"/>
              <a:buNone/>
              <a:defRPr>
                <a:solidFill>
                  <a:schemeClr val="lt1"/>
                </a:solidFill>
              </a:defRPr>
            </a:lvl1pPr>
            <a:lvl2pPr lvl="1" algn="l">
              <a:lnSpc>
                <a:spcPct val="100000"/>
              </a:lnSpc>
              <a:spcBef>
                <a:spcPts val="0"/>
              </a:spcBef>
              <a:spcAft>
                <a:spcPts val="0"/>
              </a:spcAft>
              <a:buClr>
                <a:schemeClr val="lt1"/>
              </a:buClr>
              <a:buSzPts val="2100"/>
              <a:buNone/>
              <a:defRPr>
                <a:solidFill>
                  <a:schemeClr val="lt1"/>
                </a:solidFill>
              </a:defRPr>
            </a:lvl2pPr>
            <a:lvl3pPr lvl="2" algn="l">
              <a:lnSpc>
                <a:spcPct val="100000"/>
              </a:lnSpc>
              <a:spcBef>
                <a:spcPts val="0"/>
              </a:spcBef>
              <a:spcAft>
                <a:spcPts val="0"/>
              </a:spcAft>
              <a:buClr>
                <a:schemeClr val="lt1"/>
              </a:buClr>
              <a:buSzPts val="2100"/>
              <a:buNone/>
              <a:defRPr>
                <a:solidFill>
                  <a:schemeClr val="lt1"/>
                </a:solidFill>
              </a:defRPr>
            </a:lvl3pPr>
            <a:lvl4pPr lvl="3" algn="l">
              <a:lnSpc>
                <a:spcPct val="100000"/>
              </a:lnSpc>
              <a:spcBef>
                <a:spcPts val="0"/>
              </a:spcBef>
              <a:spcAft>
                <a:spcPts val="0"/>
              </a:spcAft>
              <a:buClr>
                <a:schemeClr val="lt1"/>
              </a:buClr>
              <a:buSzPts val="2100"/>
              <a:buNone/>
              <a:defRPr>
                <a:solidFill>
                  <a:schemeClr val="lt1"/>
                </a:solidFill>
              </a:defRPr>
            </a:lvl4pPr>
            <a:lvl5pPr lvl="4" algn="l">
              <a:lnSpc>
                <a:spcPct val="100000"/>
              </a:lnSpc>
              <a:spcBef>
                <a:spcPts val="0"/>
              </a:spcBef>
              <a:spcAft>
                <a:spcPts val="0"/>
              </a:spcAft>
              <a:buClr>
                <a:schemeClr val="lt1"/>
              </a:buClr>
              <a:buSzPts val="2100"/>
              <a:buNone/>
              <a:defRPr>
                <a:solidFill>
                  <a:schemeClr val="lt1"/>
                </a:solidFill>
              </a:defRPr>
            </a:lvl5pPr>
            <a:lvl6pPr lvl="5" algn="l">
              <a:lnSpc>
                <a:spcPct val="100000"/>
              </a:lnSpc>
              <a:spcBef>
                <a:spcPts val="0"/>
              </a:spcBef>
              <a:spcAft>
                <a:spcPts val="0"/>
              </a:spcAft>
              <a:buClr>
                <a:schemeClr val="lt1"/>
              </a:buClr>
              <a:buSzPts val="2100"/>
              <a:buNone/>
              <a:defRPr>
                <a:solidFill>
                  <a:schemeClr val="lt1"/>
                </a:solidFill>
              </a:defRPr>
            </a:lvl6pPr>
            <a:lvl7pPr lvl="6" algn="l">
              <a:lnSpc>
                <a:spcPct val="100000"/>
              </a:lnSpc>
              <a:spcBef>
                <a:spcPts val="0"/>
              </a:spcBef>
              <a:spcAft>
                <a:spcPts val="0"/>
              </a:spcAft>
              <a:buClr>
                <a:schemeClr val="lt1"/>
              </a:buClr>
              <a:buSzPts val="2100"/>
              <a:buNone/>
              <a:defRPr>
                <a:solidFill>
                  <a:schemeClr val="lt1"/>
                </a:solidFill>
              </a:defRPr>
            </a:lvl7pPr>
            <a:lvl8pPr lvl="7" algn="l">
              <a:lnSpc>
                <a:spcPct val="100000"/>
              </a:lnSpc>
              <a:spcBef>
                <a:spcPts val="0"/>
              </a:spcBef>
              <a:spcAft>
                <a:spcPts val="0"/>
              </a:spcAft>
              <a:buClr>
                <a:schemeClr val="lt1"/>
              </a:buClr>
              <a:buSzPts val="2100"/>
              <a:buNone/>
              <a:defRPr>
                <a:solidFill>
                  <a:schemeClr val="lt1"/>
                </a:solidFill>
              </a:defRPr>
            </a:lvl8pPr>
            <a:lvl9pPr lvl="8" algn="l">
              <a:lnSpc>
                <a:spcPct val="100000"/>
              </a:lnSpc>
              <a:spcBef>
                <a:spcPts val="0"/>
              </a:spcBef>
              <a:spcAft>
                <a:spcPts val="0"/>
              </a:spcAft>
              <a:buClr>
                <a:schemeClr val="lt1"/>
              </a:buClr>
              <a:buSzPts val="2100"/>
              <a:buNone/>
              <a:defRPr>
                <a:solidFill>
                  <a:schemeClr val="lt1"/>
                </a:solidFill>
              </a:defRPr>
            </a:lvl9pPr>
          </a:lstStyle>
          <a:p/>
        </p:txBody>
      </p:sp>
      <p:sp>
        <p:nvSpPr>
          <p:cNvPr id="88" name="Google Shape;88;p21"/>
          <p:cNvSpPr txBox="1"/>
          <p:nvPr>
            <p:ph idx="1" type="body"/>
          </p:nvPr>
        </p:nvSpPr>
        <p:spPr>
          <a:xfrm>
            <a:off x="311700" y="1505700"/>
            <a:ext cx="3999900" cy="3076200"/>
          </a:xfrm>
          <a:prstGeom prst="rect">
            <a:avLst/>
          </a:prstGeom>
          <a:noFill/>
          <a:ln>
            <a:noFill/>
          </a:ln>
        </p:spPr>
        <p:txBody>
          <a:bodyPr anchorCtr="0" anchor="t" bIns="68575" lIns="68575" spcFirstLastPara="1" rIns="68575" wrap="square" tIns="68575">
            <a:normAutofit/>
          </a:bodyPr>
          <a:lstStyle>
            <a:lvl1pPr indent="-292100" lvl="0" marL="457200" algn="l">
              <a:lnSpc>
                <a:spcPct val="115000"/>
              </a:lnSpc>
              <a:spcBef>
                <a:spcPts val="0"/>
              </a:spcBef>
              <a:spcAft>
                <a:spcPts val="0"/>
              </a:spcAft>
              <a:buSzPts val="1000"/>
              <a:buChar char="●"/>
              <a:defRPr/>
            </a:lvl1pPr>
            <a:lvl2pPr indent="-279400" lvl="1" marL="914400" algn="l">
              <a:lnSpc>
                <a:spcPct val="115000"/>
              </a:lnSpc>
              <a:spcBef>
                <a:spcPts val="0"/>
              </a:spcBef>
              <a:spcAft>
                <a:spcPts val="0"/>
              </a:spcAft>
              <a:buSzPts val="800"/>
              <a:buChar char="○"/>
              <a:defRPr/>
            </a:lvl2pPr>
            <a:lvl3pPr indent="-279400" lvl="2" marL="1371600" algn="l">
              <a:lnSpc>
                <a:spcPct val="115000"/>
              </a:lnSpc>
              <a:spcBef>
                <a:spcPts val="0"/>
              </a:spcBef>
              <a:spcAft>
                <a:spcPts val="0"/>
              </a:spcAft>
              <a:buSzPts val="800"/>
              <a:buChar char="■"/>
              <a:defRPr/>
            </a:lvl3pPr>
            <a:lvl4pPr indent="-279400" lvl="3" marL="1828800" algn="l">
              <a:lnSpc>
                <a:spcPct val="115000"/>
              </a:lnSpc>
              <a:spcBef>
                <a:spcPts val="0"/>
              </a:spcBef>
              <a:spcAft>
                <a:spcPts val="0"/>
              </a:spcAft>
              <a:buSzPts val="800"/>
              <a:buChar char="●"/>
              <a:defRPr/>
            </a:lvl4pPr>
            <a:lvl5pPr indent="-279400" lvl="4" marL="2286000" algn="l">
              <a:lnSpc>
                <a:spcPct val="115000"/>
              </a:lnSpc>
              <a:spcBef>
                <a:spcPts val="0"/>
              </a:spcBef>
              <a:spcAft>
                <a:spcPts val="0"/>
              </a:spcAft>
              <a:buSzPts val="800"/>
              <a:buChar char="○"/>
              <a:defRPr/>
            </a:lvl5pPr>
            <a:lvl6pPr indent="-279400" lvl="5" marL="2743200" algn="l">
              <a:lnSpc>
                <a:spcPct val="115000"/>
              </a:lnSpc>
              <a:spcBef>
                <a:spcPts val="0"/>
              </a:spcBef>
              <a:spcAft>
                <a:spcPts val="0"/>
              </a:spcAft>
              <a:buSzPts val="800"/>
              <a:buChar char="■"/>
              <a:defRPr/>
            </a:lvl6pPr>
            <a:lvl7pPr indent="-279400" lvl="6" marL="3200400" algn="l">
              <a:lnSpc>
                <a:spcPct val="115000"/>
              </a:lnSpc>
              <a:spcBef>
                <a:spcPts val="0"/>
              </a:spcBef>
              <a:spcAft>
                <a:spcPts val="0"/>
              </a:spcAft>
              <a:buSzPts val="800"/>
              <a:buChar char="●"/>
              <a:defRPr/>
            </a:lvl7pPr>
            <a:lvl8pPr indent="-279400" lvl="7" marL="3657600" algn="l">
              <a:lnSpc>
                <a:spcPct val="115000"/>
              </a:lnSpc>
              <a:spcBef>
                <a:spcPts val="0"/>
              </a:spcBef>
              <a:spcAft>
                <a:spcPts val="0"/>
              </a:spcAft>
              <a:buSzPts val="800"/>
              <a:buChar char="○"/>
              <a:defRPr/>
            </a:lvl8pPr>
            <a:lvl9pPr indent="-279400" lvl="8" marL="4114800" algn="l">
              <a:lnSpc>
                <a:spcPct val="115000"/>
              </a:lnSpc>
              <a:spcBef>
                <a:spcPts val="0"/>
              </a:spcBef>
              <a:spcAft>
                <a:spcPts val="0"/>
              </a:spcAft>
              <a:buSzPts val="800"/>
              <a:buChar char="■"/>
              <a:defRPr/>
            </a:lvl9pPr>
          </a:lstStyle>
          <a:p/>
        </p:txBody>
      </p:sp>
      <p:sp>
        <p:nvSpPr>
          <p:cNvPr id="89" name="Google Shape;89;p21"/>
          <p:cNvSpPr txBox="1"/>
          <p:nvPr>
            <p:ph idx="2" type="body"/>
          </p:nvPr>
        </p:nvSpPr>
        <p:spPr>
          <a:xfrm>
            <a:off x="4832400" y="1505700"/>
            <a:ext cx="3999900" cy="3076200"/>
          </a:xfrm>
          <a:prstGeom prst="rect">
            <a:avLst/>
          </a:prstGeom>
          <a:noFill/>
          <a:ln>
            <a:noFill/>
          </a:ln>
        </p:spPr>
        <p:txBody>
          <a:bodyPr anchorCtr="0" anchor="t" bIns="68575" lIns="68575" spcFirstLastPara="1" rIns="68575" wrap="square" tIns="68575">
            <a:normAutofit/>
          </a:bodyPr>
          <a:lstStyle>
            <a:lvl1pPr indent="-292100" lvl="0" marL="457200" algn="l">
              <a:lnSpc>
                <a:spcPct val="115000"/>
              </a:lnSpc>
              <a:spcBef>
                <a:spcPts val="0"/>
              </a:spcBef>
              <a:spcAft>
                <a:spcPts val="0"/>
              </a:spcAft>
              <a:buSzPts val="1000"/>
              <a:buChar char="●"/>
              <a:defRPr/>
            </a:lvl1pPr>
            <a:lvl2pPr indent="-279400" lvl="1" marL="914400" algn="l">
              <a:lnSpc>
                <a:spcPct val="115000"/>
              </a:lnSpc>
              <a:spcBef>
                <a:spcPts val="0"/>
              </a:spcBef>
              <a:spcAft>
                <a:spcPts val="0"/>
              </a:spcAft>
              <a:buSzPts val="800"/>
              <a:buChar char="○"/>
              <a:defRPr/>
            </a:lvl2pPr>
            <a:lvl3pPr indent="-279400" lvl="2" marL="1371600" algn="l">
              <a:lnSpc>
                <a:spcPct val="115000"/>
              </a:lnSpc>
              <a:spcBef>
                <a:spcPts val="0"/>
              </a:spcBef>
              <a:spcAft>
                <a:spcPts val="0"/>
              </a:spcAft>
              <a:buSzPts val="800"/>
              <a:buChar char="■"/>
              <a:defRPr/>
            </a:lvl3pPr>
            <a:lvl4pPr indent="-279400" lvl="3" marL="1828800" algn="l">
              <a:lnSpc>
                <a:spcPct val="115000"/>
              </a:lnSpc>
              <a:spcBef>
                <a:spcPts val="0"/>
              </a:spcBef>
              <a:spcAft>
                <a:spcPts val="0"/>
              </a:spcAft>
              <a:buSzPts val="800"/>
              <a:buChar char="●"/>
              <a:defRPr/>
            </a:lvl4pPr>
            <a:lvl5pPr indent="-279400" lvl="4" marL="2286000" algn="l">
              <a:lnSpc>
                <a:spcPct val="115000"/>
              </a:lnSpc>
              <a:spcBef>
                <a:spcPts val="0"/>
              </a:spcBef>
              <a:spcAft>
                <a:spcPts val="0"/>
              </a:spcAft>
              <a:buSzPts val="800"/>
              <a:buChar char="○"/>
              <a:defRPr/>
            </a:lvl5pPr>
            <a:lvl6pPr indent="-279400" lvl="5" marL="2743200" algn="l">
              <a:lnSpc>
                <a:spcPct val="115000"/>
              </a:lnSpc>
              <a:spcBef>
                <a:spcPts val="0"/>
              </a:spcBef>
              <a:spcAft>
                <a:spcPts val="0"/>
              </a:spcAft>
              <a:buSzPts val="800"/>
              <a:buChar char="■"/>
              <a:defRPr/>
            </a:lvl6pPr>
            <a:lvl7pPr indent="-279400" lvl="6" marL="3200400" algn="l">
              <a:lnSpc>
                <a:spcPct val="115000"/>
              </a:lnSpc>
              <a:spcBef>
                <a:spcPts val="0"/>
              </a:spcBef>
              <a:spcAft>
                <a:spcPts val="0"/>
              </a:spcAft>
              <a:buSzPts val="800"/>
              <a:buChar char="●"/>
              <a:defRPr/>
            </a:lvl7pPr>
            <a:lvl8pPr indent="-279400" lvl="7" marL="3657600" algn="l">
              <a:lnSpc>
                <a:spcPct val="115000"/>
              </a:lnSpc>
              <a:spcBef>
                <a:spcPts val="0"/>
              </a:spcBef>
              <a:spcAft>
                <a:spcPts val="0"/>
              </a:spcAft>
              <a:buSzPts val="800"/>
              <a:buChar char="○"/>
              <a:defRPr/>
            </a:lvl8pPr>
            <a:lvl9pPr indent="-279400" lvl="8" marL="4114800" algn="l">
              <a:lnSpc>
                <a:spcPct val="115000"/>
              </a:lnSpc>
              <a:spcBef>
                <a:spcPts val="0"/>
              </a:spcBef>
              <a:spcAft>
                <a:spcPts val="0"/>
              </a:spcAft>
              <a:buSzPts val="800"/>
              <a:buChar char="■"/>
              <a:defRPr/>
            </a:lvl9pPr>
          </a:lstStyle>
          <a:p/>
        </p:txBody>
      </p:sp>
      <p:sp>
        <p:nvSpPr>
          <p:cNvPr id="90" name="Google Shape;90;p21"/>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algn="r">
              <a:buClr>
                <a:schemeClr val="dk2"/>
              </a:buClr>
              <a:buSzPts val="1000"/>
              <a:buFont typeface="Roboto"/>
              <a:buNone/>
              <a:defRPr sz="1000">
                <a:solidFill>
                  <a:schemeClr val="dk2"/>
                </a:solidFill>
                <a:latin typeface="Roboto"/>
                <a:ea typeface="Roboto"/>
                <a:cs typeface="Roboto"/>
                <a:sym typeface="Roboto"/>
              </a:defRPr>
            </a:lvl1pPr>
            <a:lvl2pPr indent="0" lvl="1" marL="0" algn="r">
              <a:buClr>
                <a:schemeClr val="dk2"/>
              </a:buClr>
              <a:buSzPts val="1000"/>
              <a:buFont typeface="Roboto"/>
              <a:buNone/>
              <a:defRPr sz="1000">
                <a:solidFill>
                  <a:schemeClr val="dk2"/>
                </a:solidFill>
                <a:latin typeface="Roboto"/>
                <a:ea typeface="Roboto"/>
                <a:cs typeface="Roboto"/>
                <a:sym typeface="Roboto"/>
              </a:defRPr>
            </a:lvl2pPr>
            <a:lvl3pPr indent="0" lvl="2" marL="0" algn="r">
              <a:buClr>
                <a:schemeClr val="dk2"/>
              </a:buClr>
              <a:buSzPts val="1000"/>
              <a:buFont typeface="Roboto"/>
              <a:buNone/>
              <a:defRPr sz="1000">
                <a:solidFill>
                  <a:schemeClr val="dk2"/>
                </a:solidFill>
                <a:latin typeface="Roboto"/>
                <a:ea typeface="Roboto"/>
                <a:cs typeface="Roboto"/>
                <a:sym typeface="Roboto"/>
              </a:defRPr>
            </a:lvl3pPr>
            <a:lvl4pPr indent="0" lvl="3" marL="0" algn="r">
              <a:buClr>
                <a:schemeClr val="dk2"/>
              </a:buClr>
              <a:buSzPts val="1000"/>
              <a:buFont typeface="Roboto"/>
              <a:buNone/>
              <a:defRPr sz="1000">
                <a:solidFill>
                  <a:schemeClr val="dk2"/>
                </a:solidFill>
                <a:latin typeface="Roboto"/>
                <a:ea typeface="Roboto"/>
                <a:cs typeface="Roboto"/>
                <a:sym typeface="Roboto"/>
              </a:defRPr>
            </a:lvl4pPr>
            <a:lvl5pPr indent="0" lvl="4" marL="0" algn="r">
              <a:buClr>
                <a:schemeClr val="dk2"/>
              </a:buClr>
              <a:buSzPts val="1000"/>
              <a:buFont typeface="Roboto"/>
              <a:buNone/>
              <a:defRPr sz="1000">
                <a:solidFill>
                  <a:schemeClr val="dk2"/>
                </a:solidFill>
                <a:latin typeface="Roboto"/>
                <a:ea typeface="Roboto"/>
                <a:cs typeface="Roboto"/>
                <a:sym typeface="Roboto"/>
              </a:defRPr>
            </a:lvl5pPr>
            <a:lvl6pPr indent="0" lvl="5" marL="0" algn="r">
              <a:buClr>
                <a:schemeClr val="dk2"/>
              </a:buClr>
              <a:buSzPts val="1000"/>
              <a:buFont typeface="Roboto"/>
              <a:buNone/>
              <a:defRPr sz="1000">
                <a:solidFill>
                  <a:schemeClr val="dk2"/>
                </a:solidFill>
                <a:latin typeface="Roboto"/>
                <a:ea typeface="Roboto"/>
                <a:cs typeface="Roboto"/>
                <a:sym typeface="Roboto"/>
              </a:defRPr>
            </a:lvl6pPr>
            <a:lvl7pPr indent="0" lvl="6" marL="0" algn="r">
              <a:buClr>
                <a:schemeClr val="dk2"/>
              </a:buClr>
              <a:buSzPts val="1000"/>
              <a:buFont typeface="Roboto"/>
              <a:buNone/>
              <a:defRPr sz="1000">
                <a:solidFill>
                  <a:schemeClr val="dk2"/>
                </a:solidFill>
                <a:latin typeface="Roboto"/>
                <a:ea typeface="Roboto"/>
                <a:cs typeface="Roboto"/>
                <a:sym typeface="Roboto"/>
              </a:defRPr>
            </a:lvl7pPr>
            <a:lvl8pPr indent="0" lvl="7" marL="0" algn="r">
              <a:buClr>
                <a:schemeClr val="dk2"/>
              </a:buClr>
              <a:buSzPts val="1000"/>
              <a:buFont typeface="Roboto"/>
              <a:buNone/>
              <a:defRPr sz="1000">
                <a:solidFill>
                  <a:schemeClr val="dk2"/>
                </a:solidFill>
                <a:latin typeface="Roboto"/>
                <a:ea typeface="Roboto"/>
                <a:cs typeface="Roboto"/>
                <a:sym typeface="Roboto"/>
              </a:defRPr>
            </a:lvl8pPr>
            <a:lvl9pPr indent="0" lvl="8" marL="0" algn="r">
              <a:buClr>
                <a:schemeClr val="dk2"/>
              </a:buClr>
              <a:buSzPts val="1000"/>
              <a:buFont typeface="Roboto"/>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bg>
      <p:bgPr>
        <a:solidFill>
          <a:schemeClr val="accent3"/>
        </a:solidFill>
      </p:bgPr>
    </p:bg>
    <p:spTree>
      <p:nvGrpSpPr>
        <p:cNvPr id="91" name="Shape 91"/>
        <p:cNvGrpSpPr/>
        <p:nvPr/>
      </p:nvGrpSpPr>
      <p:grpSpPr>
        <a:xfrm>
          <a:off x="0" y="0"/>
          <a:ext cx="0" cy="0"/>
          <a:chOff x="0" y="0"/>
          <a:chExt cx="0" cy="0"/>
        </a:xfrm>
      </p:grpSpPr>
      <p:sp>
        <p:nvSpPr>
          <p:cNvPr id="92" name="Google Shape;92;p22"/>
          <p:cNvSpPr txBox="1"/>
          <p:nvPr>
            <p:ph type="title"/>
          </p:nvPr>
        </p:nvSpPr>
        <p:spPr>
          <a:xfrm>
            <a:off x="311675" y="798600"/>
            <a:ext cx="6247800" cy="3546300"/>
          </a:xfrm>
          <a:prstGeom prst="rect">
            <a:avLst/>
          </a:prstGeom>
          <a:noFill/>
          <a:ln>
            <a:noFill/>
          </a:ln>
        </p:spPr>
        <p:txBody>
          <a:bodyPr anchorCtr="0" anchor="ctr" bIns="68575" lIns="68575" spcFirstLastPara="1" rIns="68575" wrap="square" tIns="68575">
            <a:normAutofit/>
          </a:bodyPr>
          <a:lstStyle>
            <a:lvl1pPr lvl="0" algn="l">
              <a:lnSpc>
                <a:spcPct val="100000"/>
              </a:lnSpc>
              <a:spcBef>
                <a:spcPts val="0"/>
              </a:spcBef>
              <a:spcAft>
                <a:spcPts val="0"/>
              </a:spcAft>
              <a:buSzPts val="2700"/>
              <a:buNone/>
              <a:defRPr sz="3600"/>
            </a:lvl1pPr>
            <a:lvl2pPr lvl="1" algn="l">
              <a:lnSpc>
                <a:spcPct val="100000"/>
              </a:lnSpc>
              <a:spcBef>
                <a:spcPts val="0"/>
              </a:spcBef>
              <a:spcAft>
                <a:spcPts val="0"/>
              </a:spcAft>
              <a:buSzPts val="2700"/>
              <a:buNone/>
              <a:defRPr sz="3600"/>
            </a:lvl2pPr>
            <a:lvl3pPr lvl="2" algn="l">
              <a:lnSpc>
                <a:spcPct val="100000"/>
              </a:lnSpc>
              <a:spcBef>
                <a:spcPts val="0"/>
              </a:spcBef>
              <a:spcAft>
                <a:spcPts val="0"/>
              </a:spcAft>
              <a:buSzPts val="2700"/>
              <a:buNone/>
              <a:defRPr sz="3600"/>
            </a:lvl3pPr>
            <a:lvl4pPr lvl="3" algn="l">
              <a:lnSpc>
                <a:spcPct val="100000"/>
              </a:lnSpc>
              <a:spcBef>
                <a:spcPts val="0"/>
              </a:spcBef>
              <a:spcAft>
                <a:spcPts val="0"/>
              </a:spcAft>
              <a:buSzPts val="2700"/>
              <a:buNone/>
              <a:defRPr sz="3600"/>
            </a:lvl4pPr>
            <a:lvl5pPr lvl="4" algn="l">
              <a:lnSpc>
                <a:spcPct val="100000"/>
              </a:lnSpc>
              <a:spcBef>
                <a:spcPts val="0"/>
              </a:spcBef>
              <a:spcAft>
                <a:spcPts val="0"/>
              </a:spcAft>
              <a:buSzPts val="2700"/>
              <a:buNone/>
              <a:defRPr sz="3600"/>
            </a:lvl5pPr>
            <a:lvl6pPr lvl="5" algn="l">
              <a:lnSpc>
                <a:spcPct val="100000"/>
              </a:lnSpc>
              <a:spcBef>
                <a:spcPts val="0"/>
              </a:spcBef>
              <a:spcAft>
                <a:spcPts val="0"/>
              </a:spcAft>
              <a:buSzPts val="2700"/>
              <a:buNone/>
              <a:defRPr sz="3600"/>
            </a:lvl6pPr>
            <a:lvl7pPr lvl="6" algn="l">
              <a:lnSpc>
                <a:spcPct val="100000"/>
              </a:lnSpc>
              <a:spcBef>
                <a:spcPts val="0"/>
              </a:spcBef>
              <a:spcAft>
                <a:spcPts val="0"/>
              </a:spcAft>
              <a:buSzPts val="2700"/>
              <a:buNone/>
              <a:defRPr sz="3600"/>
            </a:lvl7pPr>
            <a:lvl8pPr lvl="7" algn="l">
              <a:lnSpc>
                <a:spcPct val="100000"/>
              </a:lnSpc>
              <a:spcBef>
                <a:spcPts val="0"/>
              </a:spcBef>
              <a:spcAft>
                <a:spcPts val="0"/>
              </a:spcAft>
              <a:buSzPts val="2700"/>
              <a:buNone/>
              <a:defRPr sz="3600"/>
            </a:lvl8pPr>
            <a:lvl9pPr lvl="8" algn="l">
              <a:lnSpc>
                <a:spcPct val="100000"/>
              </a:lnSpc>
              <a:spcBef>
                <a:spcPts val="0"/>
              </a:spcBef>
              <a:spcAft>
                <a:spcPts val="0"/>
              </a:spcAft>
              <a:buSzPts val="2700"/>
              <a:buNone/>
              <a:defRPr sz="3600"/>
            </a:lvl9pPr>
          </a:lstStyle>
          <a:p/>
        </p:txBody>
      </p:sp>
      <p:sp>
        <p:nvSpPr>
          <p:cNvPr id="93" name="Google Shape;93;p22"/>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algn="r">
              <a:buClr>
                <a:schemeClr val="accent1"/>
              </a:buClr>
              <a:buSzPts val="1000"/>
              <a:buFont typeface="Roboto"/>
              <a:buNone/>
              <a:defRPr sz="1000">
                <a:solidFill>
                  <a:schemeClr val="accent1"/>
                </a:solidFill>
                <a:latin typeface="Roboto"/>
                <a:ea typeface="Roboto"/>
                <a:cs typeface="Roboto"/>
                <a:sym typeface="Roboto"/>
              </a:defRPr>
            </a:lvl1pPr>
            <a:lvl2pPr indent="0" lvl="1" marL="0" algn="r">
              <a:buClr>
                <a:schemeClr val="accent1"/>
              </a:buClr>
              <a:buSzPts val="1000"/>
              <a:buFont typeface="Roboto"/>
              <a:buNone/>
              <a:defRPr sz="1000">
                <a:solidFill>
                  <a:schemeClr val="accent1"/>
                </a:solidFill>
                <a:latin typeface="Roboto"/>
                <a:ea typeface="Roboto"/>
                <a:cs typeface="Roboto"/>
                <a:sym typeface="Roboto"/>
              </a:defRPr>
            </a:lvl2pPr>
            <a:lvl3pPr indent="0" lvl="2" marL="0" algn="r">
              <a:buClr>
                <a:schemeClr val="accent1"/>
              </a:buClr>
              <a:buSzPts val="1000"/>
              <a:buFont typeface="Roboto"/>
              <a:buNone/>
              <a:defRPr sz="1000">
                <a:solidFill>
                  <a:schemeClr val="accent1"/>
                </a:solidFill>
                <a:latin typeface="Roboto"/>
                <a:ea typeface="Roboto"/>
                <a:cs typeface="Roboto"/>
                <a:sym typeface="Roboto"/>
              </a:defRPr>
            </a:lvl3pPr>
            <a:lvl4pPr indent="0" lvl="3" marL="0" algn="r">
              <a:buClr>
                <a:schemeClr val="accent1"/>
              </a:buClr>
              <a:buSzPts val="1000"/>
              <a:buFont typeface="Roboto"/>
              <a:buNone/>
              <a:defRPr sz="1000">
                <a:solidFill>
                  <a:schemeClr val="accent1"/>
                </a:solidFill>
                <a:latin typeface="Roboto"/>
                <a:ea typeface="Roboto"/>
                <a:cs typeface="Roboto"/>
                <a:sym typeface="Roboto"/>
              </a:defRPr>
            </a:lvl4pPr>
            <a:lvl5pPr indent="0" lvl="4" marL="0" algn="r">
              <a:buClr>
                <a:schemeClr val="accent1"/>
              </a:buClr>
              <a:buSzPts val="1000"/>
              <a:buFont typeface="Roboto"/>
              <a:buNone/>
              <a:defRPr sz="1000">
                <a:solidFill>
                  <a:schemeClr val="accent1"/>
                </a:solidFill>
                <a:latin typeface="Roboto"/>
                <a:ea typeface="Roboto"/>
                <a:cs typeface="Roboto"/>
                <a:sym typeface="Roboto"/>
              </a:defRPr>
            </a:lvl5pPr>
            <a:lvl6pPr indent="0" lvl="5" marL="0" algn="r">
              <a:buClr>
                <a:schemeClr val="accent1"/>
              </a:buClr>
              <a:buSzPts val="1000"/>
              <a:buFont typeface="Roboto"/>
              <a:buNone/>
              <a:defRPr sz="1000">
                <a:solidFill>
                  <a:schemeClr val="accent1"/>
                </a:solidFill>
                <a:latin typeface="Roboto"/>
                <a:ea typeface="Roboto"/>
                <a:cs typeface="Roboto"/>
                <a:sym typeface="Roboto"/>
              </a:defRPr>
            </a:lvl6pPr>
            <a:lvl7pPr indent="0" lvl="6" marL="0" algn="r">
              <a:buClr>
                <a:schemeClr val="accent1"/>
              </a:buClr>
              <a:buSzPts val="1000"/>
              <a:buFont typeface="Roboto"/>
              <a:buNone/>
              <a:defRPr sz="1000">
                <a:solidFill>
                  <a:schemeClr val="accent1"/>
                </a:solidFill>
                <a:latin typeface="Roboto"/>
                <a:ea typeface="Roboto"/>
                <a:cs typeface="Roboto"/>
                <a:sym typeface="Roboto"/>
              </a:defRPr>
            </a:lvl7pPr>
            <a:lvl8pPr indent="0" lvl="7" marL="0" algn="r">
              <a:buClr>
                <a:schemeClr val="accent1"/>
              </a:buClr>
              <a:buSzPts val="1000"/>
              <a:buFont typeface="Roboto"/>
              <a:buNone/>
              <a:defRPr sz="1000">
                <a:solidFill>
                  <a:schemeClr val="accent1"/>
                </a:solidFill>
                <a:latin typeface="Roboto"/>
                <a:ea typeface="Roboto"/>
                <a:cs typeface="Roboto"/>
                <a:sym typeface="Roboto"/>
              </a:defRPr>
            </a:lvl8pPr>
            <a:lvl9pPr indent="0" lvl="8" marL="0" algn="r">
              <a:buClr>
                <a:schemeClr val="accent1"/>
              </a:buClr>
              <a:buSzPts val="1000"/>
              <a:buFont typeface="Roboto"/>
              <a:buNone/>
              <a:defRPr sz="1000">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94" name="Shape 94"/>
        <p:cNvGrpSpPr/>
        <p:nvPr/>
      </p:nvGrpSpPr>
      <p:grpSpPr>
        <a:xfrm>
          <a:off x="0" y="0"/>
          <a:ext cx="0" cy="0"/>
          <a:chOff x="0" y="0"/>
          <a:chExt cx="0" cy="0"/>
        </a:xfrm>
      </p:grpSpPr>
      <p:sp>
        <p:nvSpPr>
          <p:cNvPr id="95" name="Google Shape;95;p23"/>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96" name="Google Shape;96;p23"/>
          <p:cNvSpPr txBox="1"/>
          <p:nvPr>
            <p:ph type="title"/>
          </p:nvPr>
        </p:nvSpPr>
        <p:spPr>
          <a:xfrm>
            <a:off x="311300" y="500925"/>
            <a:ext cx="3704400" cy="2049600"/>
          </a:xfrm>
          <a:prstGeom prst="rect">
            <a:avLst/>
          </a:prstGeom>
          <a:noFill/>
          <a:ln>
            <a:noFill/>
          </a:ln>
        </p:spPr>
        <p:txBody>
          <a:bodyPr anchorCtr="0" anchor="t" bIns="68575" lIns="68575" spcFirstLastPara="1" rIns="68575" wrap="square" tIns="68575">
            <a:normAutofit/>
          </a:bodyPr>
          <a:lstStyle>
            <a:lvl1pPr lvl="0" algn="l">
              <a:lnSpc>
                <a:spcPct val="100000"/>
              </a:lnSpc>
              <a:spcBef>
                <a:spcPts val="0"/>
              </a:spcBef>
              <a:spcAft>
                <a:spcPts val="0"/>
              </a:spcAft>
              <a:buClr>
                <a:schemeClr val="lt1"/>
              </a:buClr>
              <a:buSzPts val="2100"/>
              <a:buNone/>
              <a:defRPr>
                <a:solidFill>
                  <a:schemeClr val="lt1"/>
                </a:solidFill>
              </a:defRPr>
            </a:lvl1pPr>
            <a:lvl2pPr lvl="1" algn="l">
              <a:lnSpc>
                <a:spcPct val="100000"/>
              </a:lnSpc>
              <a:spcBef>
                <a:spcPts val="0"/>
              </a:spcBef>
              <a:spcAft>
                <a:spcPts val="0"/>
              </a:spcAft>
              <a:buClr>
                <a:schemeClr val="lt1"/>
              </a:buClr>
              <a:buSzPts val="2100"/>
              <a:buNone/>
              <a:defRPr>
                <a:solidFill>
                  <a:schemeClr val="lt1"/>
                </a:solidFill>
              </a:defRPr>
            </a:lvl2pPr>
            <a:lvl3pPr lvl="2" algn="l">
              <a:lnSpc>
                <a:spcPct val="100000"/>
              </a:lnSpc>
              <a:spcBef>
                <a:spcPts val="0"/>
              </a:spcBef>
              <a:spcAft>
                <a:spcPts val="0"/>
              </a:spcAft>
              <a:buClr>
                <a:schemeClr val="lt1"/>
              </a:buClr>
              <a:buSzPts val="2100"/>
              <a:buNone/>
              <a:defRPr>
                <a:solidFill>
                  <a:schemeClr val="lt1"/>
                </a:solidFill>
              </a:defRPr>
            </a:lvl3pPr>
            <a:lvl4pPr lvl="3" algn="l">
              <a:lnSpc>
                <a:spcPct val="100000"/>
              </a:lnSpc>
              <a:spcBef>
                <a:spcPts val="0"/>
              </a:spcBef>
              <a:spcAft>
                <a:spcPts val="0"/>
              </a:spcAft>
              <a:buClr>
                <a:schemeClr val="lt1"/>
              </a:buClr>
              <a:buSzPts val="2100"/>
              <a:buNone/>
              <a:defRPr>
                <a:solidFill>
                  <a:schemeClr val="lt1"/>
                </a:solidFill>
              </a:defRPr>
            </a:lvl4pPr>
            <a:lvl5pPr lvl="4" algn="l">
              <a:lnSpc>
                <a:spcPct val="100000"/>
              </a:lnSpc>
              <a:spcBef>
                <a:spcPts val="0"/>
              </a:spcBef>
              <a:spcAft>
                <a:spcPts val="0"/>
              </a:spcAft>
              <a:buClr>
                <a:schemeClr val="lt1"/>
              </a:buClr>
              <a:buSzPts val="2100"/>
              <a:buNone/>
              <a:defRPr>
                <a:solidFill>
                  <a:schemeClr val="lt1"/>
                </a:solidFill>
              </a:defRPr>
            </a:lvl5pPr>
            <a:lvl6pPr lvl="5" algn="l">
              <a:lnSpc>
                <a:spcPct val="100000"/>
              </a:lnSpc>
              <a:spcBef>
                <a:spcPts val="0"/>
              </a:spcBef>
              <a:spcAft>
                <a:spcPts val="0"/>
              </a:spcAft>
              <a:buClr>
                <a:schemeClr val="lt1"/>
              </a:buClr>
              <a:buSzPts val="2100"/>
              <a:buNone/>
              <a:defRPr>
                <a:solidFill>
                  <a:schemeClr val="lt1"/>
                </a:solidFill>
              </a:defRPr>
            </a:lvl6pPr>
            <a:lvl7pPr lvl="6" algn="l">
              <a:lnSpc>
                <a:spcPct val="100000"/>
              </a:lnSpc>
              <a:spcBef>
                <a:spcPts val="0"/>
              </a:spcBef>
              <a:spcAft>
                <a:spcPts val="0"/>
              </a:spcAft>
              <a:buClr>
                <a:schemeClr val="lt1"/>
              </a:buClr>
              <a:buSzPts val="2100"/>
              <a:buNone/>
              <a:defRPr>
                <a:solidFill>
                  <a:schemeClr val="lt1"/>
                </a:solidFill>
              </a:defRPr>
            </a:lvl7pPr>
            <a:lvl8pPr lvl="7" algn="l">
              <a:lnSpc>
                <a:spcPct val="100000"/>
              </a:lnSpc>
              <a:spcBef>
                <a:spcPts val="0"/>
              </a:spcBef>
              <a:spcAft>
                <a:spcPts val="0"/>
              </a:spcAft>
              <a:buClr>
                <a:schemeClr val="lt1"/>
              </a:buClr>
              <a:buSzPts val="2100"/>
              <a:buNone/>
              <a:defRPr>
                <a:solidFill>
                  <a:schemeClr val="lt1"/>
                </a:solidFill>
              </a:defRPr>
            </a:lvl8pPr>
            <a:lvl9pPr lvl="8" algn="l">
              <a:lnSpc>
                <a:spcPct val="100000"/>
              </a:lnSpc>
              <a:spcBef>
                <a:spcPts val="0"/>
              </a:spcBef>
              <a:spcAft>
                <a:spcPts val="0"/>
              </a:spcAft>
              <a:buClr>
                <a:schemeClr val="lt1"/>
              </a:buClr>
              <a:buSzPts val="2100"/>
              <a:buNone/>
              <a:defRPr>
                <a:solidFill>
                  <a:schemeClr val="lt1"/>
                </a:solidFill>
              </a:defRPr>
            </a:lvl9pPr>
          </a:lstStyle>
          <a:p/>
        </p:txBody>
      </p:sp>
      <p:sp>
        <p:nvSpPr>
          <p:cNvPr id="97" name="Google Shape;97;p23"/>
          <p:cNvSpPr txBox="1"/>
          <p:nvPr>
            <p:ph idx="1" type="subTitle"/>
          </p:nvPr>
        </p:nvSpPr>
        <p:spPr>
          <a:xfrm>
            <a:off x="304800" y="2626725"/>
            <a:ext cx="3704400" cy="926700"/>
          </a:xfrm>
          <a:prstGeom prst="rect">
            <a:avLst/>
          </a:prstGeom>
          <a:noFill/>
          <a:ln>
            <a:noFill/>
          </a:ln>
        </p:spPr>
        <p:txBody>
          <a:bodyPr anchorCtr="0" anchor="t" bIns="68575" lIns="68575" spcFirstLastPara="1" rIns="68575" wrap="square" tIns="68575">
            <a:normAutofit/>
          </a:bodyPr>
          <a:lstStyle>
            <a:lvl1pPr lvl="0" algn="l">
              <a:lnSpc>
                <a:spcPct val="100000"/>
              </a:lnSpc>
              <a:spcBef>
                <a:spcPts val="0"/>
              </a:spcBef>
              <a:spcAft>
                <a:spcPts val="0"/>
              </a:spcAft>
              <a:buClr>
                <a:schemeClr val="accent2"/>
              </a:buClr>
              <a:buSzPts val="1200"/>
              <a:buNone/>
              <a:defRPr sz="1600">
                <a:solidFill>
                  <a:schemeClr val="accent2"/>
                </a:solidFill>
              </a:defRPr>
            </a:lvl1pPr>
            <a:lvl2pPr lvl="1" algn="l">
              <a:lnSpc>
                <a:spcPct val="100000"/>
              </a:lnSpc>
              <a:spcBef>
                <a:spcPts val="0"/>
              </a:spcBef>
              <a:spcAft>
                <a:spcPts val="0"/>
              </a:spcAft>
              <a:buClr>
                <a:schemeClr val="accent2"/>
              </a:buClr>
              <a:buSzPts val="1200"/>
              <a:buNone/>
              <a:defRPr sz="1600">
                <a:solidFill>
                  <a:schemeClr val="accent2"/>
                </a:solidFill>
              </a:defRPr>
            </a:lvl2pPr>
            <a:lvl3pPr lvl="2" algn="l">
              <a:lnSpc>
                <a:spcPct val="100000"/>
              </a:lnSpc>
              <a:spcBef>
                <a:spcPts val="0"/>
              </a:spcBef>
              <a:spcAft>
                <a:spcPts val="0"/>
              </a:spcAft>
              <a:buClr>
                <a:schemeClr val="accent2"/>
              </a:buClr>
              <a:buSzPts val="1200"/>
              <a:buNone/>
              <a:defRPr sz="1600">
                <a:solidFill>
                  <a:schemeClr val="accent2"/>
                </a:solidFill>
              </a:defRPr>
            </a:lvl3pPr>
            <a:lvl4pPr lvl="3" algn="l">
              <a:lnSpc>
                <a:spcPct val="100000"/>
              </a:lnSpc>
              <a:spcBef>
                <a:spcPts val="0"/>
              </a:spcBef>
              <a:spcAft>
                <a:spcPts val="0"/>
              </a:spcAft>
              <a:buClr>
                <a:schemeClr val="accent2"/>
              </a:buClr>
              <a:buSzPts val="1200"/>
              <a:buNone/>
              <a:defRPr sz="1600">
                <a:solidFill>
                  <a:schemeClr val="accent2"/>
                </a:solidFill>
              </a:defRPr>
            </a:lvl4pPr>
            <a:lvl5pPr lvl="4" algn="l">
              <a:lnSpc>
                <a:spcPct val="100000"/>
              </a:lnSpc>
              <a:spcBef>
                <a:spcPts val="0"/>
              </a:spcBef>
              <a:spcAft>
                <a:spcPts val="0"/>
              </a:spcAft>
              <a:buClr>
                <a:schemeClr val="accent2"/>
              </a:buClr>
              <a:buSzPts val="1200"/>
              <a:buNone/>
              <a:defRPr sz="1600">
                <a:solidFill>
                  <a:schemeClr val="accent2"/>
                </a:solidFill>
              </a:defRPr>
            </a:lvl5pPr>
            <a:lvl6pPr lvl="5" algn="l">
              <a:lnSpc>
                <a:spcPct val="100000"/>
              </a:lnSpc>
              <a:spcBef>
                <a:spcPts val="0"/>
              </a:spcBef>
              <a:spcAft>
                <a:spcPts val="0"/>
              </a:spcAft>
              <a:buClr>
                <a:schemeClr val="accent2"/>
              </a:buClr>
              <a:buSzPts val="1200"/>
              <a:buNone/>
              <a:defRPr sz="1600">
                <a:solidFill>
                  <a:schemeClr val="accent2"/>
                </a:solidFill>
              </a:defRPr>
            </a:lvl6pPr>
            <a:lvl7pPr lvl="6" algn="l">
              <a:lnSpc>
                <a:spcPct val="100000"/>
              </a:lnSpc>
              <a:spcBef>
                <a:spcPts val="0"/>
              </a:spcBef>
              <a:spcAft>
                <a:spcPts val="0"/>
              </a:spcAft>
              <a:buClr>
                <a:schemeClr val="accent2"/>
              </a:buClr>
              <a:buSzPts val="1200"/>
              <a:buNone/>
              <a:defRPr sz="1600">
                <a:solidFill>
                  <a:schemeClr val="accent2"/>
                </a:solidFill>
              </a:defRPr>
            </a:lvl7pPr>
            <a:lvl8pPr lvl="7" algn="l">
              <a:lnSpc>
                <a:spcPct val="100000"/>
              </a:lnSpc>
              <a:spcBef>
                <a:spcPts val="0"/>
              </a:spcBef>
              <a:spcAft>
                <a:spcPts val="0"/>
              </a:spcAft>
              <a:buClr>
                <a:schemeClr val="accent2"/>
              </a:buClr>
              <a:buSzPts val="1200"/>
              <a:buNone/>
              <a:defRPr sz="1600">
                <a:solidFill>
                  <a:schemeClr val="accent2"/>
                </a:solidFill>
              </a:defRPr>
            </a:lvl8pPr>
            <a:lvl9pPr lvl="8" algn="l">
              <a:lnSpc>
                <a:spcPct val="100000"/>
              </a:lnSpc>
              <a:spcBef>
                <a:spcPts val="0"/>
              </a:spcBef>
              <a:spcAft>
                <a:spcPts val="0"/>
              </a:spcAft>
              <a:buClr>
                <a:schemeClr val="accent2"/>
              </a:buClr>
              <a:buSzPts val="1200"/>
              <a:buNone/>
              <a:defRPr sz="1600">
                <a:solidFill>
                  <a:schemeClr val="accent2"/>
                </a:solidFill>
              </a:defRPr>
            </a:lvl9pPr>
          </a:lstStyle>
          <a:p/>
        </p:txBody>
      </p:sp>
      <p:sp>
        <p:nvSpPr>
          <p:cNvPr id="98" name="Google Shape;98;p23"/>
          <p:cNvSpPr txBox="1"/>
          <p:nvPr>
            <p:ph idx="2" type="body"/>
          </p:nvPr>
        </p:nvSpPr>
        <p:spPr>
          <a:xfrm>
            <a:off x="4879025" y="500925"/>
            <a:ext cx="3954000" cy="4111500"/>
          </a:xfrm>
          <a:prstGeom prst="rect">
            <a:avLst/>
          </a:prstGeom>
          <a:noFill/>
          <a:ln>
            <a:noFill/>
          </a:ln>
        </p:spPr>
        <p:txBody>
          <a:bodyPr anchorCtr="0" anchor="t" bIns="68575" lIns="68575" spcFirstLastPara="1" rIns="68575" wrap="square" tIns="68575">
            <a:normAutofit/>
          </a:bodyPr>
          <a:lstStyle>
            <a:lvl1pPr indent="-292100" lvl="0" marL="457200" algn="l">
              <a:lnSpc>
                <a:spcPct val="115000"/>
              </a:lnSpc>
              <a:spcBef>
                <a:spcPts val="0"/>
              </a:spcBef>
              <a:spcAft>
                <a:spcPts val="0"/>
              </a:spcAft>
              <a:buSzPts val="1000"/>
              <a:buChar char="●"/>
              <a:defRPr/>
            </a:lvl1pPr>
            <a:lvl2pPr indent="-279400" lvl="1" marL="914400" algn="l">
              <a:lnSpc>
                <a:spcPct val="115000"/>
              </a:lnSpc>
              <a:spcBef>
                <a:spcPts val="0"/>
              </a:spcBef>
              <a:spcAft>
                <a:spcPts val="0"/>
              </a:spcAft>
              <a:buSzPts val="800"/>
              <a:buChar char="○"/>
              <a:defRPr/>
            </a:lvl2pPr>
            <a:lvl3pPr indent="-279400" lvl="2" marL="1371600" algn="l">
              <a:lnSpc>
                <a:spcPct val="115000"/>
              </a:lnSpc>
              <a:spcBef>
                <a:spcPts val="0"/>
              </a:spcBef>
              <a:spcAft>
                <a:spcPts val="0"/>
              </a:spcAft>
              <a:buSzPts val="800"/>
              <a:buChar char="■"/>
              <a:defRPr/>
            </a:lvl3pPr>
            <a:lvl4pPr indent="-279400" lvl="3" marL="1828800" algn="l">
              <a:lnSpc>
                <a:spcPct val="115000"/>
              </a:lnSpc>
              <a:spcBef>
                <a:spcPts val="0"/>
              </a:spcBef>
              <a:spcAft>
                <a:spcPts val="0"/>
              </a:spcAft>
              <a:buSzPts val="800"/>
              <a:buChar char="●"/>
              <a:defRPr/>
            </a:lvl4pPr>
            <a:lvl5pPr indent="-279400" lvl="4" marL="2286000" algn="l">
              <a:lnSpc>
                <a:spcPct val="115000"/>
              </a:lnSpc>
              <a:spcBef>
                <a:spcPts val="0"/>
              </a:spcBef>
              <a:spcAft>
                <a:spcPts val="0"/>
              </a:spcAft>
              <a:buSzPts val="800"/>
              <a:buChar char="○"/>
              <a:defRPr/>
            </a:lvl5pPr>
            <a:lvl6pPr indent="-279400" lvl="5" marL="2743200" algn="l">
              <a:lnSpc>
                <a:spcPct val="115000"/>
              </a:lnSpc>
              <a:spcBef>
                <a:spcPts val="0"/>
              </a:spcBef>
              <a:spcAft>
                <a:spcPts val="0"/>
              </a:spcAft>
              <a:buSzPts val="800"/>
              <a:buChar char="■"/>
              <a:defRPr/>
            </a:lvl6pPr>
            <a:lvl7pPr indent="-279400" lvl="6" marL="3200400" algn="l">
              <a:lnSpc>
                <a:spcPct val="115000"/>
              </a:lnSpc>
              <a:spcBef>
                <a:spcPts val="0"/>
              </a:spcBef>
              <a:spcAft>
                <a:spcPts val="0"/>
              </a:spcAft>
              <a:buSzPts val="800"/>
              <a:buChar char="●"/>
              <a:defRPr/>
            </a:lvl7pPr>
            <a:lvl8pPr indent="-279400" lvl="7" marL="3657600" algn="l">
              <a:lnSpc>
                <a:spcPct val="115000"/>
              </a:lnSpc>
              <a:spcBef>
                <a:spcPts val="0"/>
              </a:spcBef>
              <a:spcAft>
                <a:spcPts val="0"/>
              </a:spcAft>
              <a:buSzPts val="800"/>
              <a:buChar char="○"/>
              <a:defRPr/>
            </a:lvl8pPr>
            <a:lvl9pPr indent="-279400" lvl="8" marL="4114800" algn="l">
              <a:lnSpc>
                <a:spcPct val="115000"/>
              </a:lnSpc>
              <a:spcBef>
                <a:spcPts val="0"/>
              </a:spcBef>
              <a:spcAft>
                <a:spcPts val="0"/>
              </a:spcAft>
              <a:buSzPts val="800"/>
              <a:buChar char="■"/>
              <a:defRPr/>
            </a:lvl9pPr>
          </a:lstStyle>
          <a:p/>
        </p:txBody>
      </p:sp>
      <p:sp>
        <p:nvSpPr>
          <p:cNvPr id="99" name="Google Shape;99;p23"/>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algn="r">
              <a:buClr>
                <a:schemeClr val="dk2"/>
              </a:buClr>
              <a:buSzPts val="1000"/>
              <a:buFont typeface="Roboto"/>
              <a:buNone/>
              <a:defRPr sz="1000">
                <a:solidFill>
                  <a:schemeClr val="dk2"/>
                </a:solidFill>
                <a:latin typeface="Roboto"/>
                <a:ea typeface="Roboto"/>
                <a:cs typeface="Roboto"/>
                <a:sym typeface="Roboto"/>
              </a:defRPr>
            </a:lvl1pPr>
            <a:lvl2pPr indent="0" lvl="1" marL="0" algn="r">
              <a:buClr>
                <a:schemeClr val="dk2"/>
              </a:buClr>
              <a:buSzPts val="1000"/>
              <a:buFont typeface="Roboto"/>
              <a:buNone/>
              <a:defRPr sz="1000">
                <a:solidFill>
                  <a:schemeClr val="dk2"/>
                </a:solidFill>
                <a:latin typeface="Roboto"/>
                <a:ea typeface="Roboto"/>
                <a:cs typeface="Roboto"/>
                <a:sym typeface="Roboto"/>
              </a:defRPr>
            </a:lvl2pPr>
            <a:lvl3pPr indent="0" lvl="2" marL="0" algn="r">
              <a:buClr>
                <a:schemeClr val="dk2"/>
              </a:buClr>
              <a:buSzPts val="1000"/>
              <a:buFont typeface="Roboto"/>
              <a:buNone/>
              <a:defRPr sz="1000">
                <a:solidFill>
                  <a:schemeClr val="dk2"/>
                </a:solidFill>
                <a:latin typeface="Roboto"/>
                <a:ea typeface="Roboto"/>
                <a:cs typeface="Roboto"/>
                <a:sym typeface="Roboto"/>
              </a:defRPr>
            </a:lvl3pPr>
            <a:lvl4pPr indent="0" lvl="3" marL="0" algn="r">
              <a:buClr>
                <a:schemeClr val="dk2"/>
              </a:buClr>
              <a:buSzPts val="1000"/>
              <a:buFont typeface="Roboto"/>
              <a:buNone/>
              <a:defRPr sz="1000">
                <a:solidFill>
                  <a:schemeClr val="dk2"/>
                </a:solidFill>
                <a:latin typeface="Roboto"/>
                <a:ea typeface="Roboto"/>
                <a:cs typeface="Roboto"/>
                <a:sym typeface="Roboto"/>
              </a:defRPr>
            </a:lvl4pPr>
            <a:lvl5pPr indent="0" lvl="4" marL="0" algn="r">
              <a:buClr>
                <a:schemeClr val="dk2"/>
              </a:buClr>
              <a:buSzPts val="1000"/>
              <a:buFont typeface="Roboto"/>
              <a:buNone/>
              <a:defRPr sz="1000">
                <a:solidFill>
                  <a:schemeClr val="dk2"/>
                </a:solidFill>
                <a:latin typeface="Roboto"/>
                <a:ea typeface="Roboto"/>
                <a:cs typeface="Roboto"/>
                <a:sym typeface="Roboto"/>
              </a:defRPr>
            </a:lvl5pPr>
            <a:lvl6pPr indent="0" lvl="5" marL="0" algn="r">
              <a:buClr>
                <a:schemeClr val="dk2"/>
              </a:buClr>
              <a:buSzPts val="1000"/>
              <a:buFont typeface="Roboto"/>
              <a:buNone/>
              <a:defRPr sz="1000">
                <a:solidFill>
                  <a:schemeClr val="dk2"/>
                </a:solidFill>
                <a:latin typeface="Roboto"/>
                <a:ea typeface="Roboto"/>
                <a:cs typeface="Roboto"/>
                <a:sym typeface="Roboto"/>
              </a:defRPr>
            </a:lvl6pPr>
            <a:lvl7pPr indent="0" lvl="6" marL="0" algn="r">
              <a:buClr>
                <a:schemeClr val="dk2"/>
              </a:buClr>
              <a:buSzPts val="1000"/>
              <a:buFont typeface="Roboto"/>
              <a:buNone/>
              <a:defRPr sz="1000">
                <a:solidFill>
                  <a:schemeClr val="dk2"/>
                </a:solidFill>
                <a:latin typeface="Roboto"/>
                <a:ea typeface="Roboto"/>
                <a:cs typeface="Roboto"/>
                <a:sym typeface="Roboto"/>
              </a:defRPr>
            </a:lvl7pPr>
            <a:lvl8pPr indent="0" lvl="7" marL="0" algn="r">
              <a:buClr>
                <a:schemeClr val="dk2"/>
              </a:buClr>
              <a:buSzPts val="1000"/>
              <a:buFont typeface="Roboto"/>
              <a:buNone/>
              <a:defRPr sz="1000">
                <a:solidFill>
                  <a:schemeClr val="dk2"/>
                </a:solidFill>
                <a:latin typeface="Roboto"/>
                <a:ea typeface="Roboto"/>
                <a:cs typeface="Roboto"/>
                <a:sym typeface="Roboto"/>
              </a:defRPr>
            </a:lvl8pPr>
            <a:lvl9pPr indent="0" lvl="8" marL="0" algn="r">
              <a:buClr>
                <a:schemeClr val="dk2"/>
              </a:buClr>
              <a:buSzPts val="1000"/>
              <a:buFont typeface="Roboto"/>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bg>
      <p:bgPr>
        <a:solidFill>
          <a:schemeClr val="dk1"/>
        </a:solidFill>
      </p:bgPr>
    </p:bg>
    <p:spTree>
      <p:nvGrpSpPr>
        <p:cNvPr id="100" name="Shape 100"/>
        <p:cNvGrpSpPr/>
        <p:nvPr/>
      </p:nvGrpSpPr>
      <p:grpSpPr>
        <a:xfrm>
          <a:off x="0" y="0"/>
          <a:ext cx="0" cy="0"/>
          <a:chOff x="0" y="0"/>
          <a:chExt cx="0" cy="0"/>
        </a:xfrm>
      </p:grpSpPr>
      <p:sp>
        <p:nvSpPr>
          <p:cNvPr id="101" name="Google Shape;101;p24"/>
          <p:cNvSpPr txBox="1"/>
          <p:nvPr>
            <p:ph type="title"/>
          </p:nvPr>
        </p:nvSpPr>
        <p:spPr>
          <a:xfrm>
            <a:off x="311750" y="831175"/>
            <a:ext cx="5334900" cy="1244700"/>
          </a:xfrm>
          <a:prstGeom prst="rect">
            <a:avLst/>
          </a:prstGeom>
          <a:noFill/>
          <a:ln>
            <a:noFill/>
          </a:ln>
        </p:spPr>
        <p:txBody>
          <a:bodyPr anchorCtr="0" anchor="b" bIns="68575" lIns="68575" spcFirstLastPara="1" rIns="68575" wrap="square" tIns="68575">
            <a:normAutofit/>
          </a:bodyPr>
          <a:lstStyle>
            <a:lvl1pPr lvl="0" algn="l">
              <a:lnSpc>
                <a:spcPct val="100000"/>
              </a:lnSpc>
              <a:spcBef>
                <a:spcPts val="0"/>
              </a:spcBef>
              <a:spcAft>
                <a:spcPts val="0"/>
              </a:spcAft>
              <a:buClr>
                <a:schemeClr val="lt1"/>
              </a:buClr>
              <a:buSzPts val="7500"/>
              <a:buNone/>
              <a:defRPr sz="10000">
                <a:solidFill>
                  <a:schemeClr val="lt1"/>
                </a:solidFill>
              </a:defRPr>
            </a:lvl1pPr>
            <a:lvl2pPr lvl="1" algn="l">
              <a:lnSpc>
                <a:spcPct val="100000"/>
              </a:lnSpc>
              <a:spcBef>
                <a:spcPts val="0"/>
              </a:spcBef>
              <a:spcAft>
                <a:spcPts val="0"/>
              </a:spcAft>
              <a:buClr>
                <a:schemeClr val="lt1"/>
              </a:buClr>
              <a:buSzPts val="7500"/>
              <a:buNone/>
              <a:defRPr sz="10000">
                <a:solidFill>
                  <a:schemeClr val="lt1"/>
                </a:solidFill>
              </a:defRPr>
            </a:lvl2pPr>
            <a:lvl3pPr lvl="2" algn="l">
              <a:lnSpc>
                <a:spcPct val="100000"/>
              </a:lnSpc>
              <a:spcBef>
                <a:spcPts val="0"/>
              </a:spcBef>
              <a:spcAft>
                <a:spcPts val="0"/>
              </a:spcAft>
              <a:buClr>
                <a:schemeClr val="lt1"/>
              </a:buClr>
              <a:buSzPts val="7500"/>
              <a:buNone/>
              <a:defRPr sz="10000">
                <a:solidFill>
                  <a:schemeClr val="lt1"/>
                </a:solidFill>
              </a:defRPr>
            </a:lvl3pPr>
            <a:lvl4pPr lvl="3" algn="l">
              <a:lnSpc>
                <a:spcPct val="100000"/>
              </a:lnSpc>
              <a:spcBef>
                <a:spcPts val="0"/>
              </a:spcBef>
              <a:spcAft>
                <a:spcPts val="0"/>
              </a:spcAft>
              <a:buClr>
                <a:schemeClr val="lt1"/>
              </a:buClr>
              <a:buSzPts val="7500"/>
              <a:buNone/>
              <a:defRPr sz="10000">
                <a:solidFill>
                  <a:schemeClr val="lt1"/>
                </a:solidFill>
              </a:defRPr>
            </a:lvl4pPr>
            <a:lvl5pPr lvl="4" algn="l">
              <a:lnSpc>
                <a:spcPct val="100000"/>
              </a:lnSpc>
              <a:spcBef>
                <a:spcPts val="0"/>
              </a:spcBef>
              <a:spcAft>
                <a:spcPts val="0"/>
              </a:spcAft>
              <a:buClr>
                <a:schemeClr val="lt1"/>
              </a:buClr>
              <a:buSzPts val="7500"/>
              <a:buNone/>
              <a:defRPr sz="10000">
                <a:solidFill>
                  <a:schemeClr val="lt1"/>
                </a:solidFill>
              </a:defRPr>
            </a:lvl5pPr>
            <a:lvl6pPr lvl="5" algn="l">
              <a:lnSpc>
                <a:spcPct val="100000"/>
              </a:lnSpc>
              <a:spcBef>
                <a:spcPts val="0"/>
              </a:spcBef>
              <a:spcAft>
                <a:spcPts val="0"/>
              </a:spcAft>
              <a:buClr>
                <a:schemeClr val="lt1"/>
              </a:buClr>
              <a:buSzPts val="7500"/>
              <a:buNone/>
              <a:defRPr sz="10000">
                <a:solidFill>
                  <a:schemeClr val="lt1"/>
                </a:solidFill>
              </a:defRPr>
            </a:lvl6pPr>
            <a:lvl7pPr lvl="6" algn="l">
              <a:lnSpc>
                <a:spcPct val="100000"/>
              </a:lnSpc>
              <a:spcBef>
                <a:spcPts val="0"/>
              </a:spcBef>
              <a:spcAft>
                <a:spcPts val="0"/>
              </a:spcAft>
              <a:buClr>
                <a:schemeClr val="lt1"/>
              </a:buClr>
              <a:buSzPts val="7500"/>
              <a:buNone/>
              <a:defRPr sz="10000">
                <a:solidFill>
                  <a:schemeClr val="lt1"/>
                </a:solidFill>
              </a:defRPr>
            </a:lvl7pPr>
            <a:lvl8pPr lvl="7" algn="l">
              <a:lnSpc>
                <a:spcPct val="100000"/>
              </a:lnSpc>
              <a:spcBef>
                <a:spcPts val="0"/>
              </a:spcBef>
              <a:spcAft>
                <a:spcPts val="0"/>
              </a:spcAft>
              <a:buClr>
                <a:schemeClr val="lt1"/>
              </a:buClr>
              <a:buSzPts val="7500"/>
              <a:buNone/>
              <a:defRPr sz="10000">
                <a:solidFill>
                  <a:schemeClr val="lt1"/>
                </a:solidFill>
              </a:defRPr>
            </a:lvl8pPr>
            <a:lvl9pPr lvl="8" algn="l">
              <a:lnSpc>
                <a:spcPct val="100000"/>
              </a:lnSpc>
              <a:spcBef>
                <a:spcPts val="0"/>
              </a:spcBef>
              <a:spcAft>
                <a:spcPts val="0"/>
              </a:spcAft>
              <a:buClr>
                <a:schemeClr val="lt1"/>
              </a:buClr>
              <a:buSzPts val="7500"/>
              <a:buNone/>
              <a:defRPr sz="10000">
                <a:solidFill>
                  <a:schemeClr val="lt1"/>
                </a:solidFill>
              </a:defRPr>
            </a:lvl9pPr>
          </a:lstStyle>
          <a:p/>
        </p:txBody>
      </p:sp>
      <p:sp>
        <p:nvSpPr>
          <p:cNvPr id="102" name="Google Shape;102;p24"/>
          <p:cNvSpPr txBox="1"/>
          <p:nvPr>
            <p:ph idx="1" type="body"/>
          </p:nvPr>
        </p:nvSpPr>
        <p:spPr>
          <a:xfrm>
            <a:off x="311700" y="2121425"/>
            <a:ext cx="5334900" cy="942600"/>
          </a:xfrm>
          <a:prstGeom prst="rect">
            <a:avLst/>
          </a:prstGeom>
          <a:noFill/>
          <a:ln>
            <a:noFill/>
          </a:ln>
        </p:spPr>
        <p:txBody>
          <a:bodyPr anchorCtr="0" anchor="t" bIns="68575" lIns="68575" spcFirstLastPara="1" rIns="68575" wrap="square" tIns="68575">
            <a:normAutofit/>
          </a:bodyPr>
          <a:lstStyle>
            <a:lvl1pPr indent="-292100" lvl="0" marL="457200" algn="l">
              <a:lnSpc>
                <a:spcPct val="115000"/>
              </a:lnSpc>
              <a:spcBef>
                <a:spcPts val="0"/>
              </a:spcBef>
              <a:spcAft>
                <a:spcPts val="0"/>
              </a:spcAft>
              <a:buClr>
                <a:schemeClr val="accent2"/>
              </a:buClr>
              <a:buSzPts val="1000"/>
              <a:buChar char="●"/>
              <a:defRPr>
                <a:solidFill>
                  <a:schemeClr val="accent2"/>
                </a:solidFill>
              </a:defRPr>
            </a:lvl1pPr>
            <a:lvl2pPr indent="-279400" lvl="1" marL="914400" algn="l">
              <a:lnSpc>
                <a:spcPct val="115000"/>
              </a:lnSpc>
              <a:spcBef>
                <a:spcPts val="0"/>
              </a:spcBef>
              <a:spcAft>
                <a:spcPts val="0"/>
              </a:spcAft>
              <a:buClr>
                <a:schemeClr val="accent2"/>
              </a:buClr>
              <a:buSzPts val="800"/>
              <a:buChar char="○"/>
              <a:defRPr>
                <a:solidFill>
                  <a:schemeClr val="accent2"/>
                </a:solidFill>
              </a:defRPr>
            </a:lvl2pPr>
            <a:lvl3pPr indent="-279400" lvl="2" marL="1371600" algn="l">
              <a:lnSpc>
                <a:spcPct val="115000"/>
              </a:lnSpc>
              <a:spcBef>
                <a:spcPts val="0"/>
              </a:spcBef>
              <a:spcAft>
                <a:spcPts val="0"/>
              </a:spcAft>
              <a:buClr>
                <a:schemeClr val="accent2"/>
              </a:buClr>
              <a:buSzPts val="800"/>
              <a:buChar char="■"/>
              <a:defRPr>
                <a:solidFill>
                  <a:schemeClr val="accent2"/>
                </a:solidFill>
              </a:defRPr>
            </a:lvl3pPr>
            <a:lvl4pPr indent="-279400" lvl="3" marL="1828800" algn="l">
              <a:lnSpc>
                <a:spcPct val="115000"/>
              </a:lnSpc>
              <a:spcBef>
                <a:spcPts val="0"/>
              </a:spcBef>
              <a:spcAft>
                <a:spcPts val="0"/>
              </a:spcAft>
              <a:buClr>
                <a:schemeClr val="accent2"/>
              </a:buClr>
              <a:buSzPts val="800"/>
              <a:buChar char="●"/>
              <a:defRPr>
                <a:solidFill>
                  <a:schemeClr val="accent2"/>
                </a:solidFill>
              </a:defRPr>
            </a:lvl4pPr>
            <a:lvl5pPr indent="-279400" lvl="4" marL="2286000" algn="l">
              <a:lnSpc>
                <a:spcPct val="115000"/>
              </a:lnSpc>
              <a:spcBef>
                <a:spcPts val="0"/>
              </a:spcBef>
              <a:spcAft>
                <a:spcPts val="0"/>
              </a:spcAft>
              <a:buClr>
                <a:schemeClr val="accent2"/>
              </a:buClr>
              <a:buSzPts val="800"/>
              <a:buChar char="○"/>
              <a:defRPr>
                <a:solidFill>
                  <a:schemeClr val="accent2"/>
                </a:solidFill>
              </a:defRPr>
            </a:lvl5pPr>
            <a:lvl6pPr indent="-279400" lvl="5" marL="2743200" algn="l">
              <a:lnSpc>
                <a:spcPct val="115000"/>
              </a:lnSpc>
              <a:spcBef>
                <a:spcPts val="0"/>
              </a:spcBef>
              <a:spcAft>
                <a:spcPts val="0"/>
              </a:spcAft>
              <a:buClr>
                <a:schemeClr val="accent2"/>
              </a:buClr>
              <a:buSzPts val="800"/>
              <a:buChar char="■"/>
              <a:defRPr>
                <a:solidFill>
                  <a:schemeClr val="accent2"/>
                </a:solidFill>
              </a:defRPr>
            </a:lvl6pPr>
            <a:lvl7pPr indent="-279400" lvl="6" marL="3200400" algn="l">
              <a:lnSpc>
                <a:spcPct val="115000"/>
              </a:lnSpc>
              <a:spcBef>
                <a:spcPts val="0"/>
              </a:spcBef>
              <a:spcAft>
                <a:spcPts val="0"/>
              </a:spcAft>
              <a:buClr>
                <a:schemeClr val="accent2"/>
              </a:buClr>
              <a:buSzPts val="800"/>
              <a:buChar char="●"/>
              <a:defRPr>
                <a:solidFill>
                  <a:schemeClr val="accent2"/>
                </a:solidFill>
              </a:defRPr>
            </a:lvl7pPr>
            <a:lvl8pPr indent="-279400" lvl="7" marL="3657600" algn="l">
              <a:lnSpc>
                <a:spcPct val="115000"/>
              </a:lnSpc>
              <a:spcBef>
                <a:spcPts val="0"/>
              </a:spcBef>
              <a:spcAft>
                <a:spcPts val="0"/>
              </a:spcAft>
              <a:buClr>
                <a:schemeClr val="accent2"/>
              </a:buClr>
              <a:buSzPts val="800"/>
              <a:buChar char="○"/>
              <a:defRPr>
                <a:solidFill>
                  <a:schemeClr val="accent2"/>
                </a:solidFill>
              </a:defRPr>
            </a:lvl8pPr>
            <a:lvl9pPr indent="-279400" lvl="8" marL="4114800" algn="l">
              <a:lnSpc>
                <a:spcPct val="115000"/>
              </a:lnSpc>
              <a:spcBef>
                <a:spcPts val="0"/>
              </a:spcBef>
              <a:spcAft>
                <a:spcPts val="0"/>
              </a:spcAft>
              <a:buClr>
                <a:schemeClr val="accent2"/>
              </a:buClr>
              <a:buSzPts val="800"/>
              <a:buChar char="■"/>
              <a:defRPr>
                <a:solidFill>
                  <a:schemeClr val="accent2"/>
                </a:solidFill>
              </a:defRPr>
            </a:lvl9pPr>
          </a:lstStyle>
          <a:p/>
        </p:txBody>
      </p:sp>
      <p:sp>
        <p:nvSpPr>
          <p:cNvPr id="103" name="Google Shape;103;p24"/>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algn="r">
              <a:buClr>
                <a:schemeClr val="lt1"/>
              </a:buClr>
              <a:buSzPts val="1000"/>
              <a:buFont typeface="Roboto"/>
              <a:buNone/>
              <a:defRPr sz="1000">
                <a:solidFill>
                  <a:schemeClr val="lt1"/>
                </a:solidFill>
                <a:latin typeface="Roboto"/>
                <a:ea typeface="Roboto"/>
                <a:cs typeface="Roboto"/>
                <a:sym typeface="Roboto"/>
              </a:defRPr>
            </a:lvl1pPr>
            <a:lvl2pPr indent="0" lvl="1" marL="0" algn="r">
              <a:buClr>
                <a:schemeClr val="lt1"/>
              </a:buClr>
              <a:buSzPts val="1000"/>
              <a:buFont typeface="Roboto"/>
              <a:buNone/>
              <a:defRPr sz="1000">
                <a:solidFill>
                  <a:schemeClr val="lt1"/>
                </a:solidFill>
                <a:latin typeface="Roboto"/>
                <a:ea typeface="Roboto"/>
                <a:cs typeface="Roboto"/>
                <a:sym typeface="Roboto"/>
              </a:defRPr>
            </a:lvl2pPr>
            <a:lvl3pPr indent="0" lvl="2" marL="0" algn="r">
              <a:buClr>
                <a:schemeClr val="lt1"/>
              </a:buClr>
              <a:buSzPts val="1000"/>
              <a:buFont typeface="Roboto"/>
              <a:buNone/>
              <a:defRPr sz="1000">
                <a:solidFill>
                  <a:schemeClr val="lt1"/>
                </a:solidFill>
                <a:latin typeface="Roboto"/>
                <a:ea typeface="Roboto"/>
                <a:cs typeface="Roboto"/>
                <a:sym typeface="Roboto"/>
              </a:defRPr>
            </a:lvl3pPr>
            <a:lvl4pPr indent="0" lvl="3" marL="0" algn="r">
              <a:buClr>
                <a:schemeClr val="lt1"/>
              </a:buClr>
              <a:buSzPts val="1000"/>
              <a:buFont typeface="Roboto"/>
              <a:buNone/>
              <a:defRPr sz="1000">
                <a:solidFill>
                  <a:schemeClr val="lt1"/>
                </a:solidFill>
                <a:latin typeface="Roboto"/>
                <a:ea typeface="Roboto"/>
                <a:cs typeface="Roboto"/>
                <a:sym typeface="Roboto"/>
              </a:defRPr>
            </a:lvl4pPr>
            <a:lvl5pPr indent="0" lvl="4" marL="0" algn="r">
              <a:buClr>
                <a:schemeClr val="lt1"/>
              </a:buClr>
              <a:buSzPts val="1000"/>
              <a:buFont typeface="Roboto"/>
              <a:buNone/>
              <a:defRPr sz="1000">
                <a:solidFill>
                  <a:schemeClr val="lt1"/>
                </a:solidFill>
                <a:latin typeface="Roboto"/>
                <a:ea typeface="Roboto"/>
                <a:cs typeface="Roboto"/>
                <a:sym typeface="Roboto"/>
              </a:defRPr>
            </a:lvl5pPr>
            <a:lvl6pPr indent="0" lvl="5" marL="0" algn="r">
              <a:buClr>
                <a:schemeClr val="lt1"/>
              </a:buClr>
              <a:buSzPts val="1000"/>
              <a:buFont typeface="Roboto"/>
              <a:buNone/>
              <a:defRPr sz="1000">
                <a:solidFill>
                  <a:schemeClr val="lt1"/>
                </a:solidFill>
                <a:latin typeface="Roboto"/>
                <a:ea typeface="Roboto"/>
                <a:cs typeface="Roboto"/>
                <a:sym typeface="Roboto"/>
              </a:defRPr>
            </a:lvl6pPr>
            <a:lvl7pPr indent="0" lvl="6" marL="0" algn="r">
              <a:buClr>
                <a:schemeClr val="lt1"/>
              </a:buClr>
              <a:buSzPts val="1000"/>
              <a:buFont typeface="Roboto"/>
              <a:buNone/>
              <a:defRPr sz="1000">
                <a:solidFill>
                  <a:schemeClr val="lt1"/>
                </a:solidFill>
                <a:latin typeface="Roboto"/>
                <a:ea typeface="Roboto"/>
                <a:cs typeface="Roboto"/>
                <a:sym typeface="Roboto"/>
              </a:defRPr>
            </a:lvl7pPr>
            <a:lvl8pPr indent="0" lvl="7" marL="0" algn="r">
              <a:buClr>
                <a:schemeClr val="lt1"/>
              </a:buClr>
              <a:buSzPts val="1000"/>
              <a:buFont typeface="Roboto"/>
              <a:buNone/>
              <a:defRPr sz="1000">
                <a:solidFill>
                  <a:schemeClr val="lt1"/>
                </a:solidFill>
                <a:latin typeface="Roboto"/>
                <a:ea typeface="Roboto"/>
                <a:cs typeface="Roboto"/>
                <a:sym typeface="Roboto"/>
              </a:defRPr>
            </a:lvl8pPr>
            <a:lvl9pPr indent="0" lvl="8" marL="0" algn="r">
              <a:buClr>
                <a:schemeClr val="lt1"/>
              </a:buClr>
              <a:buSzPts val="1000"/>
              <a:buFont typeface="Roboto"/>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4" name="Shape 104"/>
        <p:cNvGrpSpPr/>
        <p:nvPr/>
      </p:nvGrpSpPr>
      <p:grpSpPr>
        <a:xfrm>
          <a:off x="0" y="0"/>
          <a:ext cx="0" cy="0"/>
          <a:chOff x="0" y="0"/>
          <a:chExt cx="0" cy="0"/>
        </a:xfrm>
      </p:grpSpPr>
      <p:sp>
        <p:nvSpPr>
          <p:cNvPr id="105" name="Google Shape;105;p25"/>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algn="r">
              <a:buClr>
                <a:schemeClr val="dk2"/>
              </a:buClr>
              <a:buSzPts val="1000"/>
              <a:buFont typeface="Roboto"/>
              <a:buNone/>
              <a:defRPr sz="1000">
                <a:solidFill>
                  <a:schemeClr val="dk2"/>
                </a:solidFill>
                <a:latin typeface="Roboto"/>
                <a:ea typeface="Roboto"/>
                <a:cs typeface="Roboto"/>
                <a:sym typeface="Roboto"/>
              </a:defRPr>
            </a:lvl1pPr>
            <a:lvl2pPr indent="0" lvl="1" marL="0" algn="r">
              <a:buClr>
                <a:schemeClr val="dk2"/>
              </a:buClr>
              <a:buSzPts val="1000"/>
              <a:buFont typeface="Roboto"/>
              <a:buNone/>
              <a:defRPr sz="1000">
                <a:solidFill>
                  <a:schemeClr val="dk2"/>
                </a:solidFill>
                <a:latin typeface="Roboto"/>
                <a:ea typeface="Roboto"/>
                <a:cs typeface="Roboto"/>
                <a:sym typeface="Roboto"/>
              </a:defRPr>
            </a:lvl2pPr>
            <a:lvl3pPr indent="0" lvl="2" marL="0" algn="r">
              <a:buClr>
                <a:schemeClr val="dk2"/>
              </a:buClr>
              <a:buSzPts val="1000"/>
              <a:buFont typeface="Roboto"/>
              <a:buNone/>
              <a:defRPr sz="1000">
                <a:solidFill>
                  <a:schemeClr val="dk2"/>
                </a:solidFill>
                <a:latin typeface="Roboto"/>
                <a:ea typeface="Roboto"/>
                <a:cs typeface="Roboto"/>
                <a:sym typeface="Roboto"/>
              </a:defRPr>
            </a:lvl3pPr>
            <a:lvl4pPr indent="0" lvl="3" marL="0" algn="r">
              <a:buClr>
                <a:schemeClr val="dk2"/>
              </a:buClr>
              <a:buSzPts val="1000"/>
              <a:buFont typeface="Roboto"/>
              <a:buNone/>
              <a:defRPr sz="1000">
                <a:solidFill>
                  <a:schemeClr val="dk2"/>
                </a:solidFill>
                <a:latin typeface="Roboto"/>
                <a:ea typeface="Roboto"/>
                <a:cs typeface="Roboto"/>
                <a:sym typeface="Roboto"/>
              </a:defRPr>
            </a:lvl4pPr>
            <a:lvl5pPr indent="0" lvl="4" marL="0" algn="r">
              <a:buClr>
                <a:schemeClr val="dk2"/>
              </a:buClr>
              <a:buSzPts val="1000"/>
              <a:buFont typeface="Roboto"/>
              <a:buNone/>
              <a:defRPr sz="1000">
                <a:solidFill>
                  <a:schemeClr val="dk2"/>
                </a:solidFill>
                <a:latin typeface="Roboto"/>
                <a:ea typeface="Roboto"/>
                <a:cs typeface="Roboto"/>
                <a:sym typeface="Roboto"/>
              </a:defRPr>
            </a:lvl5pPr>
            <a:lvl6pPr indent="0" lvl="5" marL="0" algn="r">
              <a:buClr>
                <a:schemeClr val="dk2"/>
              </a:buClr>
              <a:buSzPts val="1000"/>
              <a:buFont typeface="Roboto"/>
              <a:buNone/>
              <a:defRPr sz="1000">
                <a:solidFill>
                  <a:schemeClr val="dk2"/>
                </a:solidFill>
                <a:latin typeface="Roboto"/>
                <a:ea typeface="Roboto"/>
                <a:cs typeface="Roboto"/>
                <a:sym typeface="Roboto"/>
              </a:defRPr>
            </a:lvl6pPr>
            <a:lvl7pPr indent="0" lvl="6" marL="0" algn="r">
              <a:buClr>
                <a:schemeClr val="dk2"/>
              </a:buClr>
              <a:buSzPts val="1000"/>
              <a:buFont typeface="Roboto"/>
              <a:buNone/>
              <a:defRPr sz="1000">
                <a:solidFill>
                  <a:schemeClr val="dk2"/>
                </a:solidFill>
                <a:latin typeface="Roboto"/>
                <a:ea typeface="Roboto"/>
                <a:cs typeface="Roboto"/>
                <a:sym typeface="Roboto"/>
              </a:defRPr>
            </a:lvl7pPr>
            <a:lvl8pPr indent="0" lvl="7" marL="0" algn="r">
              <a:buClr>
                <a:schemeClr val="dk2"/>
              </a:buClr>
              <a:buSzPts val="1000"/>
              <a:buFont typeface="Roboto"/>
              <a:buNone/>
              <a:defRPr sz="1000">
                <a:solidFill>
                  <a:schemeClr val="dk2"/>
                </a:solidFill>
                <a:latin typeface="Roboto"/>
                <a:ea typeface="Roboto"/>
                <a:cs typeface="Roboto"/>
                <a:sym typeface="Roboto"/>
              </a:defRPr>
            </a:lvl8pPr>
            <a:lvl9pPr indent="0" lvl="8" marL="0" algn="r">
              <a:buClr>
                <a:schemeClr val="dk2"/>
              </a:buClr>
              <a:buSzPts val="1000"/>
              <a:buFont typeface="Roboto"/>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showMasterSp="0">
  <p:cSld name="Blank White">
    <p:bg>
      <p:bgPr>
        <a:blipFill>
          <a:blip r:embed="rId2">
            <a:alphaModFix/>
          </a:blip>
          <a:stretch>
            <a:fillRect/>
          </a:stretch>
        </a:blipFill>
      </p:bgPr>
    </p:bg>
    <p:spTree>
      <p:nvGrpSpPr>
        <p:cNvPr id="106" name="Shape 106"/>
        <p:cNvGrpSpPr/>
        <p:nvPr/>
      </p:nvGrpSpPr>
      <p:grpSpPr>
        <a:xfrm>
          <a:off x="0" y="0"/>
          <a:ext cx="0" cy="0"/>
          <a:chOff x="0" y="0"/>
          <a:chExt cx="0" cy="0"/>
        </a:xfrm>
      </p:grpSpPr>
      <p:pic>
        <p:nvPicPr>
          <p:cNvPr descr="Logo outlined.png" id="107" name="Google Shape;107;p26"/>
          <p:cNvPicPr preferRelativeResize="0"/>
          <p:nvPr/>
        </p:nvPicPr>
        <p:blipFill rotWithShape="1">
          <a:blip r:embed="rId3">
            <a:alphaModFix/>
          </a:blip>
          <a:srcRect b="0" l="0" r="0" t="0"/>
          <a:stretch/>
        </p:blipFill>
        <p:spPr>
          <a:xfrm>
            <a:off x="7462269" y="4428198"/>
            <a:ext cx="1629238" cy="678850"/>
          </a:xfrm>
          <a:prstGeom prst="rect">
            <a:avLst/>
          </a:prstGeom>
          <a:noFill/>
          <a:ln>
            <a:noFill/>
          </a:ln>
        </p:spPr>
      </p:pic>
      <p:sp>
        <p:nvSpPr>
          <p:cNvPr id="108" name="Google Shape;108;p26"/>
          <p:cNvSpPr txBox="1"/>
          <p:nvPr>
            <p:ph idx="12" type="sldNum"/>
          </p:nvPr>
        </p:nvSpPr>
        <p:spPr>
          <a:xfrm>
            <a:off x="4484637" y="4905375"/>
            <a:ext cx="170100" cy="172800"/>
          </a:xfrm>
          <a:prstGeom prst="rect">
            <a:avLst/>
          </a:prstGeom>
          <a:noFill/>
          <a:ln>
            <a:noFill/>
          </a:ln>
        </p:spPr>
        <p:txBody>
          <a:bodyPr anchorCtr="0" anchor="t" bIns="14300" lIns="14300" spcFirstLastPara="1" rIns="14300" wrap="square" tIns="14300">
            <a:normAutofit/>
          </a:bodyPr>
          <a:lstStyle>
            <a:lvl1pPr indent="0" lvl="0" marL="0" algn="ctr">
              <a:lnSpc>
                <a:spcPct val="100000"/>
              </a:lnSpc>
              <a:spcBef>
                <a:spcPts val="0"/>
              </a:spcBef>
              <a:spcAft>
                <a:spcPts val="0"/>
              </a:spcAft>
              <a:buClr>
                <a:srgbClr val="000000"/>
              </a:buClr>
              <a:buSzPts val="700"/>
              <a:buFont typeface="Helvetica Neue Light"/>
              <a:buNone/>
              <a:defRPr b="0" sz="900">
                <a:solidFill>
                  <a:schemeClr val="dk2"/>
                </a:solidFill>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700"/>
              <a:buFont typeface="Helvetica Neue Light"/>
              <a:buNone/>
              <a:defRPr b="0" sz="900">
                <a:solidFill>
                  <a:schemeClr val="dk2"/>
                </a:solidFill>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700"/>
              <a:buFont typeface="Helvetica Neue Light"/>
              <a:buNone/>
              <a:defRPr b="0" sz="900">
                <a:solidFill>
                  <a:schemeClr val="dk2"/>
                </a:solidFill>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700"/>
              <a:buFont typeface="Helvetica Neue Light"/>
              <a:buNone/>
              <a:defRPr b="0" sz="900">
                <a:solidFill>
                  <a:schemeClr val="dk2"/>
                </a:solidFill>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700"/>
              <a:buFont typeface="Helvetica Neue Light"/>
              <a:buNone/>
              <a:defRPr b="0" sz="900">
                <a:solidFill>
                  <a:schemeClr val="dk2"/>
                </a:solidFill>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700"/>
              <a:buFont typeface="Helvetica Neue Light"/>
              <a:buNone/>
              <a:defRPr b="0" sz="900">
                <a:solidFill>
                  <a:schemeClr val="dk2"/>
                </a:solidFill>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700"/>
              <a:buFont typeface="Helvetica Neue Light"/>
              <a:buNone/>
              <a:defRPr b="0" sz="900">
                <a:solidFill>
                  <a:schemeClr val="dk2"/>
                </a:solidFill>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700"/>
              <a:buFont typeface="Helvetica Neue Light"/>
              <a:buNone/>
              <a:defRPr b="0" sz="900">
                <a:solidFill>
                  <a:schemeClr val="dk2"/>
                </a:solidFill>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700"/>
              <a:buFont typeface="Helvetica Neue Light"/>
              <a:buNone/>
              <a:defRPr b="0" sz="900">
                <a:solidFill>
                  <a:schemeClr val="dk2"/>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
              <a:t>‹#›</a:t>
            </a:fld>
            <a:endParaRPr sz="1000">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9" name="Shape 109"/>
        <p:cNvGrpSpPr/>
        <p:nvPr/>
      </p:nvGrpSpPr>
      <p:grpSpPr>
        <a:xfrm>
          <a:off x="0" y="0"/>
          <a:ext cx="0" cy="0"/>
          <a:chOff x="0" y="0"/>
          <a:chExt cx="0" cy="0"/>
        </a:xfrm>
      </p:grpSpPr>
      <p:sp>
        <p:nvSpPr>
          <p:cNvPr id="110" name="Google Shape;110;p27"/>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7"/>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112" name="Google Shape;112;p27"/>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13" name="Google Shape;113;p27"/>
          <p:cNvSpPr txBox="1"/>
          <p:nvPr>
            <p:ph type="title"/>
          </p:nvPr>
        </p:nvSpPr>
        <p:spPr>
          <a:xfrm>
            <a:off x="311725" y="500925"/>
            <a:ext cx="3706500" cy="2508900"/>
          </a:xfrm>
          <a:prstGeom prst="rect">
            <a:avLst/>
          </a:prstGeom>
        </p:spPr>
        <p:txBody>
          <a:bodyPr anchorCtr="0" anchor="t" bIns="68575" lIns="68575" spcFirstLastPara="1" rIns="68575" wrap="square" tIns="68575">
            <a:normAutofit/>
          </a:bodyPr>
          <a:lstStyle>
            <a:lvl1pPr lvl="0">
              <a:spcBef>
                <a:spcPts val="0"/>
              </a:spcBef>
              <a:spcAft>
                <a:spcPts val="0"/>
              </a:spcAft>
              <a:buClr>
                <a:schemeClr val="lt1"/>
              </a:buClr>
              <a:buSzPts val="2100"/>
              <a:buNone/>
              <a:defRPr>
                <a:solidFill>
                  <a:schemeClr val="lt1"/>
                </a:solidFill>
              </a:defRPr>
            </a:lvl1pPr>
            <a:lvl2pPr lvl="1">
              <a:spcBef>
                <a:spcPts val="0"/>
              </a:spcBef>
              <a:spcAft>
                <a:spcPts val="0"/>
              </a:spcAft>
              <a:buClr>
                <a:schemeClr val="lt1"/>
              </a:buClr>
              <a:buSzPts val="2100"/>
              <a:buNone/>
              <a:defRPr>
                <a:solidFill>
                  <a:schemeClr val="lt1"/>
                </a:solidFill>
              </a:defRPr>
            </a:lvl2pPr>
            <a:lvl3pPr lvl="2">
              <a:spcBef>
                <a:spcPts val="0"/>
              </a:spcBef>
              <a:spcAft>
                <a:spcPts val="0"/>
              </a:spcAft>
              <a:buClr>
                <a:schemeClr val="lt1"/>
              </a:buClr>
              <a:buSzPts val="2100"/>
              <a:buNone/>
              <a:defRPr>
                <a:solidFill>
                  <a:schemeClr val="lt1"/>
                </a:solidFill>
              </a:defRPr>
            </a:lvl3pPr>
            <a:lvl4pPr lvl="3">
              <a:spcBef>
                <a:spcPts val="0"/>
              </a:spcBef>
              <a:spcAft>
                <a:spcPts val="0"/>
              </a:spcAft>
              <a:buClr>
                <a:schemeClr val="lt1"/>
              </a:buClr>
              <a:buSzPts val="2100"/>
              <a:buNone/>
              <a:defRPr>
                <a:solidFill>
                  <a:schemeClr val="lt1"/>
                </a:solidFill>
              </a:defRPr>
            </a:lvl4pPr>
            <a:lvl5pPr lvl="4">
              <a:spcBef>
                <a:spcPts val="0"/>
              </a:spcBef>
              <a:spcAft>
                <a:spcPts val="0"/>
              </a:spcAft>
              <a:buClr>
                <a:schemeClr val="lt1"/>
              </a:buClr>
              <a:buSzPts val="2100"/>
              <a:buNone/>
              <a:defRPr>
                <a:solidFill>
                  <a:schemeClr val="lt1"/>
                </a:solidFill>
              </a:defRPr>
            </a:lvl5pPr>
            <a:lvl6pPr lvl="5">
              <a:spcBef>
                <a:spcPts val="0"/>
              </a:spcBef>
              <a:spcAft>
                <a:spcPts val="0"/>
              </a:spcAft>
              <a:buClr>
                <a:schemeClr val="lt1"/>
              </a:buClr>
              <a:buSzPts val="2100"/>
              <a:buNone/>
              <a:defRPr>
                <a:solidFill>
                  <a:schemeClr val="lt1"/>
                </a:solidFill>
              </a:defRPr>
            </a:lvl6pPr>
            <a:lvl7pPr lvl="6">
              <a:spcBef>
                <a:spcPts val="0"/>
              </a:spcBef>
              <a:spcAft>
                <a:spcPts val="0"/>
              </a:spcAft>
              <a:buClr>
                <a:schemeClr val="lt1"/>
              </a:buClr>
              <a:buSzPts val="2100"/>
              <a:buNone/>
              <a:defRPr>
                <a:solidFill>
                  <a:schemeClr val="lt1"/>
                </a:solidFill>
              </a:defRPr>
            </a:lvl7pPr>
            <a:lvl8pPr lvl="7">
              <a:spcBef>
                <a:spcPts val="0"/>
              </a:spcBef>
              <a:spcAft>
                <a:spcPts val="0"/>
              </a:spcAft>
              <a:buClr>
                <a:schemeClr val="lt1"/>
              </a:buClr>
              <a:buSzPts val="2100"/>
              <a:buNone/>
              <a:defRPr>
                <a:solidFill>
                  <a:schemeClr val="lt1"/>
                </a:solidFill>
              </a:defRPr>
            </a:lvl8pPr>
            <a:lvl9pPr lvl="8">
              <a:spcBef>
                <a:spcPts val="0"/>
              </a:spcBef>
              <a:spcAft>
                <a:spcPts val="0"/>
              </a:spcAft>
              <a:buClr>
                <a:schemeClr val="lt1"/>
              </a:buClr>
              <a:buSzPts val="2100"/>
              <a:buNone/>
              <a:defRPr>
                <a:solidFill>
                  <a:schemeClr val="lt1"/>
                </a:solidFill>
              </a:defRPr>
            </a:lvl9pPr>
          </a:lstStyle>
          <a:p/>
        </p:txBody>
      </p:sp>
      <p:sp>
        <p:nvSpPr>
          <p:cNvPr id="114" name="Google Shape;114;p27"/>
          <p:cNvSpPr txBox="1"/>
          <p:nvPr>
            <p:ph idx="1" type="body"/>
          </p:nvPr>
        </p:nvSpPr>
        <p:spPr>
          <a:xfrm>
            <a:off x="4644675" y="500925"/>
            <a:ext cx="4166400" cy="4098600"/>
          </a:xfrm>
          <a:prstGeom prst="rect">
            <a:avLst/>
          </a:prstGeom>
        </p:spPr>
        <p:txBody>
          <a:bodyPr anchorCtr="0" anchor="t" bIns="68575" lIns="68575" spcFirstLastPara="1" rIns="68575" wrap="square" tIns="6857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15" name="Google Shape;115;p27"/>
          <p:cNvSpPr txBox="1"/>
          <p:nvPr>
            <p:ph idx="12" type="sldNum"/>
          </p:nvPr>
        </p:nvSpPr>
        <p:spPr>
          <a:xfrm>
            <a:off x="8472458" y="4663217"/>
            <a:ext cx="548700" cy="393600"/>
          </a:xfrm>
          <a:prstGeom prst="rect">
            <a:avLst/>
          </a:prstGeom>
        </p:spPr>
        <p:txBody>
          <a:bodyPr anchorCtr="0" anchor="ctr" bIns="68575" lIns="68575" spcFirstLastPara="1" rIns="68575" wrap="square" tIns="685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3.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2" Type="http://schemas.openxmlformats.org/officeDocument/2006/relationships/theme" Target="../theme/theme1.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550"/>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16"/>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marR="0" algn="l">
              <a:lnSpc>
                <a:spcPct val="100000"/>
              </a:lnSpc>
              <a:spcBef>
                <a:spcPts val="0"/>
              </a:spcBef>
              <a:spcAft>
                <a:spcPts val="0"/>
              </a:spcAft>
              <a:buClr>
                <a:schemeClr val="accent1"/>
              </a:buClr>
              <a:buSzPts val="2100"/>
              <a:buFont typeface="Merriweather"/>
              <a:buNone/>
              <a:defRPr b="0" i="0" sz="2100" u="none" cap="none" strike="noStrike">
                <a:solidFill>
                  <a:schemeClr val="accent1"/>
                </a:solidFill>
                <a:latin typeface="Merriweather"/>
                <a:ea typeface="Merriweather"/>
                <a:cs typeface="Merriweather"/>
                <a:sym typeface="Merriweather"/>
              </a:defRPr>
            </a:lvl1pPr>
            <a:lvl2pPr lvl="1" marR="0" algn="l">
              <a:lnSpc>
                <a:spcPct val="100000"/>
              </a:lnSpc>
              <a:spcBef>
                <a:spcPts val="0"/>
              </a:spcBef>
              <a:spcAft>
                <a:spcPts val="0"/>
              </a:spcAft>
              <a:buClr>
                <a:schemeClr val="accent1"/>
              </a:buClr>
              <a:buSzPts val="2100"/>
              <a:buFont typeface="Merriweather"/>
              <a:buNone/>
              <a:defRPr b="0" i="0" sz="2100" u="none" cap="none" strike="noStrike">
                <a:solidFill>
                  <a:schemeClr val="accent1"/>
                </a:solidFill>
                <a:latin typeface="Merriweather"/>
                <a:ea typeface="Merriweather"/>
                <a:cs typeface="Merriweather"/>
                <a:sym typeface="Merriweather"/>
              </a:defRPr>
            </a:lvl2pPr>
            <a:lvl3pPr lvl="2" marR="0" algn="l">
              <a:lnSpc>
                <a:spcPct val="100000"/>
              </a:lnSpc>
              <a:spcBef>
                <a:spcPts val="0"/>
              </a:spcBef>
              <a:spcAft>
                <a:spcPts val="0"/>
              </a:spcAft>
              <a:buClr>
                <a:schemeClr val="accent1"/>
              </a:buClr>
              <a:buSzPts val="2100"/>
              <a:buFont typeface="Merriweather"/>
              <a:buNone/>
              <a:defRPr b="0" i="0" sz="2100" u="none" cap="none" strike="noStrike">
                <a:solidFill>
                  <a:schemeClr val="accent1"/>
                </a:solidFill>
                <a:latin typeface="Merriweather"/>
                <a:ea typeface="Merriweather"/>
                <a:cs typeface="Merriweather"/>
                <a:sym typeface="Merriweather"/>
              </a:defRPr>
            </a:lvl3pPr>
            <a:lvl4pPr lvl="3" marR="0" algn="l">
              <a:lnSpc>
                <a:spcPct val="100000"/>
              </a:lnSpc>
              <a:spcBef>
                <a:spcPts val="0"/>
              </a:spcBef>
              <a:spcAft>
                <a:spcPts val="0"/>
              </a:spcAft>
              <a:buClr>
                <a:schemeClr val="accent1"/>
              </a:buClr>
              <a:buSzPts val="2100"/>
              <a:buFont typeface="Merriweather"/>
              <a:buNone/>
              <a:defRPr b="0" i="0" sz="2100" u="none" cap="none" strike="noStrike">
                <a:solidFill>
                  <a:schemeClr val="accent1"/>
                </a:solidFill>
                <a:latin typeface="Merriweather"/>
                <a:ea typeface="Merriweather"/>
                <a:cs typeface="Merriweather"/>
                <a:sym typeface="Merriweather"/>
              </a:defRPr>
            </a:lvl4pPr>
            <a:lvl5pPr lvl="4" marR="0" algn="l">
              <a:lnSpc>
                <a:spcPct val="100000"/>
              </a:lnSpc>
              <a:spcBef>
                <a:spcPts val="0"/>
              </a:spcBef>
              <a:spcAft>
                <a:spcPts val="0"/>
              </a:spcAft>
              <a:buClr>
                <a:schemeClr val="accent1"/>
              </a:buClr>
              <a:buSzPts val="2100"/>
              <a:buFont typeface="Merriweather"/>
              <a:buNone/>
              <a:defRPr b="0" i="0" sz="2100" u="none" cap="none" strike="noStrike">
                <a:solidFill>
                  <a:schemeClr val="accent1"/>
                </a:solidFill>
                <a:latin typeface="Merriweather"/>
                <a:ea typeface="Merriweather"/>
                <a:cs typeface="Merriweather"/>
                <a:sym typeface="Merriweather"/>
              </a:defRPr>
            </a:lvl5pPr>
            <a:lvl6pPr lvl="5" marR="0" algn="l">
              <a:lnSpc>
                <a:spcPct val="100000"/>
              </a:lnSpc>
              <a:spcBef>
                <a:spcPts val="0"/>
              </a:spcBef>
              <a:spcAft>
                <a:spcPts val="0"/>
              </a:spcAft>
              <a:buClr>
                <a:schemeClr val="accent1"/>
              </a:buClr>
              <a:buSzPts val="2100"/>
              <a:buFont typeface="Merriweather"/>
              <a:buNone/>
              <a:defRPr b="0" i="0" sz="2100" u="none" cap="none" strike="noStrike">
                <a:solidFill>
                  <a:schemeClr val="accent1"/>
                </a:solidFill>
                <a:latin typeface="Merriweather"/>
                <a:ea typeface="Merriweather"/>
                <a:cs typeface="Merriweather"/>
                <a:sym typeface="Merriweather"/>
              </a:defRPr>
            </a:lvl6pPr>
            <a:lvl7pPr lvl="6" marR="0" algn="l">
              <a:lnSpc>
                <a:spcPct val="100000"/>
              </a:lnSpc>
              <a:spcBef>
                <a:spcPts val="0"/>
              </a:spcBef>
              <a:spcAft>
                <a:spcPts val="0"/>
              </a:spcAft>
              <a:buClr>
                <a:schemeClr val="accent1"/>
              </a:buClr>
              <a:buSzPts val="2100"/>
              <a:buFont typeface="Merriweather"/>
              <a:buNone/>
              <a:defRPr b="0" i="0" sz="2100" u="none" cap="none" strike="noStrike">
                <a:solidFill>
                  <a:schemeClr val="accent1"/>
                </a:solidFill>
                <a:latin typeface="Merriweather"/>
                <a:ea typeface="Merriweather"/>
                <a:cs typeface="Merriweather"/>
                <a:sym typeface="Merriweather"/>
              </a:defRPr>
            </a:lvl7pPr>
            <a:lvl8pPr lvl="7" marR="0" algn="l">
              <a:lnSpc>
                <a:spcPct val="100000"/>
              </a:lnSpc>
              <a:spcBef>
                <a:spcPts val="0"/>
              </a:spcBef>
              <a:spcAft>
                <a:spcPts val="0"/>
              </a:spcAft>
              <a:buClr>
                <a:schemeClr val="accent1"/>
              </a:buClr>
              <a:buSzPts val="2100"/>
              <a:buFont typeface="Merriweather"/>
              <a:buNone/>
              <a:defRPr b="0" i="0" sz="2100" u="none" cap="none" strike="noStrike">
                <a:solidFill>
                  <a:schemeClr val="accent1"/>
                </a:solidFill>
                <a:latin typeface="Merriweather"/>
                <a:ea typeface="Merriweather"/>
                <a:cs typeface="Merriweather"/>
                <a:sym typeface="Merriweather"/>
              </a:defRPr>
            </a:lvl8pPr>
            <a:lvl9pPr lvl="8" marR="0" algn="l">
              <a:lnSpc>
                <a:spcPct val="100000"/>
              </a:lnSpc>
              <a:spcBef>
                <a:spcPts val="0"/>
              </a:spcBef>
              <a:spcAft>
                <a:spcPts val="0"/>
              </a:spcAft>
              <a:buClr>
                <a:schemeClr val="accent1"/>
              </a:buClr>
              <a:buSzPts val="2100"/>
              <a:buFont typeface="Merriweather"/>
              <a:buNone/>
              <a:defRPr b="0" i="0" sz="2100" u="none" cap="none" strike="noStrike">
                <a:solidFill>
                  <a:schemeClr val="accent1"/>
                </a:solidFill>
                <a:latin typeface="Merriweather"/>
                <a:ea typeface="Merriweather"/>
                <a:cs typeface="Merriweather"/>
                <a:sym typeface="Merriweather"/>
              </a:defRPr>
            </a:lvl9pPr>
          </a:lstStyle>
          <a:p/>
        </p:txBody>
      </p:sp>
      <p:sp>
        <p:nvSpPr>
          <p:cNvPr id="65" name="Google Shape;65;p16"/>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292100" lvl="0" marL="457200" marR="0" algn="l">
              <a:lnSpc>
                <a:spcPct val="115000"/>
              </a:lnSpc>
              <a:spcBef>
                <a:spcPts val="0"/>
              </a:spcBef>
              <a:spcAft>
                <a:spcPts val="0"/>
              </a:spcAft>
              <a:buClr>
                <a:schemeClr val="dk2"/>
              </a:buClr>
              <a:buSzPts val="1000"/>
              <a:buFont typeface="Roboto"/>
              <a:buChar char="●"/>
              <a:defRPr b="0" i="0" sz="1000" u="none" cap="none" strike="noStrike">
                <a:solidFill>
                  <a:schemeClr val="dk2"/>
                </a:solidFill>
                <a:latin typeface="Roboto"/>
                <a:ea typeface="Roboto"/>
                <a:cs typeface="Roboto"/>
                <a:sym typeface="Roboto"/>
              </a:defRPr>
            </a:lvl1pPr>
            <a:lvl2pPr indent="-279400" lvl="1" marL="914400" marR="0" algn="l">
              <a:lnSpc>
                <a:spcPct val="115000"/>
              </a:lnSpc>
              <a:spcBef>
                <a:spcPts val="0"/>
              </a:spcBef>
              <a:spcAft>
                <a:spcPts val="0"/>
              </a:spcAft>
              <a:buClr>
                <a:schemeClr val="dk2"/>
              </a:buClr>
              <a:buSzPts val="800"/>
              <a:buFont typeface="Roboto"/>
              <a:buChar char="○"/>
              <a:defRPr b="0" i="0" sz="800" u="none" cap="none" strike="noStrike">
                <a:solidFill>
                  <a:schemeClr val="dk2"/>
                </a:solidFill>
                <a:latin typeface="Roboto"/>
                <a:ea typeface="Roboto"/>
                <a:cs typeface="Roboto"/>
                <a:sym typeface="Roboto"/>
              </a:defRPr>
            </a:lvl2pPr>
            <a:lvl3pPr indent="-279400" lvl="2" marL="1371600" marR="0" algn="l">
              <a:lnSpc>
                <a:spcPct val="115000"/>
              </a:lnSpc>
              <a:spcBef>
                <a:spcPts val="0"/>
              </a:spcBef>
              <a:spcAft>
                <a:spcPts val="0"/>
              </a:spcAft>
              <a:buClr>
                <a:schemeClr val="dk2"/>
              </a:buClr>
              <a:buSzPts val="800"/>
              <a:buFont typeface="Roboto"/>
              <a:buChar char="■"/>
              <a:defRPr b="0" i="0" sz="800" u="none" cap="none" strike="noStrike">
                <a:solidFill>
                  <a:schemeClr val="dk2"/>
                </a:solidFill>
                <a:latin typeface="Roboto"/>
                <a:ea typeface="Roboto"/>
                <a:cs typeface="Roboto"/>
                <a:sym typeface="Roboto"/>
              </a:defRPr>
            </a:lvl3pPr>
            <a:lvl4pPr indent="-279400" lvl="3" marL="1828800" marR="0" algn="l">
              <a:lnSpc>
                <a:spcPct val="115000"/>
              </a:lnSpc>
              <a:spcBef>
                <a:spcPts val="0"/>
              </a:spcBef>
              <a:spcAft>
                <a:spcPts val="0"/>
              </a:spcAft>
              <a:buClr>
                <a:schemeClr val="dk2"/>
              </a:buClr>
              <a:buSzPts val="800"/>
              <a:buFont typeface="Roboto"/>
              <a:buChar char="●"/>
              <a:defRPr b="0" i="0" sz="800" u="none" cap="none" strike="noStrike">
                <a:solidFill>
                  <a:schemeClr val="dk2"/>
                </a:solidFill>
                <a:latin typeface="Roboto"/>
                <a:ea typeface="Roboto"/>
                <a:cs typeface="Roboto"/>
                <a:sym typeface="Roboto"/>
              </a:defRPr>
            </a:lvl4pPr>
            <a:lvl5pPr indent="-279400" lvl="4" marL="2286000" marR="0" algn="l">
              <a:lnSpc>
                <a:spcPct val="115000"/>
              </a:lnSpc>
              <a:spcBef>
                <a:spcPts val="0"/>
              </a:spcBef>
              <a:spcAft>
                <a:spcPts val="0"/>
              </a:spcAft>
              <a:buClr>
                <a:schemeClr val="dk2"/>
              </a:buClr>
              <a:buSzPts val="800"/>
              <a:buFont typeface="Roboto"/>
              <a:buChar char="○"/>
              <a:defRPr b="0" i="0" sz="800" u="none" cap="none" strike="noStrike">
                <a:solidFill>
                  <a:schemeClr val="dk2"/>
                </a:solidFill>
                <a:latin typeface="Roboto"/>
                <a:ea typeface="Roboto"/>
                <a:cs typeface="Roboto"/>
                <a:sym typeface="Roboto"/>
              </a:defRPr>
            </a:lvl5pPr>
            <a:lvl6pPr indent="-279400" lvl="5" marL="2743200" marR="0" algn="l">
              <a:lnSpc>
                <a:spcPct val="115000"/>
              </a:lnSpc>
              <a:spcBef>
                <a:spcPts val="0"/>
              </a:spcBef>
              <a:spcAft>
                <a:spcPts val="0"/>
              </a:spcAft>
              <a:buClr>
                <a:schemeClr val="dk2"/>
              </a:buClr>
              <a:buSzPts val="800"/>
              <a:buFont typeface="Roboto"/>
              <a:buChar char="■"/>
              <a:defRPr b="0" i="0" sz="800" u="none" cap="none" strike="noStrike">
                <a:solidFill>
                  <a:schemeClr val="dk2"/>
                </a:solidFill>
                <a:latin typeface="Roboto"/>
                <a:ea typeface="Roboto"/>
                <a:cs typeface="Roboto"/>
                <a:sym typeface="Roboto"/>
              </a:defRPr>
            </a:lvl6pPr>
            <a:lvl7pPr indent="-279400" lvl="6" marL="3200400" marR="0" algn="l">
              <a:lnSpc>
                <a:spcPct val="115000"/>
              </a:lnSpc>
              <a:spcBef>
                <a:spcPts val="0"/>
              </a:spcBef>
              <a:spcAft>
                <a:spcPts val="0"/>
              </a:spcAft>
              <a:buClr>
                <a:schemeClr val="dk2"/>
              </a:buClr>
              <a:buSzPts val="800"/>
              <a:buFont typeface="Roboto"/>
              <a:buChar char="●"/>
              <a:defRPr b="0" i="0" sz="800" u="none" cap="none" strike="noStrike">
                <a:solidFill>
                  <a:schemeClr val="dk2"/>
                </a:solidFill>
                <a:latin typeface="Roboto"/>
                <a:ea typeface="Roboto"/>
                <a:cs typeface="Roboto"/>
                <a:sym typeface="Roboto"/>
              </a:defRPr>
            </a:lvl7pPr>
            <a:lvl8pPr indent="-279400" lvl="7" marL="3657600" marR="0" algn="l">
              <a:lnSpc>
                <a:spcPct val="115000"/>
              </a:lnSpc>
              <a:spcBef>
                <a:spcPts val="0"/>
              </a:spcBef>
              <a:spcAft>
                <a:spcPts val="0"/>
              </a:spcAft>
              <a:buClr>
                <a:schemeClr val="dk2"/>
              </a:buClr>
              <a:buSzPts val="800"/>
              <a:buFont typeface="Roboto"/>
              <a:buChar char="○"/>
              <a:defRPr b="0" i="0" sz="800" u="none" cap="none" strike="noStrike">
                <a:solidFill>
                  <a:schemeClr val="dk2"/>
                </a:solidFill>
                <a:latin typeface="Roboto"/>
                <a:ea typeface="Roboto"/>
                <a:cs typeface="Roboto"/>
                <a:sym typeface="Roboto"/>
              </a:defRPr>
            </a:lvl8pPr>
            <a:lvl9pPr indent="-279400" lvl="8" marL="4114800" marR="0" algn="l">
              <a:lnSpc>
                <a:spcPct val="115000"/>
              </a:lnSpc>
              <a:spcBef>
                <a:spcPts val="0"/>
              </a:spcBef>
              <a:spcAft>
                <a:spcPts val="0"/>
              </a:spcAft>
              <a:buClr>
                <a:schemeClr val="dk2"/>
              </a:buClr>
              <a:buSzPts val="800"/>
              <a:buFont typeface="Roboto"/>
              <a:buChar char="■"/>
              <a:defRPr b="0" i="0" sz="800" u="none" cap="none" strike="noStrike">
                <a:solidFill>
                  <a:schemeClr val="dk2"/>
                </a:solidFill>
                <a:latin typeface="Roboto"/>
                <a:ea typeface="Roboto"/>
                <a:cs typeface="Roboto"/>
                <a:sym typeface="Roboto"/>
              </a:defRPr>
            </a:lvl9pPr>
          </a:lstStyle>
          <a:p/>
        </p:txBody>
      </p:sp>
      <p:sp>
        <p:nvSpPr>
          <p:cNvPr id="66" name="Google Shape;66;p16"/>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buClr>
                <a:schemeClr val="dk2"/>
              </a:buClr>
              <a:buSzPts val="1000"/>
              <a:buFont typeface="Roboto"/>
              <a:buNone/>
              <a:defRPr b="0" i="0" sz="1000" u="none" cap="none" strike="noStrike">
                <a:solidFill>
                  <a:schemeClr val="dk2"/>
                </a:solidFill>
                <a:latin typeface="Roboto"/>
                <a:ea typeface="Roboto"/>
                <a:cs typeface="Roboto"/>
                <a:sym typeface="Roboto"/>
              </a:defRPr>
            </a:lvl1pPr>
            <a:lvl2pPr indent="0" lvl="1" marL="0" marR="0" algn="r">
              <a:buClr>
                <a:schemeClr val="dk2"/>
              </a:buClr>
              <a:buSzPts val="1000"/>
              <a:buFont typeface="Roboto"/>
              <a:buNone/>
              <a:defRPr b="0" i="0" sz="1000" u="none" cap="none" strike="noStrike">
                <a:solidFill>
                  <a:schemeClr val="dk2"/>
                </a:solidFill>
                <a:latin typeface="Roboto"/>
                <a:ea typeface="Roboto"/>
                <a:cs typeface="Roboto"/>
                <a:sym typeface="Roboto"/>
              </a:defRPr>
            </a:lvl2pPr>
            <a:lvl3pPr indent="0" lvl="2" marL="0" marR="0" algn="r">
              <a:buClr>
                <a:schemeClr val="dk2"/>
              </a:buClr>
              <a:buSzPts val="1000"/>
              <a:buFont typeface="Roboto"/>
              <a:buNone/>
              <a:defRPr b="0" i="0" sz="1000" u="none" cap="none" strike="noStrike">
                <a:solidFill>
                  <a:schemeClr val="dk2"/>
                </a:solidFill>
                <a:latin typeface="Roboto"/>
                <a:ea typeface="Roboto"/>
                <a:cs typeface="Roboto"/>
                <a:sym typeface="Roboto"/>
              </a:defRPr>
            </a:lvl3pPr>
            <a:lvl4pPr indent="0" lvl="3" marL="0" marR="0" algn="r">
              <a:buClr>
                <a:schemeClr val="dk2"/>
              </a:buClr>
              <a:buSzPts val="1000"/>
              <a:buFont typeface="Roboto"/>
              <a:buNone/>
              <a:defRPr b="0" i="0" sz="1000" u="none" cap="none" strike="noStrike">
                <a:solidFill>
                  <a:schemeClr val="dk2"/>
                </a:solidFill>
                <a:latin typeface="Roboto"/>
                <a:ea typeface="Roboto"/>
                <a:cs typeface="Roboto"/>
                <a:sym typeface="Roboto"/>
              </a:defRPr>
            </a:lvl4pPr>
            <a:lvl5pPr indent="0" lvl="4" marL="0" marR="0" algn="r">
              <a:buClr>
                <a:schemeClr val="dk2"/>
              </a:buClr>
              <a:buSzPts val="1000"/>
              <a:buFont typeface="Roboto"/>
              <a:buNone/>
              <a:defRPr b="0" i="0" sz="1000" u="none" cap="none" strike="noStrike">
                <a:solidFill>
                  <a:schemeClr val="dk2"/>
                </a:solidFill>
                <a:latin typeface="Roboto"/>
                <a:ea typeface="Roboto"/>
                <a:cs typeface="Roboto"/>
                <a:sym typeface="Roboto"/>
              </a:defRPr>
            </a:lvl5pPr>
            <a:lvl6pPr indent="0" lvl="5" marL="0" marR="0" algn="r">
              <a:buClr>
                <a:schemeClr val="dk2"/>
              </a:buClr>
              <a:buSzPts val="1000"/>
              <a:buFont typeface="Roboto"/>
              <a:buNone/>
              <a:defRPr b="0" i="0" sz="1000" u="none" cap="none" strike="noStrike">
                <a:solidFill>
                  <a:schemeClr val="dk2"/>
                </a:solidFill>
                <a:latin typeface="Roboto"/>
                <a:ea typeface="Roboto"/>
                <a:cs typeface="Roboto"/>
                <a:sym typeface="Roboto"/>
              </a:defRPr>
            </a:lvl6pPr>
            <a:lvl7pPr indent="0" lvl="6" marL="0" marR="0" algn="r">
              <a:buClr>
                <a:schemeClr val="dk2"/>
              </a:buClr>
              <a:buSzPts val="1000"/>
              <a:buFont typeface="Roboto"/>
              <a:buNone/>
              <a:defRPr b="0" i="0" sz="1000" u="none" cap="none" strike="noStrike">
                <a:solidFill>
                  <a:schemeClr val="dk2"/>
                </a:solidFill>
                <a:latin typeface="Roboto"/>
                <a:ea typeface="Roboto"/>
                <a:cs typeface="Roboto"/>
                <a:sym typeface="Roboto"/>
              </a:defRPr>
            </a:lvl7pPr>
            <a:lvl8pPr indent="0" lvl="7" marL="0" marR="0" algn="r">
              <a:buClr>
                <a:schemeClr val="dk2"/>
              </a:buClr>
              <a:buSzPts val="1000"/>
              <a:buFont typeface="Roboto"/>
              <a:buNone/>
              <a:defRPr b="0" i="0" sz="1000" u="none" cap="none" strike="noStrike">
                <a:solidFill>
                  <a:schemeClr val="dk2"/>
                </a:solidFill>
                <a:latin typeface="Roboto"/>
                <a:ea typeface="Roboto"/>
                <a:cs typeface="Roboto"/>
                <a:sym typeface="Roboto"/>
              </a:defRPr>
            </a:lvl8pPr>
            <a:lvl9pPr indent="0" lvl="8" marL="0" marR="0" algn="r">
              <a:buClr>
                <a:schemeClr val="dk2"/>
              </a:buClr>
              <a:buSzPts val="1000"/>
              <a:buFont typeface="Roboto"/>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comments" Target="../comments/comment1.xml"/><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comments" Target="../comments/commen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4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 Id="rId3"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6.xml"/><Relationship Id="rId3"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 Id="rId3" Type="http://schemas.openxmlformats.org/officeDocument/2006/relationships/image" Target="../media/image6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 Id="rId3" Type="http://schemas.openxmlformats.org/officeDocument/2006/relationships/comments" Target="../comments/comment3.xml"/><Relationship Id="rId4" Type="http://schemas.openxmlformats.org/officeDocument/2006/relationships/image" Target="../media/image6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 Id="rId3"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 Id="rId3"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1.xml"/><Relationship Id="rId3" Type="http://schemas.openxmlformats.org/officeDocument/2006/relationships/image" Target="../media/image5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Relationship Id="rId3" Type="http://schemas.openxmlformats.org/officeDocument/2006/relationships/image" Target="../media/image6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4.xml"/><Relationship Id="rId3" Type="http://schemas.openxmlformats.org/officeDocument/2006/relationships/image" Target="../media/image3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5.xml"/><Relationship Id="rId3" Type="http://schemas.openxmlformats.org/officeDocument/2006/relationships/image" Target="../media/image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6.xml"/><Relationship Id="rId3"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comments" Target="../comments/commen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8.xml"/><Relationship Id="rId3" Type="http://schemas.openxmlformats.org/officeDocument/2006/relationships/image" Target="../media/image4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9.xml"/><Relationship Id="rId3"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0.xml"/><Relationship Id="rId3" Type="http://schemas.openxmlformats.org/officeDocument/2006/relationships/image" Target="../media/image5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1.xml"/><Relationship Id="rId3"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3.xml"/><Relationship Id="rId3" Type="http://schemas.openxmlformats.org/officeDocument/2006/relationships/image" Target="../media/image3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7.xml"/><Relationship Id="rId3" Type="http://schemas.openxmlformats.org/officeDocument/2006/relationships/image" Target="../media/image3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8.xml"/><Relationship Id="rId3" Type="http://schemas.openxmlformats.org/officeDocument/2006/relationships/image" Target="../media/image4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9.xml"/><Relationship Id="rId3" Type="http://schemas.openxmlformats.org/officeDocument/2006/relationships/image" Target="../media/image5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0.xml"/><Relationship Id="rId3" Type="http://schemas.openxmlformats.org/officeDocument/2006/relationships/image" Target="../media/image4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1.xml"/><Relationship Id="rId3" Type="http://schemas.openxmlformats.org/officeDocument/2006/relationships/image" Target="../media/image5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2.xml"/><Relationship Id="rId3" Type="http://schemas.openxmlformats.org/officeDocument/2006/relationships/image" Target="../media/image4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3.xml"/><Relationship Id="rId3" Type="http://schemas.openxmlformats.org/officeDocument/2006/relationships/image" Target="../media/image6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4.xml"/><Relationship Id="rId3" Type="http://schemas.openxmlformats.org/officeDocument/2006/relationships/image" Target="../media/image5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5.xml"/><Relationship Id="rId3" Type="http://schemas.openxmlformats.org/officeDocument/2006/relationships/image" Target="../media/image6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6.xml"/><Relationship Id="rId3" Type="http://schemas.openxmlformats.org/officeDocument/2006/relationships/image" Target="../media/image5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7.xml"/><Relationship Id="rId3" Type="http://schemas.openxmlformats.org/officeDocument/2006/relationships/image" Target="../media/image5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8.xml"/><Relationship Id="rId3" Type="http://schemas.openxmlformats.org/officeDocument/2006/relationships/image" Target="../media/image5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0.xml"/><Relationship Id="rId3" Type="http://schemas.openxmlformats.org/officeDocument/2006/relationships/image" Target="../media/image5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1.xml"/><Relationship Id="rId3" Type="http://schemas.openxmlformats.org/officeDocument/2006/relationships/image" Target="../media/image6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2.xml"/><Relationship Id="rId3" Type="http://schemas.openxmlformats.org/officeDocument/2006/relationships/image" Target="../media/image6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3.xml"/><Relationship Id="rId3" Type="http://schemas.openxmlformats.org/officeDocument/2006/relationships/image" Target="../media/image5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5.xml"/><Relationship Id="rId3" Type="http://schemas.openxmlformats.org/officeDocument/2006/relationships/comments" Target="../comments/commen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8.xml"/><Relationship Id="rId3" Type="http://schemas.openxmlformats.org/officeDocument/2006/relationships/comments" Target="../comments/commen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8"/>
          <p:cNvSpPr txBox="1"/>
          <p:nvPr>
            <p:ph type="title"/>
          </p:nvPr>
        </p:nvSpPr>
        <p:spPr>
          <a:xfrm>
            <a:off x="317675" y="1048257"/>
            <a:ext cx="3923400" cy="3034200"/>
          </a:xfrm>
          <a:prstGeom prst="rect">
            <a:avLst/>
          </a:prstGeom>
        </p:spPr>
        <p:txBody>
          <a:bodyPr anchorCtr="0" anchor="ctr" bIns="68575" lIns="68575" spcFirstLastPara="1" rIns="68575" wrap="square" tIns="68575">
            <a:normAutofit/>
          </a:bodyPr>
          <a:lstStyle/>
          <a:p>
            <a:pPr indent="0" lvl="0" marL="0" rtl="0" algn="ctr">
              <a:spcBef>
                <a:spcPts val="0"/>
              </a:spcBef>
              <a:spcAft>
                <a:spcPts val="0"/>
              </a:spcAft>
              <a:buNone/>
            </a:pPr>
            <a:r>
              <a:rPr lang="en" sz="2400">
                <a:latin typeface="Roboto"/>
                <a:ea typeface="Roboto"/>
                <a:cs typeface="Roboto"/>
                <a:sym typeface="Roboto"/>
              </a:rPr>
              <a:t>Improving Phase Prediction with Data Assimilation &amp; Interpolated Surfaces</a:t>
            </a:r>
            <a:endParaRPr sz="2400">
              <a:latin typeface="Roboto"/>
              <a:ea typeface="Roboto"/>
              <a:cs typeface="Roboto"/>
              <a:sym typeface="Roboto"/>
            </a:endParaRPr>
          </a:p>
          <a:p>
            <a:pPr indent="0" lvl="0" marL="0" rtl="0" algn="ctr">
              <a:spcBef>
                <a:spcPts val="0"/>
              </a:spcBef>
              <a:spcAft>
                <a:spcPts val="0"/>
              </a:spcAft>
              <a:buNone/>
            </a:pPr>
            <a:r>
              <a:t/>
            </a:r>
            <a:endParaRPr sz="2400">
              <a:latin typeface="Roboto"/>
              <a:ea typeface="Roboto"/>
              <a:cs typeface="Roboto"/>
              <a:sym typeface="Roboto"/>
            </a:endParaRPr>
          </a:p>
          <a:p>
            <a:pPr indent="0" lvl="0" marL="0" rtl="0" algn="ctr">
              <a:spcBef>
                <a:spcPts val="0"/>
              </a:spcBef>
              <a:spcAft>
                <a:spcPts val="0"/>
              </a:spcAft>
              <a:buNone/>
            </a:pPr>
            <a:r>
              <a:rPr lang="en" sz="2400">
                <a:latin typeface="Roboto"/>
                <a:ea typeface="Roboto"/>
                <a:cs typeface="Roboto"/>
                <a:sym typeface="Roboto"/>
              </a:rPr>
              <a:t>June 2026 Status Update</a:t>
            </a:r>
            <a:endParaRPr sz="2400">
              <a:latin typeface="Roboto"/>
              <a:ea typeface="Roboto"/>
              <a:cs typeface="Roboto"/>
              <a:sym typeface="Roboto"/>
            </a:endParaRPr>
          </a:p>
          <a:p>
            <a:pPr indent="0" lvl="0" marL="0" rtl="0" algn="ctr">
              <a:spcBef>
                <a:spcPts val="0"/>
              </a:spcBef>
              <a:spcAft>
                <a:spcPts val="0"/>
              </a:spcAft>
              <a:buNone/>
            </a:pPr>
            <a:r>
              <a:rPr lang="en" sz="2400">
                <a:latin typeface="Roboto"/>
                <a:ea typeface="Roboto"/>
                <a:cs typeface="Roboto"/>
                <a:sym typeface="Roboto"/>
              </a:rPr>
              <a:t>(Extended ROI &amp; Time Period)</a:t>
            </a:r>
            <a:endParaRPr sz="2400">
              <a:latin typeface="Roboto"/>
              <a:ea typeface="Roboto"/>
              <a:cs typeface="Roboto"/>
              <a:sym typeface="Roboto"/>
            </a:endParaRPr>
          </a:p>
        </p:txBody>
      </p:sp>
      <p:sp>
        <p:nvSpPr>
          <p:cNvPr id="122" name="Google Shape;122;p28"/>
          <p:cNvSpPr txBox="1"/>
          <p:nvPr>
            <p:ph idx="1" type="subTitle"/>
          </p:nvPr>
        </p:nvSpPr>
        <p:spPr>
          <a:xfrm>
            <a:off x="427175" y="4457875"/>
            <a:ext cx="3704400" cy="507600"/>
          </a:xfrm>
          <a:prstGeom prst="rect">
            <a:avLst/>
          </a:prstGeom>
        </p:spPr>
        <p:txBody>
          <a:bodyPr anchorCtr="0" anchor="ctr" bIns="68575" lIns="68575" spcFirstLastPara="1" rIns="68575" wrap="square" tIns="68575">
            <a:normAutofit/>
          </a:bodyPr>
          <a:lstStyle/>
          <a:p>
            <a:pPr indent="0" lvl="0" marL="0" rtl="0" algn="ctr">
              <a:spcBef>
                <a:spcPts val="0"/>
              </a:spcBef>
              <a:spcAft>
                <a:spcPts val="0"/>
              </a:spcAft>
              <a:buNone/>
            </a:pPr>
            <a:r>
              <a:rPr lang="en"/>
              <a:t>Emma Golub &amp; Zeed </a:t>
            </a:r>
            <a:r>
              <a:rPr lang="en"/>
              <a:t>Almelhem</a:t>
            </a:r>
            <a:endParaRPr/>
          </a:p>
        </p:txBody>
      </p:sp>
      <p:pic>
        <p:nvPicPr>
          <p:cNvPr id="123" name="Google Shape;123;p28" title="004 - IMG_9264 - Roland Schumann.jpeg"/>
          <p:cNvPicPr preferRelativeResize="0"/>
          <p:nvPr/>
        </p:nvPicPr>
        <p:blipFill rotWithShape="1">
          <a:blip r:embed="rId3">
            <a:alphaModFix/>
          </a:blip>
          <a:srcRect b="0" l="19494" r="19494" t="0"/>
          <a:stretch/>
        </p:blipFill>
        <p:spPr>
          <a:xfrm>
            <a:off x="4647425" y="0"/>
            <a:ext cx="4496573"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9"/>
          <p:cNvSpPr txBox="1"/>
          <p:nvPr>
            <p:ph type="title"/>
          </p:nvPr>
        </p:nvSpPr>
        <p:spPr>
          <a:xfrm>
            <a:off x="324075" y="236598"/>
            <a:ext cx="7866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Outline</a:t>
            </a:r>
            <a:endParaRPr sz="2500"/>
          </a:p>
        </p:txBody>
      </p:sp>
      <p:sp>
        <p:nvSpPr>
          <p:cNvPr id="129" name="Google Shape;129;p29"/>
          <p:cNvSpPr txBox="1"/>
          <p:nvPr>
            <p:ph idx="4294967295" type="body"/>
          </p:nvPr>
        </p:nvSpPr>
        <p:spPr>
          <a:xfrm>
            <a:off x="368100" y="1321675"/>
            <a:ext cx="8407800" cy="3258600"/>
          </a:xfrm>
          <a:prstGeom prst="rect">
            <a:avLst/>
          </a:prstGeom>
        </p:spPr>
        <p:txBody>
          <a:bodyPr anchorCtr="0" anchor="ctr" bIns="91425" lIns="91425" spcFirstLastPara="1" rIns="91425" wrap="square" tIns="91425">
            <a:normAutofit/>
          </a:bodyPr>
          <a:lstStyle/>
          <a:p>
            <a:pPr indent="-336550" lvl="0" marL="457200" rtl="0" algn="l">
              <a:lnSpc>
                <a:spcPct val="115000"/>
              </a:lnSpc>
              <a:spcBef>
                <a:spcPts val="1200"/>
              </a:spcBef>
              <a:spcAft>
                <a:spcPts val="0"/>
              </a:spcAft>
              <a:buSzPts val="1700"/>
              <a:buChar char="●"/>
            </a:pPr>
            <a:r>
              <a:rPr lang="en" sz="1700"/>
              <a:t>M</a:t>
            </a:r>
            <a:r>
              <a:rPr lang="en" sz="1700"/>
              <a:t>otivation</a:t>
            </a:r>
            <a:endParaRPr sz="1700"/>
          </a:p>
          <a:p>
            <a:pPr indent="-336550" lvl="0" marL="457200" rtl="0" algn="l">
              <a:lnSpc>
                <a:spcPct val="115000"/>
              </a:lnSpc>
              <a:spcBef>
                <a:spcPts val="1200"/>
              </a:spcBef>
              <a:spcAft>
                <a:spcPts val="0"/>
              </a:spcAft>
              <a:buSzPts val="1700"/>
              <a:buChar char="●"/>
            </a:pPr>
            <a:r>
              <a:rPr lang="en" sz="1700"/>
              <a:t>Research questions</a:t>
            </a:r>
            <a:endParaRPr sz="1700"/>
          </a:p>
          <a:p>
            <a:pPr indent="-336550" lvl="0" marL="457200" rtl="0" algn="l">
              <a:lnSpc>
                <a:spcPct val="115000"/>
              </a:lnSpc>
              <a:spcBef>
                <a:spcPts val="1200"/>
              </a:spcBef>
              <a:spcAft>
                <a:spcPts val="0"/>
              </a:spcAft>
              <a:buSzPts val="1700"/>
              <a:buChar char="●"/>
            </a:pPr>
            <a:r>
              <a:rPr lang="en" sz="1700"/>
              <a:t>High level framework</a:t>
            </a:r>
            <a:endParaRPr sz="1700"/>
          </a:p>
          <a:p>
            <a:pPr indent="-336550" lvl="0" marL="457200" rtl="0" algn="l">
              <a:lnSpc>
                <a:spcPct val="115000"/>
              </a:lnSpc>
              <a:spcBef>
                <a:spcPts val="1200"/>
              </a:spcBef>
              <a:spcAft>
                <a:spcPts val="0"/>
              </a:spcAft>
              <a:buSzPts val="1700"/>
              <a:buChar char="●"/>
            </a:pPr>
            <a:r>
              <a:rPr lang="en" sz="1700"/>
              <a:t>Methodology recap</a:t>
            </a:r>
            <a:endParaRPr sz="1700"/>
          </a:p>
          <a:p>
            <a:pPr indent="-336550" lvl="0" marL="457200" rtl="0" algn="l">
              <a:lnSpc>
                <a:spcPct val="115000"/>
              </a:lnSpc>
              <a:spcBef>
                <a:spcPts val="1200"/>
              </a:spcBef>
              <a:spcAft>
                <a:spcPts val="1000"/>
              </a:spcAft>
              <a:buSzPts val="1700"/>
              <a:buChar char="●"/>
            </a:pPr>
            <a:r>
              <a:rPr lang="en" sz="1700"/>
              <a:t>Final results: performance metrics, SHAP, ablation study</a:t>
            </a:r>
            <a:endParaRPr sz="1700"/>
          </a:p>
        </p:txBody>
      </p:sp>
      <p:sp>
        <p:nvSpPr>
          <p:cNvPr id="130" name="Google Shape;130;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0"/>
          <p:cNvSpPr txBox="1"/>
          <p:nvPr>
            <p:ph type="title"/>
          </p:nvPr>
        </p:nvSpPr>
        <p:spPr>
          <a:xfrm>
            <a:off x="324075" y="236598"/>
            <a:ext cx="7866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Motivation</a:t>
            </a:r>
            <a:endParaRPr sz="2500"/>
          </a:p>
        </p:txBody>
      </p:sp>
      <p:sp>
        <p:nvSpPr>
          <p:cNvPr id="136" name="Google Shape;136;p30"/>
          <p:cNvSpPr txBox="1"/>
          <p:nvPr>
            <p:ph idx="4294967295" type="body"/>
          </p:nvPr>
        </p:nvSpPr>
        <p:spPr>
          <a:xfrm>
            <a:off x="168425" y="1211425"/>
            <a:ext cx="8852700" cy="932100"/>
          </a:xfrm>
          <a:prstGeom prst="rect">
            <a:avLst/>
          </a:prstGeom>
        </p:spPr>
        <p:txBody>
          <a:bodyPr anchorCtr="0" anchor="ctr" bIns="91425" lIns="91425" spcFirstLastPara="1" rIns="91425" wrap="square" tIns="91425">
            <a:normAutofit/>
          </a:bodyPr>
          <a:lstStyle/>
          <a:p>
            <a:pPr indent="-336550" lvl="0" marL="457200" rtl="0" algn="l">
              <a:lnSpc>
                <a:spcPct val="115000"/>
              </a:lnSpc>
              <a:spcBef>
                <a:spcPts val="1200"/>
              </a:spcBef>
              <a:spcAft>
                <a:spcPts val="0"/>
              </a:spcAft>
              <a:buSzPts val="1700"/>
              <a:buChar char="●"/>
            </a:pPr>
            <a:r>
              <a:rPr lang="en" sz="1700"/>
              <a:t>Few reliable precipitation phase observations exist beyond sparse airport stations</a:t>
            </a:r>
            <a:endParaRPr sz="1700"/>
          </a:p>
          <a:p>
            <a:pPr indent="0" lvl="0" marL="0" rtl="0" algn="l">
              <a:lnSpc>
                <a:spcPct val="115000"/>
              </a:lnSpc>
              <a:spcBef>
                <a:spcPts val="1200"/>
              </a:spcBef>
              <a:spcAft>
                <a:spcPts val="1000"/>
              </a:spcAft>
              <a:buNone/>
            </a:pPr>
            <a:r>
              <a:t/>
            </a:r>
            <a:endParaRPr sz="1700"/>
          </a:p>
        </p:txBody>
      </p:sp>
      <p:sp>
        <p:nvSpPr>
          <p:cNvPr id="137" name="Google Shape;137;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8" name="Google Shape;138;p30"/>
          <p:cNvSpPr txBox="1"/>
          <p:nvPr/>
        </p:nvSpPr>
        <p:spPr>
          <a:xfrm>
            <a:off x="168425" y="1640075"/>
            <a:ext cx="8852700" cy="4464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1000"/>
              </a:spcAft>
              <a:buClr>
                <a:schemeClr val="dk1"/>
              </a:buClr>
              <a:buSzPts val="1700"/>
              <a:buFont typeface="Roboto"/>
              <a:buChar char="●"/>
            </a:pPr>
            <a:r>
              <a:rPr lang="en" sz="1700">
                <a:solidFill>
                  <a:schemeClr val="dk1"/>
                </a:solidFill>
                <a:latin typeface="Roboto"/>
                <a:ea typeface="Roboto"/>
                <a:cs typeface="Roboto"/>
                <a:sym typeface="Roboto"/>
              </a:rPr>
              <a:t>Crowdsourced data are </a:t>
            </a:r>
            <a:r>
              <a:rPr i="1" lang="en" sz="1700">
                <a:solidFill>
                  <a:schemeClr val="dk1"/>
                </a:solidFill>
                <a:latin typeface="Roboto"/>
                <a:ea typeface="Roboto"/>
                <a:cs typeface="Roboto"/>
                <a:sym typeface="Roboto"/>
              </a:rPr>
              <a:t>sparse/unevenly</a:t>
            </a:r>
            <a:r>
              <a:rPr lang="en" sz="1700">
                <a:solidFill>
                  <a:schemeClr val="dk1"/>
                </a:solidFill>
                <a:latin typeface="Roboto"/>
                <a:ea typeface="Roboto"/>
                <a:cs typeface="Roboto"/>
                <a:sym typeface="Roboto"/>
              </a:rPr>
              <a:t> distributed</a:t>
            </a:r>
            <a:endParaRPr/>
          </a:p>
        </p:txBody>
      </p:sp>
      <p:sp>
        <p:nvSpPr>
          <p:cNvPr id="139" name="Google Shape;139;p30"/>
          <p:cNvSpPr txBox="1"/>
          <p:nvPr/>
        </p:nvSpPr>
        <p:spPr>
          <a:xfrm>
            <a:off x="168425" y="2086475"/>
            <a:ext cx="8852700" cy="7473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1000"/>
              </a:spcAft>
              <a:buClr>
                <a:schemeClr val="dk1"/>
              </a:buClr>
              <a:buSzPts val="1700"/>
              <a:buFont typeface="Roboto"/>
              <a:buChar char="●"/>
            </a:pPr>
            <a:r>
              <a:rPr lang="en" sz="1700">
                <a:solidFill>
                  <a:schemeClr val="dk1"/>
                </a:solidFill>
                <a:latin typeface="Roboto"/>
                <a:ea typeface="Roboto"/>
                <a:cs typeface="Roboto"/>
                <a:sym typeface="Roboto"/>
              </a:rPr>
              <a:t>Models struggle to distinguish rain from snow </a:t>
            </a:r>
            <a:r>
              <a:rPr i="1" lang="en" sz="1700">
                <a:solidFill>
                  <a:schemeClr val="dk1"/>
                </a:solidFill>
                <a:latin typeface="Roboto"/>
                <a:ea typeface="Roboto"/>
                <a:cs typeface="Roboto"/>
                <a:sym typeface="Roboto"/>
              </a:rPr>
              <a:t>near freezing temperatures</a:t>
            </a:r>
            <a:r>
              <a:rPr lang="en" sz="1700">
                <a:solidFill>
                  <a:schemeClr val="dk1"/>
                </a:solidFill>
                <a:latin typeface="Roboto"/>
                <a:ea typeface="Roboto"/>
                <a:cs typeface="Roboto"/>
                <a:sym typeface="Roboto"/>
              </a:rPr>
              <a:t> </a:t>
            </a:r>
            <a:br>
              <a:rPr lang="en" sz="1700">
                <a:solidFill>
                  <a:schemeClr val="dk1"/>
                </a:solidFill>
                <a:latin typeface="Roboto"/>
                <a:ea typeface="Roboto"/>
                <a:cs typeface="Roboto"/>
                <a:sym typeface="Roboto"/>
              </a:rPr>
            </a:br>
            <a:r>
              <a:rPr lang="en" sz="1700">
                <a:solidFill>
                  <a:srgbClr val="9E9E9E"/>
                </a:solidFill>
                <a:latin typeface="Roboto"/>
                <a:ea typeface="Roboto"/>
                <a:cs typeface="Roboto"/>
                <a:sym typeface="Roboto"/>
              </a:rPr>
              <a:t>(Yu et al., 2024)</a:t>
            </a:r>
            <a:endParaRPr>
              <a:solidFill>
                <a:schemeClr val="dk1"/>
              </a:solidFill>
            </a:endParaRPr>
          </a:p>
        </p:txBody>
      </p:sp>
      <p:sp>
        <p:nvSpPr>
          <p:cNvPr id="140" name="Google Shape;140;p30"/>
          <p:cNvSpPr txBox="1"/>
          <p:nvPr/>
        </p:nvSpPr>
        <p:spPr>
          <a:xfrm>
            <a:off x="168425" y="2789450"/>
            <a:ext cx="8852700" cy="10482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200"/>
              </a:spcBef>
              <a:spcAft>
                <a:spcPts val="1000"/>
              </a:spcAft>
              <a:buClr>
                <a:schemeClr val="dk1"/>
              </a:buClr>
              <a:buSzPts val="1700"/>
              <a:buFont typeface="Roboto"/>
              <a:buChar char="●"/>
            </a:pPr>
            <a:r>
              <a:rPr lang="en" sz="1700">
                <a:solidFill>
                  <a:schemeClr val="dk1"/>
                </a:solidFill>
                <a:latin typeface="Roboto"/>
                <a:ea typeface="Roboto"/>
                <a:cs typeface="Roboto"/>
                <a:sym typeface="Roboto"/>
              </a:rPr>
              <a:t>Machine learning methods provide only marginal improvements when using only near-surface synoptic meteorology </a:t>
            </a:r>
            <a:br>
              <a:rPr lang="en" sz="1700">
                <a:solidFill>
                  <a:schemeClr val="dk1"/>
                </a:solidFill>
                <a:latin typeface="Roboto"/>
                <a:ea typeface="Roboto"/>
                <a:cs typeface="Roboto"/>
                <a:sym typeface="Roboto"/>
              </a:rPr>
            </a:br>
            <a:r>
              <a:rPr lang="en" sz="1700">
                <a:solidFill>
                  <a:srgbClr val="9E9E9E"/>
                </a:solidFill>
                <a:latin typeface="Roboto"/>
                <a:ea typeface="Roboto"/>
                <a:cs typeface="Roboto"/>
                <a:sym typeface="Roboto"/>
              </a:rPr>
              <a:t>(Jennings et al., 2025)</a:t>
            </a:r>
            <a:endParaRPr>
              <a:solidFill>
                <a:schemeClr val="dk1"/>
              </a:solidFill>
            </a:endParaRPr>
          </a:p>
        </p:txBody>
      </p:sp>
      <p:sp>
        <p:nvSpPr>
          <p:cNvPr id="141" name="Google Shape;141;p30"/>
          <p:cNvSpPr txBox="1"/>
          <p:nvPr/>
        </p:nvSpPr>
        <p:spPr>
          <a:xfrm>
            <a:off x="168425" y="3803200"/>
            <a:ext cx="8852700" cy="7473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200"/>
              </a:spcBef>
              <a:spcAft>
                <a:spcPts val="1000"/>
              </a:spcAft>
              <a:buClr>
                <a:schemeClr val="dk1"/>
              </a:buClr>
              <a:buSzPts val="1700"/>
              <a:buFont typeface="Roboto"/>
              <a:buChar char="●"/>
            </a:pPr>
            <a:r>
              <a:rPr lang="en" sz="1700">
                <a:solidFill>
                  <a:schemeClr val="dk1"/>
                </a:solidFill>
                <a:latin typeface="Roboto"/>
                <a:ea typeface="Roboto"/>
                <a:cs typeface="Roboto"/>
                <a:sym typeface="Roboto"/>
              </a:rPr>
              <a:t>Mixed precipitation does not fall within a well-defined physical regime; overlap with other phases near freezing</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1"/>
          <p:cNvSpPr txBox="1"/>
          <p:nvPr>
            <p:ph type="title"/>
          </p:nvPr>
        </p:nvSpPr>
        <p:spPr>
          <a:xfrm>
            <a:off x="311700" y="193250"/>
            <a:ext cx="7866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Questions</a:t>
            </a:r>
            <a:endParaRPr/>
          </a:p>
        </p:txBody>
      </p:sp>
      <p:sp>
        <p:nvSpPr>
          <p:cNvPr id="147" name="Google Shape;147;p31"/>
          <p:cNvSpPr txBox="1"/>
          <p:nvPr>
            <p:ph idx="1" type="body"/>
          </p:nvPr>
        </p:nvSpPr>
        <p:spPr>
          <a:xfrm>
            <a:off x="311700" y="1152475"/>
            <a:ext cx="8520600" cy="37518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Do additional predictor data assimilation techniques improve rain/snow predictive accuracy?</a:t>
            </a:r>
            <a:endParaRPr sz="1600"/>
          </a:p>
          <a:p>
            <a:pPr indent="-311150" lvl="1" marL="914400" rtl="0" algn="l">
              <a:spcBef>
                <a:spcPts val="0"/>
              </a:spcBef>
              <a:spcAft>
                <a:spcPts val="0"/>
              </a:spcAft>
              <a:buClr>
                <a:srgbClr val="595959"/>
              </a:buClr>
              <a:buSzPts val="1300"/>
              <a:buChar char="○"/>
            </a:pPr>
            <a:r>
              <a:rPr lang="en" sz="1300">
                <a:solidFill>
                  <a:srgbClr val="595959"/>
                </a:solidFill>
              </a:rPr>
              <a:t>MRoS </a:t>
            </a:r>
            <a:r>
              <a:rPr lang="en" sz="1300">
                <a:solidFill>
                  <a:srgbClr val="595959"/>
                </a:solidFill>
              </a:rPr>
              <a:t>citizen science observations</a:t>
            </a:r>
            <a:endParaRPr sz="1300">
              <a:solidFill>
                <a:srgbClr val="595959"/>
              </a:solidFill>
            </a:endParaRPr>
          </a:p>
          <a:p>
            <a:pPr indent="-311150" lvl="1" marL="914400" rtl="0" algn="l">
              <a:spcBef>
                <a:spcPts val="0"/>
              </a:spcBef>
              <a:spcAft>
                <a:spcPts val="0"/>
              </a:spcAft>
              <a:buClr>
                <a:srgbClr val="595959"/>
              </a:buClr>
              <a:buSzPts val="1300"/>
              <a:buChar char="○"/>
            </a:pPr>
            <a:r>
              <a:rPr lang="en" sz="1300">
                <a:solidFill>
                  <a:srgbClr val="595959"/>
                </a:solidFill>
              </a:rPr>
              <a:t>Station data points</a:t>
            </a:r>
            <a:endParaRPr sz="1300">
              <a:solidFill>
                <a:srgbClr val="595959"/>
              </a:solidFill>
            </a:endParaRPr>
          </a:p>
          <a:p>
            <a:pPr indent="-311150" lvl="1" marL="914400" rtl="0" algn="l">
              <a:spcBef>
                <a:spcPts val="0"/>
              </a:spcBef>
              <a:spcAft>
                <a:spcPts val="0"/>
              </a:spcAft>
              <a:buClr>
                <a:srgbClr val="595959"/>
              </a:buClr>
              <a:buSzPts val="1300"/>
              <a:buChar char="○"/>
            </a:pPr>
            <a:r>
              <a:rPr lang="en" sz="1300">
                <a:solidFill>
                  <a:srgbClr val="595959"/>
                </a:solidFill>
              </a:rPr>
              <a:t>IMERG gridded products (PLP)</a:t>
            </a:r>
            <a:endParaRPr sz="1300">
              <a:solidFill>
                <a:srgbClr val="595959"/>
              </a:solidFill>
            </a:endParaRPr>
          </a:p>
          <a:p>
            <a:pPr indent="-311150" lvl="1" marL="914400" rtl="0" algn="l">
              <a:spcBef>
                <a:spcPts val="0"/>
              </a:spcBef>
              <a:spcAft>
                <a:spcPts val="0"/>
              </a:spcAft>
              <a:buClr>
                <a:srgbClr val="595959"/>
              </a:buClr>
              <a:buSzPts val="1300"/>
              <a:buChar char="○"/>
            </a:pPr>
            <a:r>
              <a:rPr lang="en" sz="1300">
                <a:solidFill>
                  <a:srgbClr val="595959"/>
                </a:solidFill>
              </a:rPr>
              <a:t>PRISM gridded products (temp, mm)</a:t>
            </a:r>
            <a:endParaRPr sz="1600">
              <a:highlight>
                <a:schemeClr val="accent6"/>
              </a:highlight>
            </a:endParaRPr>
          </a:p>
          <a:p>
            <a:pPr indent="0" lvl="0" marL="0" rtl="0" algn="l">
              <a:spcBef>
                <a:spcPts val="1200"/>
              </a:spcBef>
              <a:spcAft>
                <a:spcPts val="1200"/>
              </a:spcAft>
              <a:buNone/>
            </a:pPr>
            <a:r>
              <a:t/>
            </a:r>
            <a:endParaRPr sz="1600">
              <a:highlight>
                <a:schemeClr val="accent6"/>
              </a:highlight>
            </a:endParaRPr>
          </a:p>
        </p:txBody>
      </p:sp>
      <p:sp>
        <p:nvSpPr>
          <p:cNvPr id="148" name="Google Shape;14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9" name="Google Shape;149;p31"/>
          <p:cNvSpPr txBox="1"/>
          <p:nvPr/>
        </p:nvSpPr>
        <p:spPr>
          <a:xfrm>
            <a:off x="4147133" y="1871914"/>
            <a:ext cx="2444700" cy="393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rPr i="1" lang="en" sz="1300">
                <a:solidFill>
                  <a:schemeClr val="dk2"/>
                </a:solidFill>
                <a:latin typeface="Roboto"/>
                <a:ea typeface="Roboto"/>
                <a:cs typeface="Roboto"/>
                <a:sym typeface="Roboto"/>
              </a:rPr>
              <a:t>interpolated to a grid surface</a:t>
            </a:r>
            <a:endParaRPr i="1" sz="1300"/>
          </a:p>
        </p:txBody>
      </p:sp>
      <p:sp>
        <p:nvSpPr>
          <p:cNvPr id="150" name="Google Shape;150;p31"/>
          <p:cNvSpPr/>
          <p:nvPr/>
        </p:nvSpPr>
        <p:spPr>
          <a:xfrm>
            <a:off x="4090000" y="1825742"/>
            <a:ext cx="154800" cy="4872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1" name="Google Shape;151;p31"/>
          <p:cNvSpPr txBox="1"/>
          <p:nvPr/>
        </p:nvSpPr>
        <p:spPr>
          <a:xfrm>
            <a:off x="311700" y="2817975"/>
            <a:ext cx="8832300" cy="11814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000"/>
              </a:spcBef>
              <a:spcAft>
                <a:spcPts val="0"/>
              </a:spcAft>
              <a:buClr>
                <a:schemeClr val="dk1"/>
              </a:buClr>
              <a:buSzPts val="1600"/>
              <a:buFont typeface="Roboto"/>
              <a:buChar char="●"/>
            </a:pPr>
            <a:r>
              <a:rPr lang="en" sz="1600">
                <a:solidFill>
                  <a:schemeClr val="dk1"/>
                </a:solidFill>
                <a:latin typeface="Roboto"/>
                <a:ea typeface="Roboto"/>
                <a:cs typeface="Roboto"/>
                <a:sym typeface="Roboto"/>
              </a:rPr>
              <a:t>Since “mixed” phase is often excluded from predictive analyses, how can we better represent “mixed” precipitation predictions?</a:t>
            </a:r>
            <a:endParaRPr sz="1600">
              <a:solidFill>
                <a:schemeClr val="dk1"/>
              </a:solidFill>
              <a:latin typeface="Roboto"/>
              <a:ea typeface="Roboto"/>
              <a:cs typeface="Roboto"/>
              <a:sym typeface="Roboto"/>
            </a:endParaRPr>
          </a:p>
          <a:p>
            <a:pPr indent="-311150" lvl="1" marL="914400" rtl="0" algn="l">
              <a:lnSpc>
                <a:spcPct val="115000"/>
              </a:lnSpc>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3 multiclass distinct phases</a:t>
            </a:r>
            <a:endParaRPr sz="1300">
              <a:solidFill>
                <a:schemeClr val="dk2"/>
              </a:solidFill>
              <a:latin typeface="Roboto"/>
              <a:ea typeface="Roboto"/>
              <a:cs typeface="Roboto"/>
              <a:sym typeface="Roboto"/>
            </a:endParaRPr>
          </a:p>
          <a:p>
            <a:pPr indent="-311150" lvl="1" marL="914400" rtl="0" algn="l">
              <a:lnSpc>
                <a:spcPct val="115000"/>
              </a:lnSpc>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Binary (“mix” as uncertainty)</a:t>
            </a:r>
            <a:endParaRPr/>
          </a:p>
        </p:txBody>
      </p:sp>
      <p:sp>
        <p:nvSpPr>
          <p:cNvPr id="152" name="Google Shape;152;p31"/>
          <p:cNvSpPr txBox="1"/>
          <p:nvPr/>
        </p:nvSpPr>
        <p:spPr>
          <a:xfrm>
            <a:off x="311700" y="4064000"/>
            <a:ext cx="8832300" cy="431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000"/>
              </a:spcBef>
              <a:spcAft>
                <a:spcPts val="0"/>
              </a:spcAft>
              <a:buSzPts val="1600"/>
              <a:buFont typeface="Roboto"/>
              <a:buChar char="●"/>
            </a:pPr>
            <a:r>
              <a:rPr lang="en" sz="1600">
                <a:highlight>
                  <a:schemeClr val="lt1"/>
                </a:highlight>
                <a:latin typeface="Roboto"/>
                <a:ea typeface="Roboto"/>
                <a:cs typeface="Roboto"/>
                <a:sym typeface="Roboto"/>
              </a:rPr>
              <a:t>Do these explored elements improve prediction near freezing?</a:t>
            </a:r>
            <a:endParaRPr sz="1600">
              <a:highlight>
                <a:schemeClr val="lt1"/>
              </a:highlight>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2"/>
          <p:cNvSpPr txBox="1"/>
          <p:nvPr>
            <p:ph type="title"/>
          </p:nvPr>
        </p:nvSpPr>
        <p:spPr>
          <a:xfrm>
            <a:off x="311700" y="193250"/>
            <a:ext cx="7866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High-Level Workflow and Motivation</a:t>
            </a:r>
            <a:endParaRPr/>
          </a:p>
        </p:txBody>
      </p:sp>
      <p:sp>
        <p:nvSpPr>
          <p:cNvPr id="158" name="Google Shape;158;p32"/>
          <p:cNvSpPr txBox="1"/>
          <p:nvPr>
            <p:ph idx="1" type="body"/>
          </p:nvPr>
        </p:nvSpPr>
        <p:spPr>
          <a:xfrm>
            <a:off x="311700" y="2848825"/>
            <a:ext cx="8520600" cy="20076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t/>
            </a:r>
            <a:endParaRPr b="1" sz="1500"/>
          </a:p>
          <a:p>
            <a:pPr indent="0" lvl="0" marL="0" rtl="0" algn="l">
              <a:lnSpc>
                <a:spcPct val="115000"/>
              </a:lnSpc>
              <a:spcBef>
                <a:spcPts val="1000"/>
              </a:spcBef>
              <a:spcAft>
                <a:spcPts val="0"/>
              </a:spcAft>
              <a:buNone/>
            </a:pPr>
            <a:r>
              <a:t/>
            </a:r>
            <a:endParaRPr sz="15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t/>
            </a:r>
            <a:endParaRPr sz="1500"/>
          </a:p>
        </p:txBody>
      </p:sp>
      <p:sp>
        <p:nvSpPr>
          <p:cNvPr id="159" name="Google Shape;159;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0" name="Google Shape;160;p32"/>
          <p:cNvSpPr txBox="1"/>
          <p:nvPr/>
        </p:nvSpPr>
        <p:spPr>
          <a:xfrm>
            <a:off x="3312500" y="1233575"/>
            <a:ext cx="2250900" cy="681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000"/>
              </a:spcAft>
              <a:buNone/>
            </a:pPr>
            <a:r>
              <a:rPr lang="en" sz="1500">
                <a:solidFill>
                  <a:schemeClr val="dk1"/>
                </a:solidFill>
                <a:latin typeface="Roboto"/>
                <a:ea typeface="Roboto"/>
                <a:cs typeface="Roboto"/>
                <a:sym typeface="Roboto"/>
              </a:rPr>
              <a:t>Interpolate </a:t>
            </a:r>
            <a:r>
              <a:rPr i="1" lang="en" sz="1500">
                <a:solidFill>
                  <a:schemeClr val="dk1"/>
                </a:solidFill>
                <a:latin typeface="Roboto"/>
                <a:ea typeface="Roboto"/>
                <a:cs typeface="Roboto"/>
                <a:sym typeface="Roboto"/>
              </a:rPr>
              <a:t>sparse </a:t>
            </a:r>
            <a:r>
              <a:rPr lang="en" sz="1500">
                <a:solidFill>
                  <a:schemeClr val="dk1"/>
                </a:solidFill>
                <a:latin typeface="Roboto"/>
                <a:ea typeface="Roboto"/>
                <a:cs typeface="Roboto"/>
                <a:sym typeface="Roboto"/>
              </a:rPr>
              <a:t>data </a:t>
            </a:r>
            <a:br>
              <a:rPr lang="en" sz="1500">
                <a:solidFill>
                  <a:schemeClr val="dk1"/>
                </a:solidFill>
                <a:latin typeface="Roboto"/>
                <a:ea typeface="Roboto"/>
                <a:cs typeface="Roboto"/>
                <a:sym typeface="Roboto"/>
              </a:rPr>
            </a:br>
            <a:r>
              <a:rPr lang="en" sz="1500">
                <a:solidFill>
                  <a:schemeClr val="dk1"/>
                </a:solidFill>
                <a:latin typeface="Roboto"/>
                <a:ea typeface="Roboto"/>
                <a:cs typeface="Roboto"/>
                <a:sym typeface="Roboto"/>
              </a:rPr>
              <a:t>(stations, MRoS obs)</a:t>
            </a:r>
            <a:endParaRPr/>
          </a:p>
        </p:txBody>
      </p:sp>
      <p:sp>
        <p:nvSpPr>
          <p:cNvPr id="161" name="Google Shape;161;p32"/>
          <p:cNvSpPr txBox="1"/>
          <p:nvPr/>
        </p:nvSpPr>
        <p:spPr>
          <a:xfrm>
            <a:off x="2234300" y="2571750"/>
            <a:ext cx="4407300" cy="681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000"/>
              </a:spcAft>
              <a:buNone/>
            </a:pPr>
            <a:r>
              <a:rPr i="1" lang="en" sz="1500">
                <a:solidFill>
                  <a:schemeClr val="dk1"/>
                </a:solidFill>
                <a:latin typeface="Roboto"/>
                <a:ea typeface="Roboto"/>
                <a:cs typeface="Roboto"/>
                <a:sym typeface="Roboto"/>
              </a:rPr>
              <a:t>Assimilate </a:t>
            </a:r>
            <a:r>
              <a:rPr lang="en" sz="1500">
                <a:solidFill>
                  <a:schemeClr val="dk1"/>
                </a:solidFill>
                <a:latin typeface="Roboto"/>
                <a:ea typeface="Roboto"/>
                <a:cs typeface="Roboto"/>
                <a:sym typeface="Roboto"/>
              </a:rPr>
              <a:t>surfaces with gridded datasets (IMERG, </a:t>
            </a:r>
            <a:r>
              <a:rPr lang="en" sz="1500" strike="sngStrike">
                <a:solidFill>
                  <a:schemeClr val="dk1"/>
                </a:solidFill>
                <a:latin typeface="Roboto"/>
                <a:ea typeface="Roboto"/>
                <a:cs typeface="Roboto"/>
                <a:sym typeface="Roboto"/>
              </a:rPr>
              <a:t>PRISM</a:t>
            </a:r>
            <a:r>
              <a:rPr lang="en" sz="1500">
                <a:solidFill>
                  <a:schemeClr val="dk1"/>
                </a:solidFill>
                <a:latin typeface="Roboto"/>
                <a:ea typeface="Roboto"/>
                <a:cs typeface="Roboto"/>
                <a:sym typeface="Roboto"/>
              </a:rPr>
              <a:t>) </a:t>
            </a:r>
            <a:endParaRPr/>
          </a:p>
        </p:txBody>
      </p:sp>
      <p:sp>
        <p:nvSpPr>
          <p:cNvPr id="162" name="Google Shape;162;p32"/>
          <p:cNvSpPr txBox="1"/>
          <p:nvPr/>
        </p:nvSpPr>
        <p:spPr>
          <a:xfrm>
            <a:off x="2097050" y="3909925"/>
            <a:ext cx="4681800" cy="946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000"/>
              </a:spcAft>
              <a:buNone/>
            </a:pPr>
            <a:r>
              <a:rPr lang="en" sz="1500">
                <a:solidFill>
                  <a:schemeClr val="dk1"/>
                </a:solidFill>
                <a:latin typeface="Roboto"/>
                <a:ea typeface="Roboto"/>
                <a:cs typeface="Roboto"/>
                <a:sym typeface="Roboto"/>
              </a:rPr>
              <a:t>Machine learning to predict </a:t>
            </a:r>
            <a:br>
              <a:rPr lang="en" sz="1500">
                <a:solidFill>
                  <a:schemeClr val="dk1"/>
                </a:solidFill>
                <a:latin typeface="Roboto"/>
                <a:ea typeface="Roboto"/>
                <a:cs typeface="Roboto"/>
                <a:sym typeface="Roboto"/>
              </a:rPr>
            </a:br>
            <a:r>
              <a:rPr lang="en" sz="1500">
                <a:solidFill>
                  <a:schemeClr val="dk1"/>
                </a:solidFill>
                <a:latin typeface="Roboto"/>
                <a:ea typeface="Roboto"/>
                <a:cs typeface="Roboto"/>
                <a:sym typeface="Roboto"/>
              </a:rPr>
              <a:t>precipitation phase </a:t>
            </a:r>
            <a:r>
              <a:rPr i="1" lang="en" sz="1500">
                <a:solidFill>
                  <a:schemeClr val="dk1"/>
                </a:solidFill>
                <a:latin typeface="Roboto"/>
                <a:ea typeface="Roboto"/>
                <a:cs typeface="Roboto"/>
                <a:sym typeface="Roboto"/>
              </a:rPr>
              <a:t>probabilities </a:t>
            </a:r>
            <a:br>
              <a:rPr i="1" lang="en" sz="1500">
                <a:solidFill>
                  <a:schemeClr val="dk1"/>
                </a:solidFill>
                <a:latin typeface="Roboto"/>
                <a:ea typeface="Roboto"/>
                <a:cs typeface="Roboto"/>
                <a:sym typeface="Roboto"/>
              </a:rPr>
            </a:br>
            <a:r>
              <a:rPr lang="en" sz="1500">
                <a:solidFill>
                  <a:schemeClr val="dk1"/>
                </a:solidFill>
                <a:latin typeface="Roboto"/>
                <a:ea typeface="Roboto"/>
                <a:cs typeface="Roboto"/>
                <a:sym typeface="Roboto"/>
              </a:rPr>
              <a:t>(XGBoost)</a:t>
            </a:r>
            <a:endParaRPr>
              <a:solidFill>
                <a:schemeClr val="dk1"/>
              </a:solidFill>
            </a:endParaRPr>
          </a:p>
        </p:txBody>
      </p:sp>
      <p:sp>
        <p:nvSpPr>
          <p:cNvPr id="163" name="Google Shape;163;p32"/>
          <p:cNvSpPr/>
          <p:nvPr/>
        </p:nvSpPr>
        <p:spPr>
          <a:xfrm>
            <a:off x="4359650" y="1956813"/>
            <a:ext cx="156600" cy="572700"/>
          </a:xfrm>
          <a:prstGeom prst="downArrow">
            <a:avLst>
              <a:gd fmla="val 50000" name="adj1"/>
              <a:gd fmla="val 50000" name="adj2"/>
            </a:avLst>
          </a:prstGeom>
          <a:solidFill>
            <a:schemeClr val="accent3"/>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highlight>
                <a:schemeClr val="accent5"/>
              </a:highlight>
              <a:latin typeface="Roboto"/>
              <a:ea typeface="Roboto"/>
              <a:cs typeface="Roboto"/>
              <a:sym typeface="Roboto"/>
            </a:endParaRPr>
          </a:p>
        </p:txBody>
      </p:sp>
      <p:sp>
        <p:nvSpPr>
          <p:cNvPr id="164" name="Google Shape;164;p32"/>
          <p:cNvSpPr/>
          <p:nvPr/>
        </p:nvSpPr>
        <p:spPr>
          <a:xfrm>
            <a:off x="4359650" y="3294975"/>
            <a:ext cx="156600" cy="572700"/>
          </a:xfrm>
          <a:prstGeom prst="downArrow">
            <a:avLst>
              <a:gd fmla="val 50000" name="adj1"/>
              <a:gd fmla="val 50000" name="adj2"/>
            </a:avLst>
          </a:prstGeom>
          <a:solidFill>
            <a:schemeClr val="accent3"/>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highlight>
                <a:schemeClr val="accent5"/>
              </a:highlight>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3"/>
          <p:cNvSpPr txBox="1"/>
          <p:nvPr>
            <p:ph type="title"/>
          </p:nvPr>
        </p:nvSpPr>
        <p:spPr>
          <a:xfrm>
            <a:off x="311700" y="193250"/>
            <a:ext cx="7866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Methodology</a:t>
            </a:r>
            <a:endParaRPr sz="3000"/>
          </a:p>
        </p:txBody>
      </p:sp>
      <p:sp>
        <p:nvSpPr>
          <p:cNvPr id="170" name="Google Shape;170;p33"/>
          <p:cNvSpPr/>
          <p:nvPr/>
        </p:nvSpPr>
        <p:spPr>
          <a:xfrm>
            <a:off x="133724" y="1053723"/>
            <a:ext cx="2309700" cy="19860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latin typeface="Roboto"/>
                <a:ea typeface="Roboto"/>
                <a:cs typeface="Roboto"/>
                <a:sym typeface="Roboto"/>
              </a:rPr>
              <a:t>Input Datasets</a:t>
            </a:r>
            <a:endParaRPr b="1" sz="1300">
              <a:latin typeface="Roboto"/>
              <a:ea typeface="Roboto"/>
              <a:cs typeface="Roboto"/>
              <a:sym typeface="Roboto"/>
            </a:endParaRPr>
          </a:p>
          <a:p>
            <a:pPr indent="0" lvl="0" marL="0" rtl="0" algn="ctr">
              <a:spcBef>
                <a:spcPts val="300"/>
              </a:spcBef>
              <a:spcAft>
                <a:spcPts val="0"/>
              </a:spcAft>
              <a:buNone/>
            </a:pPr>
            <a:r>
              <a:rPr b="1" lang="en" sz="800">
                <a:solidFill>
                  <a:srgbClr val="FF0000"/>
                </a:solidFill>
                <a:latin typeface="Roboto"/>
                <a:ea typeface="Roboto"/>
                <a:cs typeface="Roboto"/>
                <a:sym typeface="Roboto"/>
              </a:rPr>
              <a:t>October 2022 - May 2026</a:t>
            </a:r>
            <a:endParaRPr b="1" sz="800">
              <a:solidFill>
                <a:srgbClr val="FF0000"/>
              </a:solidFill>
              <a:latin typeface="Roboto"/>
              <a:ea typeface="Roboto"/>
              <a:cs typeface="Roboto"/>
              <a:sym typeface="Roboto"/>
            </a:endParaRPr>
          </a:p>
        </p:txBody>
      </p:sp>
      <p:sp>
        <p:nvSpPr>
          <p:cNvPr id="171" name="Google Shape;171;p33"/>
          <p:cNvSpPr/>
          <p:nvPr/>
        </p:nvSpPr>
        <p:spPr>
          <a:xfrm>
            <a:off x="265776" y="1561943"/>
            <a:ext cx="960300" cy="392700"/>
          </a:xfrm>
          <a:prstGeom prst="rect">
            <a:avLst/>
          </a:prstGeom>
          <a:no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5"/>
                </a:solidFill>
                <a:latin typeface="Roboto"/>
                <a:ea typeface="Roboto"/>
                <a:cs typeface="Roboto"/>
                <a:sym typeface="Roboto"/>
              </a:rPr>
              <a:t>MRoS</a:t>
            </a:r>
            <a:endParaRPr>
              <a:solidFill>
                <a:schemeClr val="accent5"/>
              </a:solidFill>
              <a:latin typeface="Roboto"/>
              <a:ea typeface="Roboto"/>
              <a:cs typeface="Roboto"/>
              <a:sym typeface="Roboto"/>
            </a:endParaRPr>
          </a:p>
        </p:txBody>
      </p:sp>
      <p:sp>
        <p:nvSpPr>
          <p:cNvPr id="172" name="Google Shape;172;p33"/>
          <p:cNvSpPr/>
          <p:nvPr/>
        </p:nvSpPr>
        <p:spPr>
          <a:xfrm>
            <a:off x="265776" y="2043694"/>
            <a:ext cx="960300" cy="392700"/>
          </a:xfrm>
          <a:prstGeom prst="rect">
            <a:avLst/>
          </a:prstGeom>
          <a:no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5"/>
                </a:solidFill>
                <a:latin typeface="Roboto"/>
                <a:ea typeface="Roboto"/>
                <a:cs typeface="Roboto"/>
                <a:sym typeface="Roboto"/>
              </a:rPr>
              <a:t>IMERG</a:t>
            </a:r>
            <a:endParaRPr>
              <a:solidFill>
                <a:schemeClr val="accent5"/>
              </a:solidFill>
              <a:latin typeface="Roboto"/>
              <a:ea typeface="Roboto"/>
              <a:cs typeface="Roboto"/>
              <a:sym typeface="Roboto"/>
            </a:endParaRPr>
          </a:p>
        </p:txBody>
      </p:sp>
      <p:sp>
        <p:nvSpPr>
          <p:cNvPr id="173" name="Google Shape;173;p33"/>
          <p:cNvSpPr/>
          <p:nvPr/>
        </p:nvSpPr>
        <p:spPr>
          <a:xfrm>
            <a:off x="1355650" y="1561950"/>
            <a:ext cx="960300" cy="874500"/>
          </a:xfrm>
          <a:prstGeom prst="rect">
            <a:avLst/>
          </a:prstGeom>
          <a:no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5"/>
                </a:solidFill>
                <a:latin typeface="Roboto"/>
                <a:ea typeface="Roboto"/>
                <a:cs typeface="Roboto"/>
                <a:sym typeface="Roboto"/>
              </a:rPr>
              <a:t>Station Data </a:t>
            </a:r>
            <a:endParaRPr>
              <a:solidFill>
                <a:schemeClr val="accent5"/>
              </a:solidFill>
              <a:latin typeface="Roboto"/>
              <a:ea typeface="Roboto"/>
              <a:cs typeface="Roboto"/>
              <a:sym typeface="Roboto"/>
            </a:endParaRPr>
          </a:p>
          <a:p>
            <a:pPr indent="0" lvl="0" marL="0" rtl="0" algn="ctr">
              <a:spcBef>
                <a:spcPts val="0"/>
              </a:spcBef>
              <a:spcAft>
                <a:spcPts val="0"/>
              </a:spcAft>
              <a:buNone/>
            </a:pPr>
            <a:r>
              <a:rPr i="1" lang="en" sz="1000">
                <a:solidFill>
                  <a:schemeClr val="accent5"/>
                </a:solidFill>
                <a:latin typeface="Roboto"/>
                <a:ea typeface="Roboto"/>
                <a:cs typeface="Roboto"/>
                <a:sym typeface="Roboto"/>
              </a:rPr>
              <a:t>(WCC, LCD, HADS)</a:t>
            </a:r>
            <a:endParaRPr i="1" sz="1000">
              <a:solidFill>
                <a:schemeClr val="accent5"/>
              </a:solidFill>
              <a:latin typeface="Roboto"/>
              <a:ea typeface="Roboto"/>
              <a:cs typeface="Roboto"/>
              <a:sym typeface="Roboto"/>
            </a:endParaRPr>
          </a:p>
          <a:p>
            <a:pPr indent="0" lvl="0" marL="0" rtl="0" algn="ctr">
              <a:spcBef>
                <a:spcPts val="0"/>
              </a:spcBef>
              <a:spcAft>
                <a:spcPts val="0"/>
              </a:spcAft>
              <a:buNone/>
            </a:pPr>
            <a:r>
              <a:t/>
            </a:r>
            <a:endParaRPr sz="1200">
              <a:solidFill>
                <a:schemeClr val="accent5"/>
              </a:solidFill>
              <a:latin typeface="Roboto"/>
              <a:ea typeface="Roboto"/>
              <a:cs typeface="Roboto"/>
              <a:sym typeface="Roboto"/>
            </a:endParaRPr>
          </a:p>
        </p:txBody>
      </p:sp>
      <p:sp>
        <p:nvSpPr>
          <p:cNvPr id="174" name="Google Shape;174;p33"/>
          <p:cNvSpPr/>
          <p:nvPr/>
        </p:nvSpPr>
        <p:spPr>
          <a:xfrm>
            <a:off x="1354425" y="2525445"/>
            <a:ext cx="960300" cy="392700"/>
          </a:xfrm>
          <a:prstGeom prst="rect">
            <a:avLst/>
          </a:prstGeom>
          <a:no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5"/>
                </a:solidFill>
                <a:latin typeface="Roboto"/>
                <a:ea typeface="Roboto"/>
                <a:cs typeface="Roboto"/>
                <a:sym typeface="Roboto"/>
              </a:rPr>
              <a:t>PRISM</a:t>
            </a:r>
            <a:endParaRPr>
              <a:solidFill>
                <a:schemeClr val="accent5"/>
              </a:solidFill>
              <a:latin typeface="Roboto"/>
              <a:ea typeface="Roboto"/>
              <a:cs typeface="Roboto"/>
              <a:sym typeface="Roboto"/>
            </a:endParaRPr>
          </a:p>
        </p:txBody>
      </p:sp>
      <p:sp>
        <p:nvSpPr>
          <p:cNvPr id="175" name="Google Shape;175;p33"/>
          <p:cNvSpPr/>
          <p:nvPr/>
        </p:nvSpPr>
        <p:spPr>
          <a:xfrm>
            <a:off x="265776" y="2513969"/>
            <a:ext cx="960300" cy="392700"/>
          </a:xfrm>
          <a:prstGeom prst="rect">
            <a:avLst/>
          </a:prstGeom>
          <a:no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5"/>
                </a:solidFill>
                <a:latin typeface="Roboto"/>
                <a:ea typeface="Roboto"/>
                <a:cs typeface="Roboto"/>
                <a:sym typeface="Roboto"/>
              </a:rPr>
              <a:t>DEM</a:t>
            </a:r>
            <a:endParaRPr>
              <a:solidFill>
                <a:schemeClr val="accent5"/>
              </a:solidFill>
              <a:latin typeface="Roboto"/>
              <a:ea typeface="Roboto"/>
              <a:cs typeface="Roboto"/>
              <a:sym typeface="Roboto"/>
            </a:endParaRPr>
          </a:p>
        </p:txBody>
      </p:sp>
      <p:sp>
        <p:nvSpPr>
          <p:cNvPr id="176" name="Google Shape;176;p33"/>
          <p:cNvSpPr/>
          <p:nvPr/>
        </p:nvSpPr>
        <p:spPr>
          <a:xfrm>
            <a:off x="133724" y="3349473"/>
            <a:ext cx="2309700" cy="17280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latin typeface="Roboto"/>
                <a:ea typeface="Roboto"/>
                <a:cs typeface="Roboto"/>
                <a:sym typeface="Roboto"/>
              </a:rPr>
              <a:t>Preprocessing</a:t>
            </a:r>
            <a:endParaRPr b="1" sz="1300">
              <a:latin typeface="Roboto"/>
              <a:ea typeface="Roboto"/>
              <a:cs typeface="Roboto"/>
              <a:sym typeface="Roboto"/>
            </a:endParaRPr>
          </a:p>
        </p:txBody>
      </p:sp>
      <p:sp>
        <p:nvSpPr>
          <p:cNvPr id="177" name="Google Shape;177;p33"/>
          <p:cNvSpPr/>
          <p:nvPr/>
        </p:nvSpPr>
        <p:spPr>
          <a:xfrm>
            <a:off x="2788504" y="1801466"/>
            <a:ext cx="2443800" cy="21462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latin typeface="Roboto"/>
                <a:ea typeface="Roboto"/>
                <a:cs typeface="Roboto"/>
                <a:sym typeface="Roboto"/>
              </a:rPr>
              <a:t>Spatial Interpolation</a:t>
            </a:r>
            <a:endParaRPr b="1" sz="1300">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i="1" lang="en" sz="800">
                <a:latin typeface="Roboto"/>
                <a:ea typeface="Roboto"/>
                <a:cs typeface="Roboto"/>
                <a:sym typeface="Roboto"/>
              </a:rPr>
              <a:t>    Dynamic lapse rate adjustment</a:t>
            </a:r>
            <a:endParaRPr i="1" sz="800">
              <a:latin typeface="Roboto"/>
              <a:ea typeface="Roboto"/>
              <a:cs typeface="Roboto"/>
              <a:sym typeface="Roboto"/>
            </a:endParaRPr>
          </a:p>
        </p:txBody>
      </p:sp>
      <p:sp>
        <p:nvSpPr>
          <p:cNvPr id="178" name="Google Shape;178;p33"/>
          <p:cNvSpPr/>
          <p:nvPr/>
        </p:nvSpPr>
        <p:spPr>
          <a:xfrm>
            <a:off x="2948392" y="2238516"/>
            <a:ext cx="1461900" cy="422400"/>
          </a:xfrm>
          <a:prstGeom prst="roundRect">
            <a:avLst>
              <a:gd fmla="val 16667" name="adj"/>
            </a:avLst>
          </a:prstGeom>
          <a:solidFill>
            <a:srgbClr val="D0E0E3"/>
          </a:solid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IDW</a:t>
            </a:r>
            <a:endParaRPr>
              <a:latin typeface="Roboto"/>
              <a:ea typeface="Roboto"/>
              <a:cs typeface="Roboto"/>
              <a:sym typeface="Roboto"/>
            </a:endParaRPr>
          </a:p>
        </p:txBody>
      </p:sp>
      <p:sp>
        <p:nvSpPr>
          <p:cNvPr id="179" name="Google Shape;179;p33"/>
          <p:cNvSpPr/>
          <p:nvPr/>
        </p:nvSpPr>
        <p:spPr>
          <a:xfrm>
            <a:off x="2947304" y="2814016"/>
            <a:ext cx="1461900" cy="422400"/>
          </a:xfrm>
          <a:prstGeom prst="roundRect">
            <a:avLst>
              <a:gd fmla="val 16667" name="adj"/>
            </a:avLst>
          </a:prstGeom>
          <a:solidFill>
            <a:srgbClr val="D0E0E3"/>
          </a:solid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K</a:t>
            </a:r>
            <a:r>
              <a:rPr lang="en">
                <a:latin typeface="Roboto"/>
                <a:ea typeface="Roboto"/>
                <a:cs typeface="Roboto"/>
                <a:sym typeface="Roboto"/>
              </a:rPr>
              <a:t>riging</a:t>
            </a:r>
            <a:endParaRPr>
              <a:latin typeface="Roboto"/>
              <a:ea typeface="Roboto"/>
              <a:cs typeface="Roboto"/>
              <a:sym typeface="Roboto"/>
            </a:endParaRPr>
          </a:p>
        </p:txBody>
      </p:sp>
      <p:sp>
        <p:nvSpPr>
          <p:cNvPr id="180" name="Google Shape;180;p33"/>
          <p:cNvSpPr/>
          <p:nvPr/>
        </p:nvSpPr>
        <p:spPr>
          <a:xfrm>
            <a:off x="6910975" y="1038656"/>
            <a:ext cx="2180700" cy="2375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Roboto"/>
                <a:ea typeface="Roboto"/>
                <a:cs typeface="Roboto"/>
                <a:sym typeface="Roboto"/>
              </a:rPr>
              <a:t>Machine Learning</a:t>
            </a:r>
            <a:endParaRPr b="1">
              <a:latin typeface="Roboto"/>
              <a:ea typeface="Roboto"/>
              <a:cs typeface="Roboto"/>
              <a:sym typeface="Roboto"/>
            </a:endParaRPr>
          </a:p>
          <a:p>
            <a:pPr indent="0" lvl="0" marL="0" rtl="0" algn="ctr">
              <a:spcBef>
                <a:spcPts val="300"/>
              </a:spcBef>
              <a:spcAft>
                <a:spcPts val="0"/>
              </a:spcAft>
              <a:buNone/>
            </a:pPr>
            <a:r>
              <a:rPr lang="en" sz="1000">
                <a:solidFill>
                  <a:schemeClr val="accent3"/>
                </a:solidFill>
                <a:latin typeface="Roboto"/>
                <a:ea typeface="Roboto"/>
                <a:cs typeface="Roboto"/>
                <a:sym typeface="Roboto"/>
              </a:rPr>
              <a:t>XGBoost</a:t>
            </a:r>
            <a:endParaRPr sz="1000">
              <a:solidFill>
                <a:schemeClr val="accent3"/>
              </a:solidFill>
              <a:latin typeface="Roboto"/>
              <a:ea typeface="Roboto"/>
              <a:cs typeface="Roboto"/>
              <a:sym typeface="Roboto"/>
            </a:endParaRPr>
          </a:p>
        </p:txBody>
      </p:sp>
      <p:cxnSp>
        <p:nvCxnSpPr>
          <p:cNvPr id="181" name="Google Shape;181;p33"/>
          <p:cNvCxnSpPr>
            <a:endCxn id="176" idx="0"/>
          </p:cNvCxnSpPr>
          <p:nvPr/>
        </p:nvCxnSpPr>
        <p:spPr>
          <a:xfrm flipH="1">
            <a:off x="1288574" y="3040773"/>
            <a:ext cx="4800" cy="308700"/>
          </a:xfrm>
          <a:prstGeom prst="straightConnector1">
            <a:avLst/>
          </a:prstGeom>
          <a:noFill/>
          <a:ln cap="flat" cmpd="sng" w="9525">
            <a:solidFill>
              <a:schemeClr val="dk2"/>
            </a:solidFill>
            <a:prstDash val="solid"/>
            <a:round/>
            <a:headEnd len="med" w="med" type="none"/>
            <a:tailEnd len="med" w="med" type="triangle"/>
          </a:ln>
        </p:spPr>
      </p:cxnSp>
      <p:sp>
        <p:nvSpPr>
          <p:cNvPr id="182" name="Google Shape;182;p33"/>
          <p:cNvSpPr/>
          <p:nvPr/>
        </p:nvSpPr>
        <p:spPr>
          <a:xfrm>
            <a:off x="7048101" y="1613626"/>
            <a:ext cx="1918500" cy="473700"/>
          </a:xfrm>
          <a:prstGeom prst="roundRect">
            <a:avLst>
              <a:gd fmla="val 16667" name="adj"/>
            </a:avLst>
          </a:prstGeom>
          <a:solidFill>
            <a:srgbClr val="D9D2E9"/>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Split MRoS Labels</a:t>
            </a:r>
            <a:endParaRPr>
              <a:latin typeface="Roboto"/>
              <a:ea typeface="Roboto"/>
              <a:cs typeface="Roboto"/>
              <a:sym typeface="Roboto"/>
            </a:endParaRPr>
          </a:p>
          <a:p>
            <a:pPr indent="0" lvl="0" marL="0" rtl="0" algn="ctr">
              <a:spcBef>
                <a:spcPts val="0"/>
              </a:spcBef>
              <a:spcAft>
                <a:spcPts val="0"/>
              </a:spcAft>
              <a:buNone/>
            </a:pPr>
            <a:r>
              <a:rPr lang="en" sz="900">
                <a:solidFill>
                  <a:schemeClr val="accent3"/>
                </a:solidFill>
                <a:latin typeface="Roboto"/>
                <a:ea typeface="Roboto"/>
                <a:cs typeface="Roboto"/>
                <a:sym typeface="Roboto"/>
              </a:rPr>
              <a:t>70/15/15% training/valid/testing</a:t>
            </a:r>
            <a:endParaRPr sz="900">
              <a:solidFill>
                <a:schemeClr val="accent3"/>
              </a:solidFill>
              <a:latin typeface="Roboto"/>
              <a:ea typeface="Roboto"/>
              <a:cs typeface="Roboto"/>
              <a:sym typeface="Roboto"/>
            </a:endParaRPr>
          </a:p>
        </p:txBody>
      </p:sp>
      <p:sp>
        <p:nvSpPr>
          <p:cNvPr id="183" name="Google Shape;183;p33"/>
          <p:cNvSpPr/>
          <p:nvPr/>
        </p:nvSpPr>
        <p:spPr>
          <a:xfrm>
            <a:off x="7276401" y="2257850"/>
            <a:ext cx="1461900" cy="422400"/>
          </a:xfrm>
          <a:prstGeom prst="roundRect">
            <a:avLst>
              <a:gd fmla="val 16667" name="adj"/>
            </a:avLst>
          </a:prstGeom>
          <a:solidFill>
            <a:srgbClr val="D9EAD3"/>
          </a:solidFill>
          <a:ln cap="flat" cmpd="sng" w="952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Model Training</a:t>
            </a:r>
            <a:endParaRPr>
              <a:latin typeface="Roboto"/>
              <a:ea typeface="Roboto"/>
              <a:cs typeface="Roboto"/>
              <a:sym typeface="Roboto"/>
            </a:endParaRPr>
          </a:p>
        </p:txBody>
      </p:sp>
      <p:sp>
        <p:nvSpPr>
          <p:cNvPr id="184" name="Google Shape;184;p33"/>
          <p:cNvSpPr/>
          <p:nvPr/>
        </p:nvSpPr>
        <p:spPr>
          <a:xfrm>
            <a:off x="2443065" y="2876360"/>
            <a:ext cx="345468" cy="1712408"/>
          </a:xfrm>
          <a:custGeom>
            <a:rect b="b" l="l" r="r" t="t"/>
            <a:pathLst>
              <a:path extrusionOk="0" h="93053" w="40124">
                <a:moveTo>
                  <a:pt x="0" y="93053"/>
                </a:moveTo>
                <a:lnTo>
                  <a:pt x="21769" y="93053"/>
                </a:lnTo>
                <a:lnTo>
                  <a:pt x="21769" y="427"/>
                </a:lnTo>
                <a:lnTo>
                  <a:pt x="40124" y="0"/>
                </a:lnTo>
              </a:path>
            </a:pathLst>
          </a:custGeom>
          <a:noFill/>
          <a:ln cap="flat" cmpd="sng" w="9525">
            <a:solidFill>
              <a:schemeClr val="dk2"/>
            </a:solidFill>
            <a:prstDash val="solid"/>
            <a:round/>
            <a:headEnd len="med" w="med" type="none"/>
            <a:tailEnd len="med" w="med" type="triangle"/>
          </a:ln>
        </p:spPr>
      </p:sp>
      <p:cxnSp>
        <p:nvCxnSpPr>
          <p:cNvPr id="185" name="Google Shape;185;p33"/>
          <p:cNvCxnSpPr>
            <a:endCxn id="186" idx="1"/>
          </p:cNvCxnSpPr>
          <p:nvPr/>
        </p:nvCxnSpPr>
        <p:spPr>
          <a:xfrm flipH="1" rot="10800000">
            <a:off x="5229674" y="2649678"/>
            <a:ext cx="204300" cy="1200"/>
          </a:xfrm>
          <a:prstGeom prst="straightConnector1">
            <a:avLst/>
          </a:prstGeom>
          <a:noFill/>
          <a:ln cap="flat" cmpd="sng" w="9525">
            <a:solidFill>
              <a:schemeClr val="dk2"/>
            </a:solidFill>
            <a:prstDash val="solid"/>
            <a:round/>
            <a:headEnd len="med" w="med" type="none"/>
            <a:tailEnd len="med" w="med" type="triangle"/>
          </a:ln>
        </p:spPr>
      </p:cxnSp>
      <p:cxnSp>
        <p:nvCxnSpPr>
          <p:cNvPr id="187" name="Google Shape;187;p33"/>
          <p:cNvCxnSpPr/>
          <p:nvPr/>
        </p:nvCxnSpPr>
        <p:spPr>
          <a:xfrm flipH="1" rot="10800000">
            <a:off x="4456226" y="2449716"/>
            <a:ext cx="155400" cy="6600"/>
          </a:xfrm>
          <a:prstGeom prst="straightConnector1">
            <a:avLst/>
          </a:prstGeom>
          <a:noFill/>
          <a:ln cap="flat" cmpd="sng" w="9525">
            <a:solidFill>
              <a:schemeClr val="dk2"/>
            </a:solidFill>
            <a:prstDash val="solid"/>
            <a:round/>
            <a:headEnd len="med" w="med" type="none"/>
            <a:tailEnd len="med" w="med" type="triangle"/>
          </a:ln>
        </p:spPr>
      </p:cxnSp>
      <p:cxnSp>
        <p:nvCxnSpPr>
          <p:cNvPr id="188" name="Google Shape;188;p33"/>
          <p:cNvCxnSpPr/>
          <p:nvPr/>
        </p:nvCxnSpPr>
        <p:spPr>
          <a:xfrm flipH="1" rot="10800000">
            <a:off x="4472916" y="3039860"/>
            <a:ext cx="155400" cy="6600"/>
          </a:xfrm>
          <a:prstGeom prst="straightConnector1">
            <a:avLst/>
          </a:prstGeom>
          <a:noFill/>
          <a:ln cap="flat" cmpd="sng" w="9525">
            <a:solidFill>
              <a:schemeClr val="dk2"/>
            </a:solidFill>
            <a:prstDash val="solid"/>
            <a:round/>
            <a:headEnd len="med" w="med" type="none"/>
            <a:tailEnd len="med" w="med" type="triangle"/>
          </a:ln>
        </p:spPr>
      </p:cxnSp>
      <p:sp>
        <p:nvSpPr>
          <p:cNvPr id="189" name="Google Shape;189;p33"/>
          <p:cNvSpPr/>
          <p:nvPr/>
        </p:nvSpPr>
        <p:spPr>
          <a:xfrm>
            <a:off x="242824" y="3683673"/>
            <a:ext cx="1045800" cy="3807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000">
                <a:latin typeface="Roboto"/>
                <a:ea typeface="Roboto"/>
                <a:cs typeface="Roboto"/>
                <a:sym typeface="Roboto"/>
              </a:rPr>
              <a:t>Time synchr.</a:t>
            </a:r>
            <a:endParaRPr sz="1000">
              <a:latin typeface="Roboto"/>
              <a:ea typeface="Roboto"/>
              <a:cs typeface="Roboto"/>
              <a:sym typeface="Roboto"/>
            </a:endParaRPr>
          </a:p>
        </p:txBody>
      </p:sp>
      <p:sp>
        <p:nvSpPr>
          <p:cNvPr id="190" name="Google Shape;190;p33"/>
          <p:cNvSpPr/>
          <p:nvPr/>
        </p:nvSpPr>
        <p:spPr>
          <a:xfrm>
            <a:off x="1385874" y="3671513"/>
            <a:ext cx="960300" cy="3927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000">
                <a:latin typeface="Roboto"/>
                <a:ea typeface="Roboto"/>
                <a:cs typeface="Roboto"/>
                <a:sym typeface="Roboto"/>
              </a:rPr>
              <a:t>Hourly aggregation</a:t>
            </a:r>
            <a:endParaRPr sz="1000">
              <a:latin typeface="Roboto"/>
              <a:ea typeface="Roboto"/>
              <a:cs typeface="Roboto"/>
              <a:sym typeface="Roboto"/>
            </a:endParaRPr>
          </a:p>
        </p:txBody>
      </p:sp>
      <p:sp>
        <p:nvSpPr>
          <p:cNvPr id="191" name="Google Shape;191;p33"/>
          <p:cNvSpPr/>
          <p:nvPr/>
        </p:nvSpPr>
        <p:spPr>
          <a:xfrm>
            <a:off x="299274" y="4203610"/>
            <a:ext cx="960300" cy="7890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000">
                <a:latin typeface="Roboto"/>
                <a:ea typeface="Roboto"/>
                <a:cs typeface="Roboto"/>
                <a:sym typeface="Roboto"/>
              </a:rPr>
              <a:t>Derive:</a:t>
            </a:r>
            <a:endParaRPr sz="1000">
              <a:latin typeface="Roboto"/>
              <a:ea typeface="Roboto"/>
              <a:cs typeface="Roboto"/>
              <a:sym typeface="Roboto"/>
            </a:endParaRPr>
          </a:p>
          <a:p>
            <a:pPr indent="0" lvl="0" marL="0" rtl="0" algn="ctr">
              <a:lnSpc>
                <a:spcPct val="115000"/>
              </a:lnSpc>
              <a:spcBef>
                <a:spcPts val="0"/>
              </a:spcBef>
              <a:spcAft>
                <a:spcPts val="0"/>
              </a:spcAft>
              <a:buNone/>
            </a:pPr>
            <a:r>
              <a:rPr i="1" lang="en" sz="1000">
                <a:latin typeface="Roboto"/>
                <a:ea typeface="Roboto"/>
                <a:cs typeface="Roboto"/>
                <a:sym typeface="Roboto"/>
              </a:rPr>
              <a:t>t</a:t>
            </a:r>
            <a:r>
              <a:rPr baseline="-25000" i="1" lang="en" sz="1000">
                <a:latin typeface="Roboto"/>
                <a:ea typeface="Roboto"/>
                <a:cs typeface="Roboto"/>
                <a:sym typeface="Roboto"/>
              </a:rPr>
              <a:t>dew</a:t>
            </a:r>
            <a:r>
              <a:rPr i="1" lang="en" sz="1000">
                <a:latin typeface="Roboto"/>
                <a:ea typeface="Roboto"/>
                <a:cs typeface="Roboto"/>
                <a:sym typeface="Roboto"/>
              </a:rPr>
              <a:t> , t</a:t>
            </a:r>
            <a:r>
              <a:rPr baseline="-25000" i="1" lang="en" sz="1000">
                <a:latin typeface="Roboto"/>
                <a:ea typeface="Roboto"/>
                <a:cs typeface="Roboto"/>
                <a:sym typeface="Roboto"/>
              </a:rPr>
              <a:t>wet</a:t>
            </a:r>
            <a:r>
              <a:rPr i="1" lang="en" sz="1000">
                <a:latin typeface="Roboto"/>
                <a:ea typeface="Roboto"/>
                <a:cs typeface="Roboto"/>
                <a:sym typeface="Roboto"/>
              </a:rPr>
              <a:t> , RH</a:t>
            </a:r>
            <a:endParaRPr sz="1000">
              <a:latin typeface="Roboto"/>
              <a:ea typeface="Roboto"/>
              <a:cs typeface="Roboto"/>
              <a:sym typeface="Roboto"/>
            </a:endParaRPr>
          </a:p>
        </p:txBody>
      </p:sp>
      <p:sp>
        <p:nvSpPr>
          <p:cNvPr id="192" name="Google Shape;192;p33"/>
          <p:cNvSpPr/>
          <p:nvPr/>
        </p:nvSpPr>
        <p:spPr>
          <a:xfrm>
            <a:off x="1414712" y="4203610"/>
            <a:ext cx="912000" cy="789000"/>
          </a:xfrm>
          <a:prstGeom prst="roundRect">
            <a:avLst>
              <a:gd fmla="val 16667"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resampling DEM</a:t>
            </a:r>
            <a:r>
              <a:rPr lang="en" sz="1000">
                <a:latin typeface="Roboto"/>
                <a:ea typeface="Roboto"/>
                <a:cs typeface="Roboto"/>
                <a:sym typeface="Roboto"/>
              </a:rPr>
              <a:t>, IMERG, PRISM </a:t>
            </a:r>
            <a:endParaRPr sz="1000">
              <a:latin typeface="Roboto"/>
              <a:ea typeface="Roboto"/>
              <a:cs typeface="Roboto"/>
              <a:sym typeface="Roboto"/>
            </a:endParaRPr>
          </a:p>
        </p:txBody>
      </p:sp>
      <p:sp>
        <p:nvSpPr>
          <p:cNvPr id="193" name="Google Shape;193;p33"/>
          <p:cNvSpPr/>
          <p:nvPr/>
        </p:nvSpPr>
        <p:spPr>
          <a:xfrm rot="5400000">
            <a:off x="1164624" y="3454345"/>
            <a:ext cx="124200" cy="1362600"/>
          </a:xfrm>
          <a:prstGeom prst="rightBrace">
            <a:avLst>
              <a:gd fmla="val 50000" name="adj1"/>
              <a:gd fmla="val 7757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4" name="Google Shape;194;p33"/>
          <p:cNvPicPr preferRelativeResize="0"/>
          <p:nvPr/>
        </p:nvPicPr>
        <p:blipFill>
          <a:blip r:embed="rId3">
            <a:alphaModFix/>
          </a:blip>
          <a:stretch>
            <a:fillRect/>
          </a:stretch>
        </p:blipFill>
        <p:spPr>
          <a:xfrm>
            <a:off x="3844529" y="3360234"/>
            <a:ext cx="1356900" cy="1156742"/>
          </a:xfrm>
          <a:prstGeom prst="rect">
            <a:avLst/>
          </a:prstGeom>
          <a:noFill/>
          <a:ln>
            <a:noFill/>
          </a:ln>
        </p:spPr>
      </p:pic>
      <p:sp>
        <p:nvSpPr>
          <p:cNvPr id="195" name="Google Shape;195;p33"/>
          <p:cNvSpPr/>
          <p:nvPr/>
        </p:nvSpPr>
        <p:spPr>
          <a:xfrm>
            <a:off x="7048100" y="2848154"/>
            <a:ext cx="1918500" cy="460800"/>
          </a:xfrm>
          <a:prstGeom prst="roundRect">
            <a:avLst>
              <a:gd fmla="val 16667" name="adj"/>
            </a:avLst>
          </a:prstGeom>
          <a:solidFill>
            <a:srgbClr val="FCE5CD"/>
          </a:solidFill>
          <a:ln cap="flat" cmpd="sng" w="9525">
            <a:solidFill>
              <a:srgbClr val="FF99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Validation + Testing</a:t>
            </a:r>
            <a:endParaRPr>
              <a:latin typeface="Roboto"/>
              <a:ea typeface="Roboto"/>
              <a:cs typeface="Roboto"/>
              <a:sym typeface="Roboto"/>
            </a:endParaRPr>
          </a:p>
        </p:txBody>
      </p:sp>
      <p:cxnSp>
        <p:nvCxnSpPr>
          <p:cNvPr id="196" name="Google Shape;196;p33"/>
          <p:cNvCxnSpPr>
            <a:endCxn id="197" idx="0"/>
          </p:cNvCxnSpPr>
          <p:nvPr/>
        </p:nvCxnSpPr>
        <p:spPr>
          <a:xfrm flipH="1">
            <a:off x="7981075" y="3411379"/>
            <a:ext cx="1500" cy="216300"/>
          </a:xfrm>
          <a:prstGeom prst="straightConnector1">
            <a:avLst/>
          </a:prstGeom>
          <a:noFill/>
          <a:ln cap="flat" cmpd="sng" w="9525">
            <a:solidFill>
              <a:schemeClr val="dk2"/>
            </a:solidFill>
            <a:prstDash val="solid"/>
            <a:round/>
            <a:headEnd len="med" w="med" type="none"/>
            <a:tailEnd len="med" w="med" type="triangle"/>
          </a:ln>
        </p:spPr>
      </p:cxnSp>
      <p:sp>
        <p:nvSpPr>
          <p:cNvPr id="197" name="Google Shape;197;p33"/>
          <p:cNvSpPr/>
          <p:nvPr/>
        </p:nvSpPr>
        <p:spPr>
          <a:xfrm>
            <a:off x="6870325" y="3627679"/>
            <a:ext cx="2221500" cy="825300"/>
          </a:xfrm>
          <a:prstGeom prst="rect">
            <a:avLst/>
          </a:prstGeom>
          <a:solidFill>
            <a:schemeClr val="lt2"/>
          </a:solidFill>
          <a:ln cap="flat" cmpd="sng" w="9725">
            <a:solidFill>
              <a:schemeClr val="dk2"/>
            </a:solidFill>
            <a:prstDash val="solid"/>
            <a:round/>
            <a:headEnd len="sm" w="sm" type="none"/>
            <a:tailEnd len="sm" w="sm" type="none"/>
          </a:ln>
        </p:spPr>
        <p:txBody>
          <a:bodyPr anchorCtr="0" anchor="t" bIns="93325" lIns="93325" spcFirstLastPara="1" rIns="93325" wrap="square" tIns="93325">
            <a:noAutofit/>
          </a:bodyPr>
          <a:lstStyle/>
          <a:p>
            <a:pPr indent="0" lvl="0" marL="0" rtl="0" algn="ctr">
              <a:spcBef>
                <a:spcPts val="0"/>
              </a:spcBef>
              <a:spcAft>
                <a:spcPts val="0"/>
              </a:spcAft>
              <a:buNone/>
            </a:pPr>
            <a:r>
              <a:rPr b="1" lang="en" sz="1327"/>
              <a:t>Output</a:t>
            </a:r>
            <a:endParaRPr b="1" sz="1327"/>
          </a:p>
        </p:txBody>
      </p:sp>
      <p:sp>
        <p:nvSpPr>
          <p:cNvPr id="198" name="Google Shape;198;p33"/>
          <p:cNvSpPr/>
          <p:nvPr/>
        </p:nvSpPr>
        <p:spPr>
          <a:xfrm>
            <a:off x="6997080" y="3934964"/>
            <a:ext cx="1991400" cy="460800"/>
          </a:xfrm>
          <a:prstGeom prst="rect">
            <a:avLst/>
          </a:prstGeom>
          <a:noFill/>
          <a:ln>
            <a:noFill/>
          </a:ln>
        </p:spPr>
        <p:txBody>
          <a:bodyPr anchorCtr="0" anchor="ctr" bIns="93325" lIns="93325" spcFirstLastPara="1" rIns="93325" wrap="square" tIns="93325">
            <a:noAutofit/>
          </a:bodyPr>
          <a:lstStyle/>
          <a:p>
            <a:pPr indent="0" lvl="0" marL="0" rtl="0" algn="ctr">
              <a:spcBef>
                <a:spcPts val="0"/>
              </a:spcBef>
              <a:spcAft>
                <a:spcPts val="0"/>
              </a:spcAft>
              <a:buNone/>
            </a:pPr>
            <a:r>
              <a:rPr lang="en" sz="1327">
                <a:solidFill>
                  <a:schemeClr val="accent5"/>
                </a:solidFill>
                <a:highlight>
                  <a:schemeClr val="lt2"/>
                </a:highlight>
                <a:latin typeface="Roboto"/>
                <a:ea typeface="Roboto"/>
                <a:cs typeface="Roboto"/>
                <a:sym typeface="Roboto"/>
              </a:rPr>
              <a:t>p(rain), p(snow), p(mix),</a:t>
            </a:r>
            <a:endParaRPr sz="1327">
              <a:solidFill>
                <a:schemeClr val="accent5"/>
              </a:solidFill>
              <a:highlight>
                <a:schemeClr val="lt2"/>
              </a:highlight>
              <a:latin typeface="Roboto"/>
              <a:ea typeface="Roboto"/>
              <a:cs typeface="Roboto"/>
              <a:sym typeface="Roboto"/>
            </a:endParaRPr>
          </a:p>
          <a:p>
            <a:pPr indent="0" lvl="0" marL="0" rtl="0" algn="ctr">
              <a:spcBef>
                <a:spcPts val="0"/>
              </a:spcBef>
              <a:spcAft>
                <a:spcPts val="0"/>
              </a:spcAft>
              <a:buNone/>
            </a:pPr>
            <a:r>
              <a:rPr lang="en" sz="1021">
                <a:solidFill>
                  <a:schemeClr val="accent5"/>
                </a:solidFill>
                <a:highlight>
                  <a:schemeClr val="lt2"/>
                </a:highlight>
                <a:latin typeface="Roboto"/>
                <a:ea typeface="Roboto"/>
                <a:cs typeface="Roboto"/>
                <a:sym typeface="Roboto"/>
              </a:rPr>
              <a:t>uncertainty</a:t>
            </a:r>
            <a:endParaRPr sz="1021">
              <a:solidFill>
                <a:schemeClr val="accent5"/>
              </a:solidFill>
              <a:highlight>
                <a:schemeClr val="lt2"/>
              </a:highlight>
              <a:latin typeface="Roboto"/>
              <a:ea typeface="Roboto"/>
              <a:cs typeface="Roboto"/>
              <a:sym typeface="Roboto"/>
            </a:endParaRPr>
          </a:p>
        </p:txBody>
      </p:sp>
      <p:pic>
        <p:nvPicPr>
          <p:cNvPr id="199" name="Google Shape;199;p33"/>
          <p:cNvPicPr preferRelativeResize="0"/>
          <p:nvPr/>
        </p:nvPicPr>
        <p:blipFill>
          <a:blip r:embed="rId4">
            <a:alphaModFix/>
          </a:blip>
          <a:stretch>
            <a:fillRect/>
          </a:stretch>
        </p:blipFill>
        <p:spPr>
          <a:xfrm>
            <a:off x="4567879" y="2232241"/>
            <a:ext cx="519601" cy="422400"/>
          </a:xfrm>
          <a:prstGeom prst="rect">
            <a:avLst/>
          </a:prstGeom>
          <a:noFill/>
          <a:ln>
            <a:noFill/>
          </a:ln>
        </p:spPr>
      </p:pic>
      <p:pic>
        <p:nvPicPr>
          <p:cNvPr id="200" name="Google Shape;200;p33"/>
          <p:cNvPicPr preferRelativeResize="0"/>
          <p:nvPr/>
        </p:nvPicPr>
        <p:blipFill>
          <a:blip r:embed="rId4">
            <a:alphaModFix/>
          </a:blip>
          <a:stretch>
            <a:fillRect/>
          </a:stretch>
        </p:blipFill>
        <p:spPr>
          <a:xfrm>
            <a:off x="4589954" y="2831966"/>
            <a:ext cx="519601" cy="422400"/>
          </a:xfrm>
          <a:prstGeom prst="rect">
            <a:avLst/>
          </a:prstGeom>
          <a:noFill/>
          <a:ln>
            <a:noFill/>
          </a:ln>
        </p:spPr>
      </p:pic>
      <p:sp>
        <p:nvSpPr>
          <p:cNvPr id="201" name="Google Shape;201;p33"/>
          <p:cNvSpPr txBox="1"/>
          <p:nvPr/>
        </p:nvSpPr>
        <p:spPr>
          <a:xfrm rot="-1755618">
            <a:off x="4445876" y="4109948"/>
            <a:ext cx="941532" cy="133514"/>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00">
                <a:solidFill>
                  <a:srgbClr val="CCCCCC"/>
                </a:solidFill>
                <a:latin typeface="Roboto"/>
                <a:ea typeface="Roboto"/>
                <a:cs typeface="Roboto"/>
                <a:sym typeface="Roboto"/>
              </a:rPr>
              <a:t>Source: ArcGIS</a:t>
            </a:r>
            <a:endParaRPr sz="500">
              <a:solidFill>
                <a:srgbClr val="CCCCCC"/>
              </a:solidFill>
              <a:latin typeface="Roboto"/>
              <a:ea typeface="Roboto"/>
              <a:cs typeface="Roboto"/>
              <a:sym typeface="Roboto"/>
            </a:endParaRPr>
          </a:p>
        </p:txBody>
      </p:sp>
      <p:sp>
        <p:nvSpPr>
          <p:cNvPr id="202" name="Google Shape;202;p33"/>
          <p:cNvSpPr/>
          <p:nvPr/>
        </p:nvSpPr>
        <p:spPr>
          <a:xfrm>
            <a:off x="5453413" y="1056984"/>
            <a:ext cx="998700" cy="2441400"/>
          </a:xfrm>
          <a:prstGeom prst="rect">
            <a:avLst/>
          </a:prstGeom>
          <a:solidFill>
            <a:schemeClr val="lt2"/>
          </a:solidFill>
          <a:ln cap="flat" cmpd="sng" w="19050">
            <a:solidFill>
              <a:srgbClr val="9E9E9E"/>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a:solidFill>
                  <a:schemeClr val="dk1"/>
                </a:solidFill>
                <a:latin typeface="Roboto"/>
                <a:ea typeface="Roboto"/>
                <a:cs typeface="Roboto"/>
                <a:sym typeface="Roboto"/>
              </a:rPr>
              <a:t>Surfaces</a:t>
            </a:r>
            <a:endParaRPr b="1" sz="1000">
              <a:latin typeface="Roboto"/>
              <a:ea typeface="Roboto"/>
              <a:cs typeface="Roboto"/>
              <a:sym typeface="Roboto"/>
            </a:endParaRPr>
          </a:p>
        </p:txBody>
      </p:sp>
      <p:pic>
        <p:nvPicPr>
          <p:cNvPr id="203" name="Google Shape;203;p33"/>
          <p:cNvPicPr preferRelativeResize="0"/>
          <p:nvPr/>
        </p:nvPicPr>
        <p:blipFill>
          <a:blip r:embed="rId4">
            <a:alphaModFix/>
          </a:blip>
          <a:stretch>
            <a:fillRect/>
          </a:stretch>
        </p:blipFill>
        <p:spPr>
          <a:xfrm>
            <a:off x="5690524" y="1438780"/>
            <a:ext cx="519601" cy="422400"/>
          </a:xfrm>
          <a:prstGeom prst="rect">
            <a:avLst/>
          </a:prstGeom>
          <a:noFill/>
          <a:ln>
            <a:noFill/>
          </a:ln>
        </p:spPr>
      </p:pic>
      <p:sp>
        <p:nvSpPr>
          <p:cNvPr id="186" name="Google Shape;186;p33"/>
          <p:cNvSpPr txBox="1"/>
          <p:nvPr/>
        </p:nvSpPr>
        <p:spPr>
          <a:xfrm>
            <a:off x="5433974" y="1845378"/>
            <a:ext cx="998700" cy="16086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lang="en" sz="1000">
                <a:solidFill>
                  <a:schemeClr val="accent5"/>
                </a:solidFill>
                <a:latin typeface="Roboto"/>
                <a:ea typeface="Roboto"/>
                <a:cs typeface="Roboto"/>
                <a:sym typeface="Roboto"/>
              </a:rPr>
              <a:t>MRoS</a:t>
            </a:r>
            <a:endParaRPr sz="1000">
              <a:solidFill>
                <a:schemeClr val="accent5"/>
              </a:solidFill>
              <a:latin typeface="Roboto"/>
              <a:ea typeface="Roboto"/>
              <a:cs typeface="Roboto"/>
              <a:sym typeface="Roboto"/>
            </a:endParaRPr>
          </a:p>
          <a:p>
            <a:pPr indent="0" lvl="0" marL="0" rtl="0" algn="ctr">
              <a:lnSpc>
                <a:spcPct val="200000"/>
              </a:lnSpc>
              <a:spcBef>
                <a:spcPts val="75"/>
              </a:spcBef>
              <a:spcAft>
                <a:spcPts val="0"/>
              </a:spcAft>
              <a:buNone/>
            </a:pPr>
            <a:r>
              <a:rPr lang="en" sz="1000">
                <a:solidFill>
                  <a:schemeClr val="accent5"/>
                </a:solidFill>
                <a:latin typeface="Roboto"/>
                <a:ea typeface="Roboto"/>
                <a:cs typeface="Roboto"/>
                <a:sym typeface="Roboto"/>
              </a:rPr>
              <a:t>air temp</a:t>
            </a:r>
            <a:endParaRPr sz="1000">
              <a:solidFill>
                <a:schemeClr val="accent5"/>
              </a:solidFill>
              <a:latin typeface="Roboto"/>
              <a:ea typeface="Roboto"/>
              <a:cs typeface="Roboto"/>
              <a:sym typeface="Roboto"/>
            </a:endParaRPr>
          </a:p>
          <a:p>
            <a:pPr indent="0" lvl="0" marL="0" rtl="0" algn="ctr">
              <a:lnSpc>
                <a:spcPct val="200000"/>
              </a:lnSpc>
              <a:spcBef>
                <a:spcPts val="75"/>
              </a:spcBef>
              <a:spcAft>
                <a:spcPts val="0"/>
              </a:spcAft>
              <a:buNone/>
            </a:pPr>
            <a:r>
              <a:rPr lang="en" sz="1000">
                <a:solidFill>
                  <a:schemeClr val="accent5"/>
                </a:solidFill>
                <a:latin typeface="Roboto"/>
                <a:ea typeface="Roboto"/>
                <a:cs typeface="Roboto"/>
                <a:sym typeface="Roboto"/>
              </a:rPr>
              <a:t>dew temp</a:t>
            </a:r>
            <a:endParaRPr sz="1000">
              <a:solidFill>
                <a:schemeClr val="accent5"/>
              </a:solidFill>
              <a:latin typeface="Roboto"/>
              <a:ea typeface="Roboto"/>
              <a:cs typeface="Roboto"/>
              <a:sym typeface="Roboto"/>
            </a:endParaRPr>
          </a:p>
          <a:p>
            <a:pPr indent="0" lvl="0" marL="0" rtl="0" algn="ctr">
              <a:lnSpc>
                <a:spcPct val="200000"/>
              </a:lnSpc>
              <a:spcBef>
                <a:spcPts val="75"/>
              </a:spcBef>
              <a:spcAft>
                <a:spcPts val="0"/>
              </a:spcAft>
              <a:buNone/>
            </a:pPr>
            <a:r>
              <a:rPr lang="en" sz="1000">
                <a:solidFill>
                  <a:schemeClr val="accent5"/>
                </a:solidFill>
                <a:latin typeface="Roboto"/>
                <a:ea typeface="Roboto"/>
                <a:cs typeface="Roboto"/>
                <a:sym typeface="Roboto"/>
              </a:rPr>
              <a:t>wet-bulb temp</a:t>
            </a:r>
            <a:endParaRPr sz="1000">
              <a:solidFill>
                <a:schemeClr val="accent5"/>
              </a:solidFill>
              <a:latin typeface="Roboto"/>
              <a:ea typeface="Roboto"/>
              <a:cs typeface="Roboto"/>
              <a:sym typeface="Roboto"/>
            </a:endParaRPr>
          </a:p>
          <a:p>
            <a:pPr indent="0" lvl="0" marL="0" rtl="0" algn="ctr">
              <a:lnSpc>
                <a:spcPct val="200000"/>
              </a:lnSpc>
              <a:spcBef>
                <a:spcPts val="75"/>
              </a:spcBef>
              <a:spcAft>
                <a:spcPts val="75"/>
              </a:spcAft>
              <a:buNone/>
            </a:pPr>
            <a:r>
              <a:rPr lang="en" sz="1000">
                <a:solidFill>
                  <a:schemeClr val="accent5"/>
                </a:solidFill>
                <a:latin typeface="Roboto"/>
                <a:ea typeface="Roboto"/>
                <a:cs typeface="Roboto"/>
                <a:sym typeface="Roboto"/>
              </a:rPr>
              <a:t>RH</a:t>
            </a:r>
            <a:endParaRPr sz="1000">
              <a:solidFill>
                <a:schemeClr val="accent5"/>
              </a:solidFill>
              <a:latin typeface="Roboto"/>
              <a:ea typeface="Roboto"/>
              <a:cs typeface="Roboto"/>
              <a:sym typeface="Roboto"/>
            </a:endParaRPr>
          </a:p>
        </p:txBody>
      </p:sp>
      <p:cxnSp>
        <p:nvCxnSpPr>
          <p:cNvPr id="204" name="Google Shape;204;p33"/>
          <p:cNvCxnSpPr/>
          <p:nvPr/>
        </p:nvCxnSpPr>
        <p:spPr>
          <a:xfrm flipH="1" rot="10800000">
            <a:off x="6445523" y="2776697"/>
            <a:ext cx="471600" cy="3600"/>
          </a:xfrm>
          <a:prstGeom prst="straightConnector1">
            <a:avLst/>
          </a:prstGeom>
          <a:noFill/>
          <a:ln cap="flat" cmpd="sng" w="9525">
            <a:solidFill>
              <a:schemeClr val="dk2"/>
            </a:solidFill>
            <a:prstDash val="solid"/>
            <a:round/>
            <a:headEnd len="med" w="med" type="none"/>
            <a:tailEnd len="med" w="med" type="triangle"/>
          </a:ln>
        </p:spPr>
      </p:cxnSp>
      <p:sp>
        <p:nvSpPr>
          <p:cNvPr id="205" name="Google Shape;205;p33"/>
          <p:cNvSpPr/>
          <p:nvPr/>
        </p:nvSpPr>
        <p:spPr>
          <a:xfrm>
            <a:off x="5463400" y="3652300"/>
            <a:ext cx="998700" cy="1425300"/>
          </a:xfrm>
          <a:prstGeom prst="rect">
            <a:avLst/>
          </a:prstGeom>
          <a:solidFill>
            <a:schemeClr val="lt2"/>
          </a:solidFill>
          <a:ln cap="flat" cmpd="sng" w="19050">
            <a:solidFill>
              <a:srgbClr val="9E9E9E"/>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a:solidFill>
                  <a:schemeClr val="dk1"/>
                </a:solidFill>
                <a:latin typeface="Roboto"/>
                <a:ea typeface="Roboto"/>
                <a:cs typeface="Roboto"/>
                <a:sym typeface="Roboto"/>
              </a:rPr>
              <a:t>+ </a:t>
            </a:r>
            <a:endParaRPr b="1" sz="1000">
              <a:latin typeface="Roboto"/>
              <a:ea typeface="Roboto"/>
              <a:cs typeface="Roboto"/>
              <a:sym typeface="Roboto"/>
            </a:endParaRPr>
          </a:p>
        </p:txBody>
      </p:sp>
      <p:sp>
        <p:nvSpPr>
          <p:cNvPr id="206" name="Google Shape;206;p33"/>
          <p:cNvSpPr txBox="1"/>
          <p:nvPr/>
        </p:nvSpPr>
        <p:spPr>
          <a:xfrm>
            <a:off x="5488684" y="3967032"/>
            <a:ext cx="960300" cy="9735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lang="en" sz="1000">
                <a:solidFill>
                  <a:schemeClr val="accent5"/>
                </a:solidFill>
                <a:latin typeface="Roboto"/>
                <a:ea typeface="Roboto"/>
                <a:cs typeface="Roboto"/>
                <a:sym typeface="Roboto"/>
              </a:rPr>
              <a:t>elevation</a:t>
            </a:r>
            <a:endParaRPr sz="1000">
              <a:solidFill>
                <a:schemeClr val="accent5"/>
              </a:solidFill>
              <a:latin typeface="Roboto"/>
              <a:ea typeface="Roboto"/>
              <a:cs typeface="Roboto"/>
              <a:sym typeface="Roboto"/>
            </a:endParaRPr>
          </a:p>
          <a:p>
            <a:pPr indent="0" lvl="0" marL="0" rtl="0" algn="ctr">
              <a:lnSpc>
                <a:spcPct val="200000"/>
              </a:lnSpc>
              <a:spcBef>
                <a:spcPts val="75"/>
              </a:spcBef>
              <a:spcAft>
                <a:spcPts val="0"/>
              </a:spcAft>
              <a:buNone/>
            </a:pPr>
            <a:r>
              <a:rPr lang="en" sz="1000">
                <a:solidFill>
                  <a:schemeClr val="accent5"/>
                </a:solidFill>
                <a:latin typeface="Roboto"/>
                <a:ea typeface="Roboto"/>
                <a:cs typeface="Roboto"/>
                <a:sym typeface="Roboto"/>
              </a:rPr>
              <a:t>IMERG PLP</a:t>
            </a:r>
            <a:endParaRPr sz="1000">
              <a:solidFill>
                <a:schemeClr val="accent5"/>
              </a:solidFill>
              <a:latin typeface="Roboto"/>
              <a:ea typeface="Roboto"/>
              <a:cs typeface="Roboto"/>
              <a:sym typeface="Roboto"/>
            </a:endParaRPr>
          </a:p>
          <a:p>
            <a:pPr indent="0" lvl="0" marL="0" rtl="0" algn="ctr">
              <a:lnSpc>
                <a:spcPct val="200000"/>
              </a:lnSpc>
              <a:spcBef>
                <a:spcPts val="75"/>
              </a:spcBef>
              <a:spcAft>
                <a:spcPts val="75"/>
              </a:spcAft>
              <a:buNone/>
            </a:pPr>
            <a:r>
              <a:rPr lang="en" sz="1000">
                <a:solidFill>
                  <a:schemeClr val="accent5"/>
                </a:solidFill>
                <a:latin typeface="Roboto"/>
                <a:ea typeface="Roboto"/>
                <a:cs typeface="Roboto"/>
                <a:sym typeface="Roboto"/>
              </a:rPr>
              <a:t>PRISM temp</a:t>
            </a:r>
            <a:endParaRPr sz="1000">
              <a:solidFill>
                <a:schemeClr val="accent5"/>
              </a:solidFill>
              <a:latin typeface="Roboto"/>
              <a:ea typeface="Roboto"/>
              <a:cs typeface="Roboto"/>
              <a:sym typeface="Roboto"/>
            </a:endParaRPr>
          </a:p>
        </p:txBody>
      </p:sp>
      <p:cxnSp>
        <p:nvCxnSpPr>
          <p:cNvPr id="207" name="Google Shape;207;p33"/>
          <p:cNvCxnSpPr/>
          <p:nvPr/>
        </p:nvCxnSpPr>
        <p:spPr>
          <a:xfrm flipH="1" rot="10800000">
            <a:off x="2455670" y="4581147"/>
            <a:ext cx="3000900" cy="7500"/>
          </a:xfrm>
          <a:prstGeom prst="straightConnector1">
            <a:avLst/>
          </a:prstGeom>
          <a:noFill/>
          <a:ln cap="flat" cmpd="sng" w="9525">
            <a:solidFill>
              <a:schemeClr val="dk2"/>
            </a:solidFill>
            <a:prstDash val="solid"/>
            <a:round/>
            <a:headEnd len="med" w="med" type="none"/>
            <a:tailEnd len="med" w="med" type="triangle"/>
          </a:ln>
        </p:spPr>
      </p:cxnSp>
      <p:sp>
        <p:nvSpPr>
          <p:cNvPr id="208" name="Google Shape;208;p33"/>
          <p:cNvSpPr/>
          <p:nvPr/>
        </p:nvSpPr>
        <p:spPr>
          <a:xfrm>
            <a:off x="6471550" y="2780300"/>
            <a:ext cx="445562" cy="1816975"/>
          </a:xfrm>
          <a:custGeom>
            <a:rect b="b" l="l" r="r" t="t"/>
            <a:pathLst>
              <a:path extrusionOk="0" h="72505" w="17332">
                <a:moveTo>
                  <a:pt x="0" y="72505"/>
                </a:moveTo>
                <a:lnTo>
                  <a:pt x="9537" y="72505"/>
                </a:lnTo>
                <a:lnTo>
                  <a:pt x="9537" y="0"/>
                </a:lnTo>
                <a:lnTo>
                  <a:pt x="17332" y="10"/>
                </a:lnTo>
              </a:path>
            </a:pathLst>
          </a:custGeom>
          <a:noFill/>
          <a:ln cap="flat" cmpd="sng" w="9525">
            <a:solidFill>
              <a:schemeClr val="dk2"/>
            </a:solidFill>
            <a:prstDash val="solid"/>
            <a:round/>
            <a:headEnd len="med" w="med" type="none"/>
            <a:tailEnd len="med" w="med" type="triangle"/>
          </a:ln>
        </p:spPr>
      </p:sp>
      <p:sp>
        <p:nvSpPr>
          <p:cNvPr id="209" name="Google Shape;209;p33"/>
          <p:cNvSpPr txBox="1"/>
          <p:nvPr/>
        </p:nvSpPr>
        <p:spPr>
          <a:xfrm>
            <a:off x="1167768" y="4419271"/>
            <a:ext cx="345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 </a:t>
            </a:r>
            <a:endParaRPr/>
          </a:p>
        </p:txBody>
      </p:sp>
      <p:cxnSp>
        <p:nvCxnSpPr>
          <p:cNvPr id="210" name="Google Shape;210;p33"/>
          <p:cNvCxnSpPr/>
          <p:nvPr/>
        </p:nvCxnSpPr>
        <p:spPr>
          <a:xfrm>
            <a:off x="8006751" y="2082397"/>
            <a:ext cx="600" cy="169500"/>
          </a:xfrm>
          <a:prstGeom prst="straightConnector1">
            <a:avLst/>
          </a:prstGeom>
          <a:noFill/>
          <a:ln cap="flat" cmpd="sng" w="9525">
            <a:solidFill>
              <a:schemeClr val="dk2"/>
            </a:solidFill>
            <a:prstDash val="solid"/>
            <a:round/>
            <a:headEnd len="med" w="med" type="none"/>
            <a:tailEnd len="med" w="med" type="triangle"/>
          </a:ln>
        </p:spPr>
      </p:cxnSp>
      <p:cxnSp>
        <p:nvCxnSpPr>
          <p:cNvPr id="211" name="Google Shape;211;p33"/>
          <p:cNvCxnSpPr/>
          <p:nvPr/>
        </p:nvCxnSpPr>
        <p:spPr>
          <a:xfrm>
            <a:off x="8007051" y="2679919"/>
            <a:ext cx="600" cy="169500"/>
          </a:xfrm>
          <a:prstGeom prst="straightConnector1">
            <a:avLst/>
          </a:prstGeom>
          <a:noFill/>
          <a:ln cap="flat" cmpd="sng" w="9525">
            <a:solidFill>
              <a:schemeClr val="dk2"/>
            </a:solidFill>
            <a:prstDash val="solid"/>
            <a:round/>
            <a:headEnd len="med" w="med" type="none"/>
            <a:tailEnd len="med" w="med" type="triangle"/>
          </a:ln>
        </p:spPr>
      </p:cxnSp>
      <p:sp>
        <p:nvSpPr>
          <p:cNvPr id="212" name="Google Shape;212;p33"/>
          <p:cNvSpPr/>
          <p:nvPr/>
        </p:nvSpPr>
        <p:spPr>
          <a:xfrm>
            <a:off x="7114552" y="4666900"/>
            <a:ext cx="1785600" cy="422400"/>
          </a:xfrm>
          <a:prstGeom prst="roundRect">
            <a:avLst>
              <a:gd fmla="val 16667" name="adj"/>
            </a:avLst>
          </a:prstGeom>
          <a:solidFill>
            <a:srgbClr val="D0E0E3"/>
          </a:solid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SHAP Analysis</a:t>
            </a:r>
            <a:endParaRPr>
              <a:solidFill>
                <a:schemeClr val="dk1"/>
              </a:solidFill>
              <a:latin typeface="Roboto"/>
              <a:ea typeface="Roboto"/>
              <a:cs typeface="Roboto"/>
              <a:sym typeface="Roboto"/>
            </a:endParaRPr>
          </a:p>
        </p:txBody>
      </p:sp>
      <p:cxnSp>
        <p:nvCxnSpPr>
          <p:cNvPr id="213" name="Google Shape;213;p33"/>
          <p:cNvCxnSpPr/>
          <p:nvPr/>
        </p:nvCxnSpPr>
        <p:spPr>
          <a:xfrm flipH="1">
            <a:off x="8028600" y="4459271"/>
            <a:ext cx="1500" cy="216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311700" y="193250"/>
            <a:ext cx="7874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 sz="2310"/>
              <a:t>Study Areas: Sierra Nevada (CA) &amp; Rocky Mountains (CO)</a:t>
            </a:r>
            <a:endParaRPr sz="2310"/>
          </a:p>
          <a:p>
            <a:pPr indent="0" lvl="0" marL="0" rtl="0" algn="l">
              <a:spcBef>
                <a:spcPts val="0"/>
              </a:spcBef>
              <a:spcAft>
                <a:spcPts val="0"/>
              </a:spcAft>
              <a:buSzPts val="990"/>
              <a:buNone/>
            </a:pPr>
            <a:r>
              <a:t/>
            </a:r>
            <a:endParaRPr sz="2520"/>
          </a:p>
        </p:txBody>
      </p:sp>
      <p:sp>
        <p:nvSpPr>
          <p:cNvPr id="219" name="Google Shape;219;p34"/>
          <p:cNvSpPr/>
          <p:nvPr/>
        </p:nvSpPr>
        <p:spPr>
          <a:xfrm>
            <a:off x="3011826" y="1041626"/>
            <a:ext cx="72600" cy="88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220" name="Google Shape;220;p34"/>
          <p:cNvPicPr preferRelativeResize="0"/>
          <p:nvPr/>
        </p:nvPicPr>
        <p:blipFill>
          <a:blip r:embed="rId3">
            <a:alphaModFix/>
          </a:blip>
          <a:stretch>
            <a:fillRect/>
          </a:stretch>
        </p:blipFill>
        <p:spPr>
          <a:xfrm>
            <a:off x="908000" y="1272326"/>
            <a:ext cx="7328008" cy="37082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5"/>
          <p:cNvSpPr/>
          <p:nvPr/>
        </p:nvSpPr>
        <p:spPr>
          <a:xfrm>
            <a:off x="89550" y="1207200"/>
            <a:ext cx="3626100" cy="3700800"/>
          </a:xfrm>
          <a:prstGeom prst="rect">
            <a:avLst/>
          </a:prstGeom>
          <a:noFill/>
          <a:ln cap="flat" cmpd="sng" w="9525">
            <a:solidFill>
              <a:srgbClr val="595959"/>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i="1" sz="1000"/>
          </a:p>
        </p:txBody>
      </p:sp>
      <p:sp>
        <p:nvSpPr>
          <p:cNvPr id="226" name="Google Shape;226;p35"/>
          <p:cNvSpPr/>
          <p:nvPr/>
        </p:nvSpPr>
        <p:spPr>
          <a:xfrm>
            <a:off x="7157500" y="2176777"/>
            <a:ext cx="1451100" cy="1844100"/>
          </a:xfrm>
          <a:prstGeom prst="rect">
            <a:avLst/>
          </a:prstGeom>
          <a:solidFill>
            <a:srgbClr val="EEEEE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i="1" lang="en" sz="1000"/>
              <a:t>OUTPUTS</a:t>
            </a:r>
            <a:endParaRPr i="1" sz="1000"/>
          </a:p>
        </p:txBody>
      </p:sp>
      <p:sp>
        <p:nvSpPr>
          <p:cNvPr id="227" name="Google Shape;227;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8" name="Google Shape;228;p35"/>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Machine Learning Framework</a:t>
            </a:r>
            <a:endParaRPr/>
          </a:p>
        </p:txBody>
      </p:sp>
      <p:sp>
        <p:nvSpPr>
          <p:cNvPr id="229" name="Google Shape;229;p35"/>
          <p:cNvSpPr/>
          <p:nvPr/>
        </p:nvSpPr>
        <p:spPr>
          <a:xfrm>
            <a:off x="4155375" y="1210050"/>
            <a:ext cx="2454300" cy="3700800"/>
          </a:xfrm>
          <a:prstGeom prst="rect">
            <a:avLst/>
          </a:prstGeom>
          <a:noFill/>
          <a:ln cap="flat" cmpd="sng" w="9525">
            <a:solidFill>
              <a:srgbClr val="595959"/>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i="1" lang="en" sz="1000"/>
              <a:t>MODEL TRAINING</a:t>
            </a:r>
            <a:endParaRPr i="1" sz="1000"/>
          </a:p>
        </p:txBody>
      </p:sp>
      <p:sp>
        <p:nvSpPr>
          <p:cNvPr id="230" name="Google Shape;230;p35"/>
          <p:cNvSpPr/>
          <p:nvPr/>
        </p:nvSpPr>
        <p:spPr>
          <a:xfrm>
            <a:off x="219275" y="1272650"/>
            <a:ext cx="1248300" cy="3485700"/>
          </a:xfrm>
          <a:prstGeom prst="rect">
            <a:avLst/>
          </a:prstGeom>
          <a:solidFill>
            <a:srgbClr val="EEEEE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300"/>
          </a:p>
        </p:txBody>
      </p:sp>
      <p:pic>
        <p:nvPicPr>
          <p:cNvPr id="231" name="Google Shape;231;p35"/>
          <p:cNvPicPr preferRelativeResize="0"/>
          <p:nvPr/>
        </p:nvPicPr>
        <p:blipFill>
          <a:blip r:embed="rId3">
            <a:alphaModFix/>
          </a:blip>
          <a:stretch>
            <a:fillRect/>
          </a:stretch>
        </p:blipFill>
        <p:spPr>
          <a:xfrm>
            <a:off x="583576" y="1533984"/>
            <a:ext cx="519601" cy="422400"/>
          </a:xfrm>
          <a:prstGeom prst="rect">
            <a:avLst/>
          </a:prstGeom>
          <a:noFill/>
          <a:ln>
            <a:noFill/>
          </a:ln>
        </p:spPr>
      </p:pic>
      <p:sp>
        <p:nvSpPr>
          <p:cNvPr id="232" name="Google Shape;232;p35"/>
          <p:cNvSpPr/>
          <p:nvPr/>
        </p:nvSpPr>
        <p:spPr>
          <a:xfrm>
            <a:off x="3808449" y="1237050"/>
            <a:ext cx="242700" cy="3646800"/>
          </a:xfrm>
          <a:prstGeom prst="rightBrace">
            <a:avLst>
              <a:gd fmla="val 50000" name="adj1"/>
              <a:gd fmla="val 50066"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35"/>
          <p:cNvSpPr txBox="1"/>
          <p:nvPr/>
        </p:nvSpPr>
        <p:spPr>
          <a:xfrm>
            <a:off x="219325" y="1929841"/>
            <a:ext cx="1248300" cy="26223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lang="en" sz="1100">
                <a:solidFill>
                  <a:srgbClr val="0097A7"/>
                </a:solidFill>
              </a:rPr>
              <a:t>elevation</a:t>
            </a:r>
            <a:endParaRPr sz="1100">
              <a:solidFill>
                <a:srgbClr val="0097A7"/>
              </a:solidFill>
            </a:endParaRPr>
          </a:p>
          <a:p>
            <a:pPr indent="0" lvl="0" marL="0" rtl="0" algn="ctr">
              <a:lnSpc>
                <a:spcPct val="200000"/>
              </a:lnSpc>
              <a:spcBef>
                <a:spcPts val="75"/>
              </a:spcBef>
              <a:spcAft>
                <a:spcPts val="0"/>
              </a:spcAft>
              <a:buNone/>
            </a:pPr>
            <a:r>
              <a:rPr lang="en" sz="1100">
                <a:solidFill>
                  <a:srgbClr val="0097A7"/>
                </a:solidFill>
              </a:rPr>
              <a:t>IMERG PLP</a:t>
            </a:r>
            <a:endParaRPr sz="1100">
              <a:solidFill>
                <a:srgbClr val="0097A7"/>
              </a:solidFill>
            </a:endParaRPr>
          </a:p>
          <a:p>
            <a:pPr indent="0" lvl="0" marL="0" rtl="0" algn="ctr">
              <a:lnSpc>
                <a:spcPct val="100000"/>
              </a:lnSpc>
              <a:spcBef>
                <a:spcPts val="75"/>
              </a:spcBef>
              <a:spcAft>
                <a:spcPts val="0"/>
              </a:spcAft>
              <a:buNone/>
            </a:pPr>
            <a:r>
              <a:rPr lang="en" sz="1100">
                <a:solidFill>
                  <a:srgbClr val="0097A7"/>
                </a:solidFill>
              </a:rPr>
              <a:t>MRoS LOOCV</a:t>
            </a:r>
            <a:br>
              <a:rPr lang="en" sz="1100">
                <a:solidFill>
                  <a:srgbClr val="0097A7"/>
                </a:solidFill>
              </a:rPr>
            </a:br>
            <a:r>
              <a:rPr i="1" lang="en" sz="1100">
                <a:solidFill>
                  <a:srgbClr val="0097A7"/>
                </a:solidFill>
              </a:rPr>
              <a:t>surfaces</a:t>
            </a:r>
            <a:endParaRPr i="1" sz="1100">
              <a:solidFill>
                <a:srgbClr val="0097A7"/>
              </a:solidFill>
            </a:endParaRPr>
          </a:p>
          <a:p>
            <a:pPr indent="0" lvl="0" marL="0" rtl="0" algn="ctr">
              <a:lnSpc>
                <a:spcPct val="100000"/>
              </a:lnSpc>
              <a:spcBef>
                <a:spcPts val="75"/>
              </a:spcBef>
              <a:spcAft>
                <a:spcPts val="0"/>
              </a:spcAft>
              <a:buNone/>
            </a:pPr>
            <a:r>
              <a:t/>
            </a:r>
            <a:endParaRPr sz="1100">
              <a:solidFill>
                <a:srgbClr val="0097A7"/>
              </a:solidFill>
            </a:endParaRPr>
          </a:p>
          <a:p>
            <a:pPr indent="0" lvl="0" marL="0" rtl="0" algn="ctr">
              <a:lnSpc>
                <a:spcPct val="200000"/>
              </a:lnSpc>
              <a:spcBef>
                <a:spcPts val="75"/>
              </a:spcBef>
              <a:spcAft>
                <a:spcPts val="0"/>
              </a:spcAft>
              <a:buNone/>
            </a:pPr>
            <a:r>
              <a:rPr lang="en" sz="1100">
                <a:solidFill>
                  <a:srgbClr val="0097A7"/>
                </a:solidFill>
              </a:rPr>
              <a:t>air temp</a:t>
            </a:r>
            <a:endParaRPr sz="1100">
              <a:solidFill>
                <a:srgbClr val="0097A7"/>
              </a:solidFill>
            </a:endParaRPr>
          </a:p>
          <a:p>
            <a:pPr indent="0" lvl="0" marL="0" rtl="0" algn="ctr">
              <a:lnSpc>
                <a:spcPct val="200000"/>
              </a:lnSpc>
              <a:spcBef>
                <a:spcPts val="75"/>
              </a:spcBef>
              <a:spcAft>
                <a:spcPts val="0"/>
              </a:spcAft>
              <a:buNone/>
            </a:pPr>
            <a:r>
              <a:rPr lang="en" sz="1100">
                <a:solidFill>
                  <a:srgbClr val="0097A7"/>
                </a:solidFill>
              </a:rPr>
              <a:t>dew temp</a:t>
            </a:r>
            <a:endParaRPr sz="1100">
              <a:solidFill>
                <a:srgbClr val="0097A7"/>
              </a:solidFill>
            </a:endParaRPr>
          </a:p>
          <a:p>
            <a:pPr indent="0" lvl="0" marL="0" rtl="0" algn="ctr">
              <a:lnSpc>
                <a:spcPct val="200000"/>
              </a:lnSpc>
              <a:spcBef>
                <a:spcPts val="75"/>
              </a:spcBef>
              <a:spcAft>
                <a:spcPts val="0"/>
              </a:spcAft>
              <a:buNone/>
            </a:pPr>
            <a:r>
              <a:rPr lang="en" sz="1100">
                <a:solidFill>
                  <a:srgbClr val="0097A7"/>
                </a:solidFill>
              </a:rPr>
              <a:t>wet-bulb temp</a:t>
            </a:r>
            <a:endParaRPr sz="1100">
              <a:solidFill>
                <a:srgbClr val="0097A7"/>
              </a:solidFill>
            </a:endParaRPr>
          </a:p>
          <a:p>
            <a:pPr indent="0" lvl="0" marL="0" rtl="0" algn="ctr">
              <a:lnSpc>
                <a:spcPct val="200000"/>
              </a:lnSpc>
              <a:spcBef>
                <a:spcPts val="75"/>
              </a:spcBef>
              <a:spcAft>
                <a:spcPts val="75"/>
              </a:spcAft>
              <a:buNone/>
            </a:pPr>
            <a:r>
              <a:rPr lang="en" sz="1100">
                <a:solidFill>
                  <a:srgbClr val="0097A7"/>
                </a:solidFill>
              </a:rPr>
              <a:t>RH</a:t>
            </a:r>
            <a:endParaRPr sz="1100">
              <a:solidFill>
                <a:srgbClr val="0097A7"/>
              </a:solidFill>
            </a:endParaRPr>
          </a:p>
        </p:txBody>
      </p:sp>
      <p:sp>
        <p:nvSpPr>
          <p:cNvPr id="234" name="Google Shape;234;p35"/>
          <p:cNvSpPr txBox="1"/>
          <p:nvPr/>
        </p:nvSpPr>
        <p:spPr>
          <a:xfrm>
            <a:off x="219225" y="4519066"/>
            <a:ext cx="1248300" cy="23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800">
                <a:solidFill>
                  <a:srgbClr val="595959"/>
                </a:solidFill>
              </a:rPr>
              <a:t>over time and space</a:t>
            </a:r>
            <a:endParaRPr i="1" sz="800">
              <a:solidFill>
                <a:srgbClr val="595959"/>
              </a:solidFill>
            </a:endParaRPr>
          </a:p>
        </p:txBody>
      </p:sp>
      <p:sp>
        <p:nvSpPr>
          <p:cNvPr id="235" name="Google Shape;235;p35"/>
          <p:cNvSpPr/>
          <p:nvPr/>
        </p:nvSpPr>
        <p:spPr>
          <a:xfrm>
            <a:off x="1653100" y="1793650"/>
            <a:ext cx="1952400" cy="2344800"/>
          </a:xfrm>
          <a:prstGeom prst="rect">
            <a:avLst/>
          </a:prstGeom>
          <a:solidFill>
            <a:srgbClr val="EEEEE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sz="1200">
              <a:solidFill>
                <a:schemeClr val="dk1"/>
              </a:solidFill>
            </a:endParaRPr>
          </a:p>
          <a:p>
            <a:pPr indent="0" lvl="0" marL="0" rtl="0" algn="ctr">
              <a:spcBef>
                <a:spcPts val="0"/>
              </a:spcBef>
              <a:spcAft>
                <a:spcPts val="0"/>
              </a:spcAft>
              <a:buClr>
                <a:schemeClr val="dk1"/>
              </a:buClr>
              <a:buSzPts val="1100"/>
              <a:buFont typeface="Arial"/>
              <a:buNone/>
            </a:pPr>
            <a:r>
              <a:t/>
            </a:r>
            <a:endParaRPr sz="1200">
              <a:solidFill>
                <a:schemeClr val="dk1"/>
              </a:solidFill>
            </a:endParaRPr>
          </a:p>
        </p:txBody>
      </p:sp>
      <p:sp>
        <p:nvSpPr>
          <p:cNvPr id="236" name="Google Shape;236;p35"/>
          <p:cNvSpPr/>
          <p:nvPr/>
        </p:nvSpPr>
        <p:spPr>
          <a:xfrm>
            <a:off x="4446800" y="2259900"/>
            <a:ext cx="1871400" cy="623700"/>
          </a:xfrm>
          <a:prstGeom prst="roundRect">
            <a:avLst>
              <a:gd fmla="val 16667" name="adj"/>
            </a:avLst>
          </a:prstGeom>
          <a:solidFill>
            <a:srgbClr val="D9D2E9"/>
          </a:solidFill>
          <a:ln cap="flat" cmpd="sng" w="952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rPr>
              <a:t>XGBoost</a:t>
            </a:r>
            <a:endParaRPr b="1" sz="1300">
              <a:solidFill>
                <a:schemeClr val="dk1"/>
              </a:solidFill>
            </a:endParaRPr>
          </a:p>
          <a:p>
            <a:pPr indent="0" lvl="0" marL="0" rtl="0" algn="ctr">
              <a:spcBef>
                <a:spcPts val="0"/>
              </a:spcBef>
              <a:spcAft>
                <a:spcPts val="0"/>
              </a:spcAft>
              <a:buNone/>
            </a:pPr>
            <a:r>
              <a:rPr lang="en" sz="1300">
                <a:solidFill>
                  <a:schemeClr val="dk1"/>
                </a:solidFill>
              </a:rPr>
              <a:t>Binary </a:t>
            </a:r>
            <a:endParaRPr sz="1300">
              <a:solidFill>
                <a:schemeClr val="dk1"/>
              </a:solidFill>
            </a:endParaRPr>
          </a:p>
          <a:p>
            <a:pPr indent="0" lvl="0" marL="0" rtl="0" algn="ctr">
              <a:spcBef>
                <a:spcPts val="0"/>
              </a:spcBef>
              <a:spcAft>
                <a:spcPts val="0"/>
              </a:spcAft>
              <a:buNone/>
            </a:pPr>
            <a:r>
              <a:rPr lang="en" sz="1100">
                <a:solidFill>
                  <a:schemeClr val="dk2"/>
                </a:solidFill>
              </a:rPr>
              <a:t>rain / snow</a:t>
            </a:r>
            <a:endParaRPr sz="1100">
              <a:solidFill>
                <a:schemeClr val="dk2"/>
              </a:solidFill>
            </a:endParaRPr>
          </a:p>
        </p:txBody>
      </p:sp>
      <p:sp>
        <p:nvSpPr>
          <p:cNvPr id="237" name="Google Shape;237;p35"/>
          <p:cNvSpPr/>
          <p:nvPr/>
        </p:nvSpPr>
        <p:spPr>
          <a:xfrm>
            <a:off x="7060003" y="1105000"/>
            <a:ext cx="1653600" cy="876000"/>
          </a:xfrm>
          <a:prstGeom prst="roundRect">
            <a:avLst>
              <a:gd fmla="val 16667" name="adj"/>
            </a:avLst>
          </a:prstGeom>
          <a:solidFill>
            <a:srgbClr val="FCE5CD"/>
          </a:solidFill>
          <a:ln cap="flat" cmpd="sng" w="9525">
            <a:solidFill>
              <a:srgbClr val="FFAB4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200">
                <a:solidFill>
                  <a:srgbClr val="000000"/>
                </a:solidFill>
              </a:rPr>
              <a:t>Testing </a:t>
            </a:r>
            <a:r>
              <a:rPr lang="en" sz="1200"/>
              <a:t>&amp; Evaluation</a:t>
            </a:r>
            <a:endParaRPr sz="1200"/>
          </a:p>
          <a:p>
            <a:pPr indent="0" lvl="0" marL="0" rtl="0" algn="ctr">
              <a:spcBef>
                <a:spcPts val="0"/>
              </a:spcBef>
              <a:spcAft>
                <a:spcPts val="0"/>
              </a:spcAft>
              <a:buClr>
                <a:srgbClr val="000000"/>
              </a:buClr>
              <a:buSzPts val="1100"/>
              <a:buFont typeface="Arial"/>
              <a:buNone/>
            </a:pPr>
            <a:r>
              <a:rPr lang="en" sz="1200">
                <a:solidFill>
                  <a:schemeClr val="dk2"/>
                </a:solidFill>
              </a:rPr>
              <a:t>hold-out test set</a:t>
            </a:r>
            <a:endParaRPr sz="1200">
              <a:solidFill>
                <a:schemeClr val="dk2"/>
              </a:solidFill>
            </a:endParaRPr>
          </a:p>
        </p:txBody>
      </p:sp>
      <p:cxnSp>
        <p:nvCxnSpPr>
          <p:cNvPr id="238" name="Google Shape;238;p35"/>
          <p:cNvCxnSpPr>
            <a:stCxn id="229" idx="3"/>
            <a:endCxn id="237" idx="1"/>
          </p:cNvCxnSpPr>
          <p:nvPr/>
        </p:nvCxnSpPr>
        <p:spPr>
          <a:xfrm flipH="1" rot="10800000">
            <a:off x="6609675" y="1543050"/>
            <a:ext cx="450300" cy="1517400"/>
          </a:xfrm>
          <a:prstGeom prst="straightConnector1">
            <a:avLst/>
          </a:prstGeom>
          <a:noFill/>
          <a:ln cap="flat" cmpd="sng" w="9525">
            <a:solidFill>
              <a:srgbClr val="595959"/>
            </a:solidFill>
            <a:prstDash val="solid"/>
            <a:round/>
            <a:headEnd len="med" w="med" type="none"/>
            <a:tailEnd len="med" w="med" type="triangle"/>
          </a:ln>
        </p:spPr>
      </p:cxnSp>
      <p:sp>
        <p:nvSpPr>
          <p:cNvPr id="239" name="Google Shape;239;p35"/>
          <p:cNvSpPr/>
          <p:nvPr/>
        </p:nvSpPr>
        <p:spPr>
          <a:xfrm>
            <a:off x="1823110" y="3216753"/>
            <a:ext cx="1653600" cy="786600"/>
          </a:xfrm>
          <a:prstGeom prst="roundRect">
            <a:avLst>
              <a:gd fmla="val 16667" name="adj"/>
            </a:avLst>
          </a:prstGeom>
          <a:solidFill>
            <a:srgbClr val="D9D2E9"/>
          </a:solidFill>
          <a:ln cap="flat" cmpd="sng" w="952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lang="en" sz="1300">
                <a:solidFill>
                  <a:srgbClr val="000000"/>
                </a:solidFill>
              </a:rPr>
              <a:t>Data Splitting</a:t>
            </a:r>
            <a:endParaRPr sz="1300">
              <a:solidFill>
                <a:srgbClr val="000000"/>
              </a:solidFill>
            </a:endParaRPr>
          </a:p>
          <a:p>
            <a:pPr indent="0" lvl="0" marL="0" rtl="0" algn="ctr">
              <a:lnSpc>
                <a:spcPct val="115000"/>
              </a:lnSpc>
              <a:spcBef>
                <a:spcPts val="0"/>
              </a:spcBef>
              <a:spcAft>
                <a:spcPts val="0"/>
              </a:spcAft>
              <a:buClr>
                <a:srgbClr val="000000"/>
              </a:buClr>
              <a:buSzPts val="1100"/>
              <a:buFont typeface="Arial"/>
              <a:buNone/>
            </a:pPr>
            <a:r>
              <a:rPr lang="en" sz="1000">
                <a:solidFill>
                  <a:schemeClr val="dk2"/>
                </a:solidFill>
              </a:rPr>
              <a:t>t</a:t>
            </a:r>
            <a:r>
              <a:rPr lang="en" sz="1000">
                <a:solidFill>
                  <a:schemeClr val="dk2"/>
                </a:solidFill>
              </a:rPr>
              <a:t>rain / test / val</a:t>
            </a:r>
            <a:endParaRPr sz="1000">
              <a:solidFill>
                <a:schemeClr val="dk2"/>
              </a:solidFill>
            </a:endParaRPr>
          </a:p>
          <a:p>
            <a:pPr indent="0" lvl="0" marL="0" rtl="0" algn="ctr">
              <a:lnSpc>
                <a:spcPct val="115000"/>
              </a:lnSpc>
              <a:spcBef>
                <a:spcPts val="0"/>
              </a:spcBef>
              <a:spcAft>
                <a:spcPts val="0"/>
              </a:spcAft>
              <a:buClr>
                <a:srgbClr val="000000"/>
              </a:buClr>
              <a:buSzPts val="1100"/>
              <a:buFont typeface="Arial"/>
              <a:buNone/>
            </a:pPr>
            <a:r>
              <a:rPr lang="en" sz="1000">
                <a:solidFill>
                  <a:schemeClr val="dk2"/>
                </a:solidFill>
              </a:rPr>
              <a:t>70 / 15 /</a:t>
            </a:r>
            <a:r>
              <a:rPr lang="en" sz="1000">
                <a:solidFill>
                  <a:schemeClr val="dk2"/>
                </a:solidFill>
              </a:rPr>
              <a:t> </a:t>
            </a:r>
            <a:r>
              <a:rPr lang="en" sz="1000">
                <a:solidFill>
                  <a:schemeClr val="dk2"/>
                </a:solidFill>
              </a:rPr>
              <a:t>15</a:t>
            </a:r>
            <a:endParaRPr sz="1000">
              <a:solidFill>
                <a:schemeClr val="dk2"/>
              </a:solidFill>
            </a:endParaRPr>
          </a:p>
          <a:p>
            <a:pPr indent="0" lvl="0" marL="0" rtl="0" algn="ctr">
              <a:lnSpc>
                <a:spcPct val="115000"/>
              </a:lnSpc>
              <a:spcBef>
                <a:spcPts val="0"/>
              </a:spcBef>
              <a:spcAft>
                <a:spcPts val="0"/>
              </a:spcAft>
              <a:buClr>
                <a:srgbClr val="000000"/>
              </a:buClr>
              <a:buSzPts val="1100"/>
              <a:buFont typeface="Arial"/>
              <a:buNone/>
            </a:pPr>
            <a:r>
              <a:rPr i="1" lang="en" sz="1000">
                <a:solidFill>
                  <a:schemeClr val="dk2"/>
                </a:solidFill>
              </a:rPr>
              <a:t>s</a:t>
            </a:r>
            <a:r>
              <a:rPr i="1" lang="en" sz="1000">
                <a:solidFill>
                  <a:schemeClr val="dk2"/>
                </a:solidFill>
              </a:rPr>
              <a:t>tratified by phase</a:t>
            </a:r>
            <a:endParaRPr i="1" sz="1000">
              <a:solidFill>
                <a:schemeClr val="dk2"/>
              </a:solidFill>
            </a:endParaRPr>
          </a:p>
        </p:txBody>
      </p:sp>
      <p:sp>
        <p:nvSpPr>
          <p:cNvPr id="240" name="Google Shape;240;p35"/>
          <p:cNvSpPr txBox="1"/>
          <p:nvPr/>
        </p:nvSpPr>
        <p:spPr>
          <a:xfrm>
            <a:off x="344026" y="1357884"/>
            <a:ext cx="998700" cy="17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900">
                <a:solidFill>
                  <a:schemeClr val="dk1"/>
                </a:solidFill>
              </a:rPr>
              <a:t>PREDICTORS</a:t>
            </a:r>
            <a:endParaRPr i="1" sz="900">
              <a:solidFill>
                <a:schemeClr val="dk1"/>
              </a:solidFill>
            </a:endParaRPr>
          </a:p>
        </p:txBody>
      </p:sp>
      <p:sp>
        <p:nvSpPr>
          <p:cNvPr id="241" name="Google Shape;241;p35"/>
          <p:cNvSpPr txBox="1"/>
          <p:nvPr/>
        </p:nvSpPr>
        <p:spPr>
          <a:xfrm>
            <a:off x="1813229" y="1891901"/>
            <a:ext cx="1706700" cy="21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900">
                <a:solidFill>
                  <a:schemeClr val="dk1"/>
                </a:solidFill>
              </a:rPr>
              <a:t>LABELS (TARGET)</a:t>
            </a:r>
            <a:endParaRPr i="1" sz="900">
              <a:solidFill>
                <a:schemeClr val="dk1"/>
              </a:solidFill>
            </a:endParaRPr>
          </a:p>
        </p:txBody>
      </p:sp>
      <p:sp>
        <p:nvSpPr>
          <p:cNvPr id="242" name="Google Shape;242;p35"/>
          <p:cNvSpPr/>
          <p:nvPr/>
        </p:nvSpPr>
        <p:spPr>
          <a:xfrm>
            <a:off x="4406175" y="1598125"/>
            <a:ext cx="1952400" cy="422400"/>
          </a:xfrm>
          <a:prstGeom prst="roundRect">
            <a:avLst>
              <a:gd fmla="val 16667" name="adj"/>
            </a:avLst>
          </a:prstGeom>
          <a:solidFill>
            <a:srgbClr val="D9EAD3"/>
          </a:solidFill>
          <a:ln cap="flat" cmpd="sng" w="952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Class Weighting</a:t>
            </a:r>
            <a:endParaRPr/>
          </a:p>
        </p:txBody>
      </p:sp>
      <p:sp>
        <p:nvSpPr>
          <p:cNvPr id="243" name="Google Shape;243;p35"/>
          <p:cNvSpPr/>
          <p:nvPr/>
        </p:nvSpPr>
        <p:spPr>
          <a:xfrm>
            <a:off x="1823060" y="2148228"/>
            <a:ext cx="1653600" cy="786600"/>
          </a:xfrm>
          <a:prstGeom prst="roundRect">
            <a:avLst>
              <a:gd fmla="val 16667" name="adj"/>
            </a:avLst>
          </a:prstGeom>
          <a:solidFill>
            <a:srgbClr val="D0E0E3"/>
          </a:solidFill>
          <a:ln cap="flat" cmpd="sng" w="9525">
            <a:solidFill>
              <a:srgbClr val="0097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lang="en" sz="1300"/>
              <a:t>MRoS Observations </a:t>
            </a:r>
            <a:r>
              <a:rPr i="1" lang="en" sz="1300">
                <a:solidFill>
                  <a:schemeClr val="dk2"/>
                </a:solidFill>
              </a:rPr>
              <a:t>(points)</a:t>
            </a:r>
            <a:endParaRPr i="1" sz="1200">
              <a:solidFill>
                <a:schemeClr val="dk2"/>
              </a:solidFill>
            </a:endParaRPr>
          </a:p>
        </p:txBody>
      </p:sp>
      <p:cxnSp>
        <p:nvCxnSpPr>
          <p:cNvPr id="244" name="Google Shape;244;p35"/>
          <p:cNvCxnSpPr>
            <a:stCxn id="243" idx="2"/>
            <a:endCxn id="239" idx="0"/>
          </p:cNvCxnSpPr>
          <p:nvPr/>
        </p:nvCxnSpPr>
        <p:spPr>
          <a:xfrm>
            <a:off x="2649860" y="2934828"/>
            <a:ext cx="0" cy="282000"/>
          </a:xfrm>
          <a:prstGeom prst="straightConnector1">
            <a:avLst/>
          </a:prstGeom>
          <a:noFill/>
          <a:ln cap="flat" cmpd="sng" w="9525">
            <a:solidFill>
              <a:srgbClr val="595959"/>
            </a:solidFill>
            <a:prstDash val="solid"/>
            <a:round/>
            <a:headEnd len="med" w="med" type="none"/>
            <a:tailEnd len="med" w="med" type="triangle"/>
          </a:ln>
        </p:spPr>
      </p:cxnSp>
      <p:sp>
        <p:nvSpPr>
          <p:cNvPr id="245" name="Google Shape;245;p35"/>
          <p:cNvSpPr/>
          <p:nvPr/>
        </p:nvSpPr>
        <p:spPr>
          <a:xfrm>
            <a:off x="4365225" y="3124025"/>
            <a:ext cx="2034600" cy="712500"/>
          </a:xfrm>
          <a:prstGeom prst="roundRect">
            <a:avLst>
              <a:gd fmla="val 16667" name="adj"/>
            </a:avLst>
          </a:prstGeom>
          <a:solidFill>
            <a:srgbClr val="D9EAD3"/>
          </a:solidFill>
          <a:ln cap="flat" cmpd="sng" w="952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Calibration</a:t>
            </a:r>
            <a:br>
              <a:rPr lang="en"/>
            </a:br>
            <a:r>
              <a:rPr lang="en" sz="1000">
                <a:solidFill>
                  <a:srgbClr val="595959"/>
                </a:solidFill>
              </a:rPr>
              <a:t>Isotonic regression &amp; betacal</a:t>
            </a:r>
            <a:endParaRPr sz="1000">
              <a:solidFill>
                <a:srgbClr val="595959"/>
              </a:solidFill>
            </a:endParaRPr>
          </a:p>
        </p:txBody>
      </p:sp>
      <p:sp>
        <p:nvSpPr>
          <p:cNvPr id="246" name="Google Shape;246;p35"/>
          <p:cNvSpPr/>
          <p:nvPr/>
        </p:nvSpPr>
        <p:spPr>
          <a:xfrm>
            <a:off x="4406325" y="4076950"/>
            <a:ext cx="1952400" cy="712500"/>
          </a:xfrm>
          <a:prstGeom prst="roundRect">
            <a:avLst>
              <a:gd fmla="val 16667" name="adj"/>
            </a:avLst>
          </a:prstGeom>
          <a:solidFill>
            <a:srgbClr val="D9EAD3"/>
          </a:solidFill>
          <a:ln cap="flat" cmpd="sng" w="952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“Mix” Thresholding</a:t>
            </a:r>
            <a:endParaRPr/>
          </a:p>
          <a:p>
            <a:pPr indent="0" lvl="0" marL="0" rtl="0" algn="ctr">
              <a:spcBef>
                <a:spcPts val="0"/>
              </a:spcBef>
              <a:spcAft>
                <a:spcPts val="0"/>
              </a:spcAft>
              <a:buNone/>
            </a:pPr>
            <a:r>
              <a:rPr lang="en" sz="1000">
                <a:solidFill>
                  <a:schemeClr val="dk2"/>
                </a:solidFill>
              </a:rPr>
              <a:t>Gaussian</a:t>
            </a:r>
            <a:r>
              <a:rPr lang="en" sz="1000">
                <a:solidFill>
                  <a:schemeClr val="dk2"/>
                </a:solidFill>
              </a:rPr>
              <a:t>-half band</a:t>
            </a:r>
            <a:endParaRPr sz="1000">
              <a:solidFill>
                <a:schemeClr val="dk2"/>
              </a:solidFill>
            </a:endParaRPr>
          </a:p>
          <a:p>
            <a:pPr indent="0" lvl="0" marL="0" rtl="0" algn="ctr">
              <a:spcBef>
                <a:spcPts val="0"/>
              </a:spcBef>
              <a:spcAft>
                <a:spcPts val="0"/>
              </a:spcAft>
              <a:buNone/>
            </a:pPr>
            <a:r>
              <a:rPr lang="en" sz="1000">
                <a:solidFill>
                  <a:schemeClr val="dk2"/>
                </a:solidFill>
              </a:rPr>
              <a:t>T</a:t>
            </a:r>
            <a:r>
              <a:rPr lang="en" sz="1000">
                <a:solidFill>
                  <a:schemeClr val="dk2"/>
                </a:solidFill>
              </a:rPr>
              <a:t>wet</a:t>
            </a:r>
            <a:r>
              <a:rPr lang="en" sz="1000">
                <a:solidFill>
                  <a:schemeClr val="dk2"/>
                </a:solidFill>
              </a:rPr>
              <a:t> conditioned</a:t>
            </a:r>
            <a:endParaRPr sz="1000">
              <a:solidFill>
                <a:schemeClr val="dk2"/>
              </a:solidFill>
            </a:endParaRPr>
          </a:p>
        </p:txBody>
      </p:sp>
      <p:cxnSp>
        <p:nvCxnSpPr>
          <p:cNvPr id="247" name="Google Shape;247;p35"/>
          <p:cNvCxnSpPr>
            <a:stCxn id="242" idx="2"/>
            <a:endCxn id="236" idx="0"/>
          </p:cNvCxnSpPr>
          <p:nvPr/>
        </p:nvCxnSpPr>
        <p:spPr>
          <a:xfrm>
            <a:off x="5382375" y="2020525"/>
            <a:ext cx="0" cy="239400"/>
          </a:xfrm>
          <a:prstGeom prst="straightConnector1">
            <a:avLst/>
          </a:prstGeom>
          <a:noFill/>
          <a:ln cap="flat" cmpd="sng" w="9525">
            <a:solidFill>
              <a:srgbClr val="595959"/>
            </a:solidFill>
            <a:prstDash val="solid"/>
            <a:round/>
            <a:headEnd len="med" w="med" type="none"/>
            <a:tailEnd len="med" w="med" type="triangle"/>
          </a:ln>
        </p:spPr>
      </p:cxnSp>
      <p:cxnSp>
        <p:nvCxnSpPr>
          <p:cNvPr id="248" name="Google Shape;248;p35"/>
          <p:cNvCxnSpPr>
            <a:stCxn id="236" idx="2"/>
            <a:endCxn id="245" idx="0"/>
          </p:cNvCxnSpPr>
          <p:nvPr/>
        </p:nvCxnSpPr>
        <p:spPr>
          <a:xfrm>
            <a:off x="5382500" y="2883600"/>
            <a:ext cx="0" cy="240300"/>
          </a:xfrm>
          <a:prstGeom prst="straightConnector1">
            <a:avLst/>
          </a:prstGeom>
          <a:noFill/>
          <a:ln cap="flat" cmpd="sng" w="9525">
            <a:solidFill>
              <a:srgbClr val="595959"/>
            </a:solidFill>
            <a:prstDash val="solid"/>
            <a:round/>
            <a:headEnd len="med" w="med" type="none"/>
            <a:tailEnd len="med" w="med" type="triangle"/>
          </a:ln>
        </p:spPr>
      </p:cxnSp>
      <p:cxnSp>
        <p:nvCxnSpPr>
          <p:cNvPr id="249" name="Google Shape;249;p35"/>
          <p:cNvCxnSpPr>
            <a:stCxn id="245" idx="2"/>
            <a:endCxn id="246" idx="0"/>
          </p:cNvCxnSpPr>
          <p:nvPr/>
        </p:nvCxnSpPr>
        <p:spPr>
          <a:xfrm>
            <a:off x="5382525" y="3836525"/>
            <a:ext cx="0" cy="240300"/>
          </a:xfrm>
          <a:prstGeom prst="straightConnector1">
            <a:avLst/>
          </a:prstGeom>
          <a:noFill/>
          <a:ln cap="flat" cmpd="sng" w="9525">
            <a:solidFill>
              <a:srgbClr val="595959"/>
            </a:solidFill>
            <a:prstDash val="solid"/>
            <a:round/>
            <a:headEnd len="med" w="med" type="none"/>
            <a:tailEnd len="med" w="med" type="triangle"/>
          </a:ln>
        </p:spPr>
      </p:cxnSp>
      <p:sp>
        <p:nvSpPr>
          <p:cNvPr id="250" name="Google Shape;250;p35"/>
          <p:cNvSpPr/>
          <p:nvPr/>
        </p:nvSpPr>
        <p:spPr>
          <a:xfrm>
            <a:off x="7314025" y="2543052"/>
            <a:ext cx="1178400" cy="1342800"/>
          </a:xfrm>
          <a:prstGeom prst="roundRect">
            <a:avLst>
              <a:gd fmla="val 16667" name="adj"/>
            </a:avLst>
          </a:prstGeom>
          <a:solidFill>
            <a:srgbClr val="D0E0E3"/>
          </a:solidFill>
          <a:ln cap="flat" cmpd="sng" w="9525">
            <a:solidFill>
              <a:srgbClr val="0097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000"/>
              </a:spcBef>
              <a:spcAft>
                <a:spcPts val="0"/>
              </a:spcAft>
              <a:buClr>
                <a:srgbClr val="000000"/>
              </a:buClr>
              <a:buSzPts val="1100"/>
              <a:buFont typeface="Arial"/>
              <a:buNone/>
            </a:pPr>
            <a:r>
              <a:rPr lang="en" sz="1300"/>
              <a:t>p(rain)</a:t>
            </a:r>
            <a:endParaRPr sz="1300"/>
          </a:p>
          <a:p>
            <a:pPr indent="0" lvl="0" marL="0" rtl="0" algn="ctr">
              <a:lnSpc>
                <a:spcPct val="115000"/>
              </a:lnSpc>
              <a:spcBef>
                <a:spcPts val="1000"/>
              </a:spcBef>
              <a:spcAft>
                <a:spcPts val="0"/>
              </a:spcAft>
              <a:buClr>
                <a:srgbClr val="000000"/>
              </a:buClr>
              <a:buSzPts val="1100"/>
              <a:buFont typeface="Arial"/>
              <a:buNone/>
            </a:pPr>
            <a:r>
              <a:rPr lang="en" sz="1300"/>
              <a:t>p(snow)</a:t>
            </a:r>
            <a:endParaRPr sz="1300"/>
          </a:p>
          <a:p>
            <a:pPr indent="0" lvl="0" marL="0" rtl="0" algn="ctr">
              <a:lnSpc>
                <a:spcPct val="115000"/>
              </a:lnSpc>
              <a:spcBef>
                <a:spcPts val="1000"/>
              </a:spcBef>
              <a:spcAft>
                <a:spcPts val="0"/>
              </a:spcAft>
              <a:buClr>
                <a:srgbClr val="000000"/>
              </a:buClr>
              <a:buSzPts val="1100"/>
              <a:buFont typeface="Arial"/>
              <a:buNone/>
            </a:pPr>
            <a:r>
              <a:rPr lang="en" sz="1300"/>
              <a:t>p(mix) </a:t>
            </a:r>
            <a:r>
              <a:rPr i="1" lang="en" sz="1100">
                <a:solidFill>
                  <a:schemeClr val="dk2"/>
                </a:solidFill>
              </a:rPr>
              <a:t>derived</a:t>
            </a:r>
            <a:endParaRPr i="1" sz="1100">
              <a:solidFill>
                <a:schemeClr val="dk2"/>
              </a:solidFill>
            </a:endParaRPr>
          </a:p>
        </p:txBody>
      </p:sp>
      <p:sp>
        <p:nvSpPr>
          <p:cNvPr id="251" name="Google Shape;251;p35"/>
          <p:cNvSpPr/>
          <p:nvPr/>
        </p:nvSpPr>
        <p:spPr>
          <a:xfrm>
            <a:off x="7207450" y="4216650"/>
            <a:ext cx="1351200" cy="786600"/>
          </a:xfrm>
          <a:prstGeom prst="roundRect">
            <a:avLst>
              <a:gd fmla="val 16667" name="adj"/>
            </a:avLst>
          </a:prstGeom>
          <a:solidFill>
            <a:srgbClr val="FCE5CD"/>
          </a:solidFill>
          <a:ln cap="flat" cmpd="sng" w="9525">
            <a:solidFill>
              <a:srgbClr val="FFAB4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300">
                <a:solidFill>
                  <a:schemeClr val="dk1"/>
                </a:solidFill>
              </a:rPr>
              <a:t>Feature Interpretation</a:t>
            </a:r>
            <a:endParaRPr sz="1300">
              <a:solidFill>
                <a:schemeClr val="dk1"/>
              </a:solidFill>
            </a:endParaRPr>
          </a:p>
          <a:p>
            <a:pPr indent="0" lvl="0" marL="0" rtl="0" algn="ctr">
              <a:spcBef>
                <a:spcPts val="0"/>
              </a:spcBef>
              <a:spcAft>
                <a:spcPts val="0"/>
              </a:spcAft>
              <a:buClr>
                <a:schemeClr val="dk1"/>
              </a:buClr>
              <a:buSzPts val="1100"/>
              <a:buFont typeface="Arial"/>
              <a:buNone/>
            </a:pPr>
            <a:r>
              <a:rPr lang="en" sz="1100">
                <a:solidFill>
                  <a:schemeClr val="dk2"/>
                </a:solidFill>
              </a:rPr>
              <a:t>SHAP</a:t>
            </a:r>
            <a:endParaRPr>
              <a:solidFill>
                <a:schemeClr val="dk2"/>
              </a:solidFill>
            </a:endParaRPr>
          </a:p>
        </p:txBody>
      </p:sp>
      <p:cxnSp>
        <p:nvCxnSpPr>
          <p:cNvPr id="252" name="Google Shape;252;p35"/>
          <p:cNvCxnSpPr>
            <a:stCxn id="237" idx="2"/>
            <a:endCxn id="226" idx="0"/>
          </p:cNvCxnSpPr>
          <p:nvPr/>
        </p:nvCxnSpPr>
        <p:spPr>
          <a:xfrm flipH="1">
            <a:off x="7882903" y="1981000"/>
            <a:ext cx="3900" cy="195900"/>
          </a:xfrm>
          <a:prstGeom prst="straightConnector1">
            <a:avLst/>
          </a:prstGeom>
          <a:noFill/>
          <a:ln cap="flat" cmpd="sng" w="9525">
            <a:solidFill>
              <a:srgbClr val="595959"/>
            </a:solidFill>
            <a:prstDash val="solid"/>
            <a:round/>
            <a:headEnd len="med" w="med" type="none"/>
            <a:tailEnd len="med" w="med" type="triangle"/>
          </a:ln>
        </p:spPr>
      </p:cxnSp>
      <p:cxnSp>
        <p:nvCxnSpPr>
          <p:cNvPr id="253" name="Google Shape;253;p35"/>
          <p:cNvCxnSpPr>
            <a:stCxn id="226" idx="2"/>
            <a:endCxn id="251" idx="0"/>
          </p:cNvCxnSpPr>
          <p:nvPr/>
        </p:nvCxnSpPr>
        <p:spPr>
          <a:xfrm>
            <a:off x="7883050" y="4020877"/>
            <a:ext cx="0" cy="195900"/>
          </a:xfrm>
          <a:prstGeom prst="straightConnector1">
            <a:avLst/>
          </a:prstGeom>
          <a:noFill/>
          <a:ln cap="flat" cmpd="sng" w="9525">
            <a:solidFill>
              <a:srgbClr val="595959"/>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9" name="Google Shape;259;p36"/>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Predictors</a:t>
            </a:r>
            <a:endParaRPr/>
          </a:p>
        </p:txBody>
      </p:sp>
      <p:sp>
        <p:nvSpPr>
          <p:cNvPr id="260" name="Google Shape;260;p36"/>
          <p:cNvSpPr txBox="1"/>
          <p:nvPr/>
        </p:nvSpPr>
        <p:spPr>
          <a:xfrm>
            <a:off x="1690300" y="1284025"/>
            <a:ext cx="4325100" cy="3379200"/>
          </a:xfrm>
          <a:prstGeom prst="rect">
            <a:avLst/>
          </a:prstGeom>
          <a:noFill/>
          <a:ln>
            <a:noFill/>
          </a:ln>
        </p:spPr>
        <p:txBody>
          <a:bodyPr anchorCtr="0" anchor="t" bIns="91425" lIns="91425" spcFirstLastPara="1" rIns="91425" wrap="square" tIns="91425">
            <a:noAutofit/>
          </a:bodyPr>
          <a:lstStyle/>
          <a:p>
            <a:pPr indent="-215900" lvl="0" marL="2286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Stations:</a:t>
            </a:r>
            <a:endParaRPr sz="1600">
              <a:solidFill>
                <a:schemeClr val="dk1"/>
              </a:solidFill>
              <a:latin typeface="Roboto"/>
              <a:ea typeface="Roboto"/>
              <a:cs typeface="Roboto"/>
              <a:sym typeface="Roboto"/>
            </a:endParaRPr>
          </a:p>
          <a:p>
            <a:pPr indent="-330200" lvl="1" marL="914400" rtl="0" algn="l">
              <a:lnSpc>
                <a:spcPct val="115000"/>
              </a:lnSpc>
              <a:spcBef>
                <a:spcPts val="1000"/>
              </a:spcBef>
              <a:spcAft>
                <a:spcPts val="0"/>
              </a:spcAft>
              <a:buClr>
                <a:schemeClr val="dk1"/>
              </a:buClr>
              <a:buSzPts val="1600"/>
              <a:buFont typeface="Roboto"/>
              <a:buChar char="○"/>
            </a:pPr>
            <a:r>
              <a:rPr lang="en" sz="1600">
                <a:solidFill>
                  <a:schemeClr val="dk1"/>
                </a:solidFill>
                <a:latin typeface="Roboto"/>
                <a:ea typeface="Roboto"/>
                <a:cs typeface="Roboto"/>
                <a:sym typeface="Roboto"/>
              </a:rPr>
              <a:t>Dew-point temperature</a:t>
            </a:r>
            <a:endParaRPr i="1" sz="1600">
              <a:solidFill>
                <a:schemeClr val="dk1"/>
              </a:solidFill>
              <a:latin typeface="Roboto"/>
              <a:ea typeface="Roboto"/>
              <a:cs typeface="Roboto"/>
              <a:sym typeface="Roboto"/>
            </a:endParaRPr>
          </a:p>
          <a:p>
            <a:pPr indent="-330200" lvl="1" marL="9144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Wet-bulb temperature</a:t>
            </a:r>
            <a:endParaRPr sz="1600">
              <a:solidFill>
                <a:schemeClr val="dk1"/>
              </a:solidFill>
              <a:latin typeface="Roboto"/>
              <a:ea typeface="Roboto"/>
              <a:cs typeface="Roboto"/>
              <a:sym typeface="Roboto"/>
            </a:endParaRPr>
          </a:p>
          <a:p>
            <a:pPr indent="-330200" lvl="1" marL="9144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Air temperature</a:t>
            </a:r>
            <a:endParaRPr sz="1600">
              <a:solidFill>
                <a:schemeClr val="dk1"/>
              </a:solidFill>
              <a:latin typeface="Roboto"/>
              <a:ea typeface="Roboto"/>
              <a:cs typeface="Roboto"/>
              <a:sym typeface="Roboto"/>
            </a:endParaRPr>
          </a:p>
          <a:p>
            <a:pPr indent="-215900" lvl="0" marL="228600" rtl="0" algn="l">
              <a:lnSpc>
                <a:spcPct val="115000"/>
              </a:lnSpc>
              <a:spcBef>
                <a:spcPts val="0"/>
              </a:spcBef>
              <a:spcAft>
                <a:spcPts val="0"/>
              </a:spcAft>
              <a:buClr>
                <a:schemeClr val="dk1"/>
              </a:buClr>
              <a:buSzPts val="1600"/>
              <a:buFont typeface="Roboto"/>
              <a:buChar char="●"/>
            </a:pPr>
            <a:r>
              <a:rPr lang="en" sz="1600">
                <a:solidFill>
                  <a:schemeClr val="dk1"/>
                </a:solidFill>
                <a:latin typeface="Roboto"/>
                <a:ea typeface="Roboto"/>
                <a:cs typeface="Roboto"/>
                <a:sym typeface="Roboto"/>
              </a:rPr>
              <a:t>MRoS leave-one-out-cross-validated (LOOCV) surfaces</a:t>
            </a:r>
            <a:endParaRPr sz="1600">
              <a:solidFill>
                <a:schemeClr val="dk1"/>
              </a:solidFill>
              <a:latin typeface="Roboto"/>
              <a:ea typeface="Roboto"/>
              <a:cs typeface="Roboto"/>
              <a:sym typeface="Roboto"/>
            </a:endParaRPr>
          </a:p>
          <a:p>
            <a:pPr indent="0" lvl="0" marL="457200" rtl="0" algn="l">
              <a:lnSpc>
                <a:spcPct val="115000"/>
              </a:lnSpc>
              <a:spcBef>
                <a:spcPts val="1000"/>
              </a:spcBef>
              <a:spcAft>
                <a:spcPts val="0"/>
              </a:spcAft>
              <a:buNone/>
            </a:pPr>
            <a:r>
              <a:t/>
            </a:r>
            <a:endParaRPr sz="1600">
              <a:solidFill>
                <a:schemeClr val="dk1"/>
              </a:solidFill>
              <a:latin typeface="Roboto"/>
              <a:ea typeface="Roboto"/>
              <a:cs typeface="Roboto"/>
              <a:sym typeface="Roboto"/>
            </a:endParaRPr>
          </a:p>
          <a:p>
            <a:pPr indent="-215900" lvl="0" marL="228600" rtl="0" algn="l">
              <a:lnSpc>
                <a:spcPct val="115000"/>
              </a:lnSpc>
              <a:spcBef>
                <a:spcPts val="1000"/>
              </a:spcBef>
              <a:spcAft>
                <a:spcPts val="0"/>
              </a:spcAft>
              <a:buClr>
                <a:schemeClr val="dk1"/>
              </a:buClr>
              <a:buSzPts val="1600"/>
              <a:buFont typeface="Roboto"/>
              <a:buChar char="●"/>
            </a:pPr>
            <a:r>
              <a:rPr lang="en" sz="1600">
                <a:solidFill>
                  <a:schemeClr val="dk1"/>
                </a:solidFill>
                <a:latin typeface="Roboto"/>
                <a:ea typeface="Roboto"/>
                <a:cs typeface="Roboto"/>
                <a:sym typeface="Roboto"/>
              </a:rPr>
              <a:t>IMERG: probability of liquid precip</a:t>
            </a:r>
            <a:endParaRPr i="1" sz="1600">
              <a:solidFill>
                <a:schemeClr val="dk1"/>
              </a:solidFill>
              <a:latin typeface="Roboto"/>
              <a:ea typeface="Roboto"/>
              <a:cs typeface="Roboto"/>
              <a:sym typeface="Roboto"/>
            </a:endParaRPr>
          </a:p>
          <a:p>
            <a:pPr indent="-215900" lvl="0" marL="228600" rtl="0" algn="l">
              <a:lnSpc>
                <a:spcPct val="115000"/>
              </a:lnSpc>
              <a:spcBef>
                <a:spcPts val="1000"/>
              </a:spcBef>
              <a:spcAft>
                <a:spcPts val="1000"/>
              </a:spcAft>
              <a:buClr>
                <a:schemeClr val="dk1"/>
              </a:buClr>
              <a:buSzPts val="1600"/>
              <a:buFont typeface="Roboto"/>
              <a:buChar char="●"/>
            </a:pPr>
            <a:r>
              <a:rPr lang="en" sz="1600">
                <a:solidFill>
                  <a:schemeClr val="dk1"/>
                </a:solidFill>
                <a:latin typeface="Roboto"/>
                <a:ea typeface="Roboto"/>
                <a:cs typeface="Roboto"/>
                <a:sym typeface="Roboto"/>
              </a:rPr>
              <a:t>DEM: Elevation</a:t>
            </a:r>
            <a:endParaRPr sz="1600">
              <a:solidFill>
                <a:schemeClr val="dk1"/>
              </a:solidFill>
              <a:latin typeface="Roboto"/>
              <a:ea typeface="Roboto"/>
              <a:cs typeface="Roboto"/>
              <a:sym typeface="Roboto"/>
            </a:endParaRPr>
          </a:p>
        </p:txBody>
      </p:sp>
      <p:sp>
        <p:nvSpPr>
          <p:cNvPr id="261" name="Google Shape;261;p36"/>
          <p:cNvSpPr/>
          <p:nvPr/>
        </p:nvSpPr>
        <p:spPr>
          <a:xfrm>
            <a:off x="6015300" y="1341950"/>
            <a:ext cx="233400" cy="18987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62" name="Google Shape;262;p36"/>
          <p:cNvSpPr/>
          <p:nvPr/>
        </p:nvSpPr>
        <p:spPr>
          <a:xfrm>
            <a:off x="6015300" y="3562075"/>
            <a:ext cx="233400" cy="11970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63" name="Google Shape;263;p36"/>
          <p:cNvSpPr txBox="1"/>
          <p:nvPr/>
        </p:nvSpPr>
        <p:spPr>
          <a:xfrm>
            <a:off x="6438900" y="2075750"/>
            <a:ext cx="22125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Interpolated</a:t>
            </a:r>
            <a:endParaRPr/>
          </a:p>
        </p:txBody>
      </p:sp>
      <p:sp>
        <p:nvSpPr>
          <p:cNvPr id="264" name="Google Shape;264;p36"/>
          <p:cNvSpPr txBox="1"/>
          <p:nvPr/>
        </p:nvSpPr>
        <p:spPr>
          <a:xfrm>
            <a:off x="6438900" y="3945025"/>
            <a:ext cx="22125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Gridded products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7"/>
          <p:cNvSpPr txBox="1"/>
          <p:nvPr>
            <p:ph type="title"/>
          </p:nvPr>
        </p:nvSpPr>
        <p:spPr>
          <a:xfrm>
            <a:off x="311700" y="193250"/>
            <a:ext cx="7874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 sz="2310"/>
              <a:t>Study Areas: Sierra Nevada (CA) &amp; Rocky Mountains (CO)</a:t>
            </a:r>
            <a:endParaRPr sz="2310"/>
          </a:p>
          <a:p>
            <a:pPr indent="0" lvl="0" marL="0" rtl="0" algn="l">
              <a:spcBef>
                <a:spcPts val="0"/>
              </a:spcBef>
              <a:spcAft>
                <a:spcPts val="0"/>
              </a:spcAft>
              <a:buSzPts val="990"/>
              <a:buNone/>
            </a:pPr>
            <a:r>
              <a:t/>
            </a:r>
            <a:endParaRPr sz="2520"/>
          </a:p>
        </p:txBody>
      </p:sp>
      <p:sp>
        <p:nvSpPr>
          <p:cNvPr id="270" name="Google Shape;270;p37"/>
          <p:cNvSpPr/>
          <p:nvPr/>
        </p:nvSpPr>
        <p:spPr>
          <a:xfrm>
            <a:off x="3011826" y="1041626"/>
            <a:ext cx="72600" cy="88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271" name="Google Shape;271;p37"/>
          <p:cNvPicPr preferRelativeResize="0"/>
          <p:nvPr/>
        </p:nvPicPr>
        <p:blipFill>
          <a:blip r:embed="rId4">
            <a:alphaModFix/>
          </a:blip>
          <a:stretch>
            <a:fillRect/>
          </a:stretch>
        </p:blipFill>
        <p:spPr>
          <a:xfrm>
            <a:off x="908000" y="1272326"/>
            <a:ext cx="7328008" cy="3708274"/>
          </a:xfrm>
          <a:prstGeom prst="rect">
            <a:avLst/>
          </a:prstGeom>
          <a:noFill/>
          <a:ln>
            <a:noFill/>
          </a:ln>
        </p:spPr>
      </p:pic>
      <p:pic>
        <p:nvPicPr>
          <p:cNvPr id="272" name="Google Shape;272;p37"/>
          <p:cNvPicPr preferRelativeResize="0"/>
          <p:nvPr/>
        </p:nvPicPr>
        <p:blipFill>
          <a:blip r:embed="rId5">
            <a:alphaModFix/>
          </a:blip>
          <a:stretch>
            <a:fillRect/>
          </a:stretch>
        </p:blipFill>
        <p:spPr>
          <a:xfrm>
            <a:off x="930459" y="1688745"/>
            <a:ext cx="2393271" cy="3271125"/>
          </a:xfrm>
          <a:prstGeom prst="rect">
            <a:avLst/>
          </a:prstGeom>
          <a:noFill/>
          <a:ln>
            <a:noFill/>
          </a:ln>
        </p:spPr>
      </p:pic>
      <p:pic>
        <p:nvPicPr>
          <p:cNvPr id="273" name="Google Shape;273;p37"/>
          <p:cNvPicPr preferRelativeResize="0"/>
          <p:nvPr/>
        </p:nvPicPr>
        <p:blipFill>
          <a:blip r:embed="rId6">
            <a:alphaModFix/>
          </a:blip>
          <a:stretch>
            <a:fillRect/>
          </a:stretch>
        </p:blipFill>
        <p:spPr>
          <a:xfrm>
            <a:off x="3978100" y="1783023"/>
            <a:ext cx="3699199" cy="3166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9" name="Google Shape;279;p38"/>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MRoS Datasets</a:t>
            </a:r>
            <a:endParaRPr/>
          </a:p>
        </p:txBody>
      </p:sp>
      <p:pic>
        <p:nvPicPr>
          <p:cNvPr id="280" name="Google Shape;280;p38"/>
          <p:cNvPicPr preferRelativeResize="0"/>
          <p:nvPr/>
        </p:nvPicPr>
        <p:blipFill>
          <a:blip r:embed="rId3">
            <a:alphaModFix/>
          </a:blip>
          <a:stretch>
            <a:fillRect/>
          </a:stretch>
        </p:blipFill>
        <p:spPr>
          <a:xfrm>
            <a:off x="0" y="1645265"/>
            <a:ext cx="9144003" cy="279943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6" name="Google Shape;286;p39"/>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MRoS Datasets</a:t>
            </a:r>
            <a:endParaRPr/>
          </a:p>
        </p:txBody>
      </p:sp>
      <p:pic>
        <p:nvPicPr>
          <p:cNvPr id="287" name="Google Shape;287;p39"/>
          <p:cNvPicPr preferRelativeResize="0"/>
          <p:nvPr/>
        </p:nvPicPr>
        <p:blipFill>
          <a:blip r:embed="rId4">
            <a:alphaModFix/>
          </a:blip>
          <a:stretch>
            <a:fillRect/>
          </a:stretch>
        </p:blipFill>
        <p:spPr>
          <a:xfrm>
            <a:off x="-3" y="1713635"/>
            <a:ext cx="9144003" cy="266104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3" name="Google Shape;293;p40"/>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294" name="Google Shape;294;p40"/>
          <p:cNvPicPr preferRelativeResize="0"/>
          <p:nvPr/>
        </p:nvPicPr>
        <p:blipFill>
          <a:blip r:embed="rId3">
            <a:alphaModFix/>
          </a:blip>
          <a:stretch>
            <a:fillRect/>
          </a:stretch>
        </p:blipFill>
        <p:spPr>
          <a:xfrm>
            <a:off x="0" y="765940"/>
            <a:ext cx="9144003" cy="2799434"/>
          </a:xfrm>
          <a:prstGeom prst="rect">
            <a:avLst/>
          </a:prstGeom>
          <a:noFill/>
          <a:ln>
            <a:noFill/>
          </a:ln>
        </p:spPr>
      </p:pic>
      <p:pic>
        <p:nvPicPr>
          <p:cNvPr id="295" name="Google Shape;295;p40"/>
          <p:cNvPicPr preferRelativeResize="0"/>
          <p:nvPr/>
        </p:nvPicPr>
        <p:blipFill rotWithShape="1">
          <a:blip r:embed="rId4">
            <a:alphaModFix/>
          </a:blip>
          <a:srcRect b="0" l="0" r="0" t="15190"/>
          <a:stretch/>
        </p:blipFill>
        <p:spPr>
          <a:xfrm>
            <a:off x="37820" y="3260083"/>
            <a:ext cx="9144003" cy="2256750"/>
          </a:xfrm>
          <a:prstGeom prst="rect">
            <a:avLst/>
          </a:prstGeom>
          <a:noFill/>
          <a:ln>
            <a:noFill/>
          </a:ln>
        </p:spPr>
      </p:pic>
      <p:sp>
        <p:nvSpPr>
          <p:cNvPr id="296" name="Google Shape;296;p40"/>
          <p:cNvSpPr txBox="1"/>
          <p:nvPr/>
        </p:nvSpPr>
        <p:spPr>
          <a:xfrm>
            <a:off x="3933275" y="5264525"/>
            <a:ext cx="10590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M M M</a:t>
            </a:r>
            <a:endParaRPr sz="1800">
              <a:solidFill>
                <a:schemeClr val="dk1"/>
              </a:solidFill>
              <a:latin typeface="Roboto"/>
              <a:ea typeface="Roboto"/>
              <a:cs typeface="Roboto"/>
              <a:sym typeface="Roboto"/>
            </a:endParaRPr>
          </a:p>
        </p:txBody>
      </p:sp>
      <p:sp>
        <p:nvSpPr>
          <p:cNvPr id="297" name="Google Shape;297;p40"/>
          <p:cNvSpPr txBox="1"/>
          <p:nvPr/>
        </p:nvSpPr>
        <p:spPr>
          <a:xfrm>
            <a:off x="3933275" y="5612475"/>
            <a:ext cx="7338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2022</a:t>
            </a:r>
            <a:endParaRPr sz="1800">
              <a:solidFill>
                <a:schemeClr val="dk1"/>
              </a:solidFill>
              <a:latin typeface="Roboto"/>
              <a:ea typeface="Roboto"/>
              <a:cs typeface="Roboto"/>
              <a:sym typeface="Roboto"/>
            </a:endParaRPr>
          </a:p>
        </p:txBody>
      </p:sp>
      <p:sp>
        <p:nvSpPr>
          <p:cNvPr id="298" name="Google Shape;298;p40"/>
          <p:cNvSpPr txBox="1"/>
          <p:nvPr/>
        </p:nvSpPr>
        <p:spPr>
          <a:xfrm>
            <a:off x="5129525" y="5658125"/>
            <a:ext cx="7338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2023</a:t>
            </a:r>
            <a:endParaRPr sz="1800">
              <a:solidFill>
                <a:schemeClr val="dk1"/>
              </a:solidFill>
              <a:latin typeface="Roboto"/>
              <a:ea typeface="Roboto"/>
              <a:cs typeface="Roboto"/>
              <a:sym typeface="Roboto"/>
            </a:endParaRPr>
          </a:p>
        </p:txBody>
      </p:sp>
      <p:sp>
        <p:nvSpPr>
          <p:cNvPr id="299" name="Google Shape;299;p40"/>
          <p:cNvSpPr/>
          <p:nvPr/>
        </p:nvSpPr>
        <p:spPr>
          <a:xfrm>
            <a:off x="3762775" y="1339250"/>
            <a:ext cx="577800" cy="40230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0" name="Google Shape;300;p40"/>
          <p:cNvSpPr/>
          <p:nvPr/>
        </p:nvSpPr>
        <p:spPr>
          <a:xfrm>
            <a:off x="4436550" y="1339250"/>
            <a:ext cx="577800" cy="40230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4" name="Shape 304"/>
        <p:cNvGrpSpPr/>
        <p:nvPr/>
      </p:nvGrpSpPr>
      <p:grpSpPr>
        <a:xfrm>
          <a:off x="0" y="0"/>
          <a:ext cx="0" cy="0"/>
          <a:chOff x="0" y="0"/>
          <a:chExt cx="0" cy="0"/>
        </a:xfrm>
      </p:grpSpPr>
      <p:sp>
        <p:nvSpPr>
          <p:cNvPr id="305" name="Google Shape;30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6" name="Google Shape;306;p41"/>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Select Predictors: IDW-ed Surfaces</a:t>
            </a:r>
            <a:endParaRPr/>
          </a:p>
        </p:txBody>
      </p:sp>
      <p:pic>
        <p:nvPicPr>
          <p:cNvPr id="307" name="Google Shape;307;p41"/>
          <p:cNvPicPr preferRelativeResize="0"/>
          <p:nvPr/>
        </p:nvPicPr>
        <p:blipFill>
          <a:blip r:embed="rId3">
            <a:alphaModFix/>
          </a:blip>
          <a:stretch>
            <a:fillRect/>
          </a:stretch>
        </p:blipFill>
        <p:spPr>
          <a:xfrm>
            <a:off x="1035650" y="1145956"/>
            <a:ext cx="7072700" cy="379233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3" name="Google Shape;313;p42"/>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Select Predictors: Kriged Surfaces</a:t>
            </a:r>
            <a:endParaRPr/>
          </a:p>
        </p:txBody>
      </p:sp>
      <p:pic>
        <p:nvPicPr>
          <p:cNvPr id="314" name="Google Shape;314;p42"/>
          <p:cNvPicPr preferRelativeResize="0"/>
          <p:nvPr/>
        </p:nvPicPr>
        <p:blipFill>
          <a:blip r:embed="rId3">
            <a:alphaModFix/>
          </a:blip>
          <a:stretch>
            <a:fillRect/>
          </a:stretch>
        </p:blipFill>
        <p:spPr>
          <a:xfrm>
            <a:off x="1035638" y="1145950"/>
            <a:ext cx="7072723" cy="37923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0" name="Google Shape;320;p43"/>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Select Predictors: IDW-ed Surfaces</a:t>
            </a:r>
            <a:endParaRPr/>
          </a:p>
          <a:p>
            <a:pPr indent="0" lvl="0" marL="0" rtl="0" algn="l">
              <a:spcBef>
                <a:spcPts val="0"/>
              </a:spcBef>
              <a:spcAft>
                <a:spcPts val="0"/>
              </a:spcAft>
              <a:buNone/>
            </a:pPr>
            <a:r>
              <a:t/>
            </a:r>
            <a:endParaRPr/>
          </a:p>
        </p:txBody>
      </p:sp>
      <p:pic>
        <p:nvPicPr>
          <p:cNvPr id="321" name="Google Shape;321;p43"/>
          <p:cNvPicPr preferRelativeResize="0"/>
          <p:nvPr/>
        </p:nvPicPr>
        <p:blipFill>
          <a:blip r:embed="rId3">
            <a:alphaModFix/>
          </a:blip>
          <a:stretch>
            <a:fillRect/>
          </a:stretch>
        </p:blipFill>
        <p:spPr>
          <a:xfrm>
            <a:off x="686401" y="1122475"/>
            <a:ext cx="7543150" cy="3740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7" name="Google Shape;327;p44"/>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Predictors: Distribution figures</a:t>
            </a:r>
            <a:endParaRPr/>
          </a:p>
        </p:txBody>
      </p:sp>
      <p:pic>
        <p:nvPicPr>
          <p:cNvPr id="328" name="Google Shape;328;p44"/>
          <p:cNvPicPr preferRelativeResize="0"/>
          <p:nvPr/>
        </p:nvPicPr>
        <p:blipFill>
          <a:blip r:embed="rId3">
            <a:alphaModFix/>
          </a:blip>
          <a:stretch>
            <a:fillRect/>
          </a:stretch>
        </p:blipFill>
        <p:spPr>
          <a:xfrm>
            <a:off x="152400" y="1400750"/>
            <a:ext cx="8839199" cy="3262468"/>
          </a:xfrm>
          <a:prstGeom prst="rect">
            <a:avLst/>
          </a:prstGeom>
          <a:noFill/>
          <a:ln>
            <a:noFill/>
          </a:ln>
        </p:spPr>
      </p:pic>
      <p:sp>
        <p:nvSpPr>
          <p:cNvPr id="329" name="Google Shape;329;p44"/>
          <p:cNvSpPr txBox="1"/>
          <p:nvPr/>
        </p:nvSpPr>
        <p:spPr>
          <a:xfrm>
            <a:off x="400600" y="4607725"/>
            <a:ext cx="2156400" cy="50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Roboto"/>
                <a:ea typeface="Roboto"/>
                <a:cs typeface="Roboto"/>
                <a:sym typeface="Roboto"/>
              </a:rPr>
              <a:t>CA exhibits much wider variety of air temperature with elevation than CO</a:t>
            </a:r>
            <a:endParaRPr sz="800">
              <a:solidFill>
                <a:schemeClr val="dk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5" name="Google Shape;335;p45"/>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Predictors: Distribution figures</a:t>
            </a:r>
            <a:endParaRPr/>
          </a:p>
        </p:txBody>
      </p:sp>
      <p:pic>
        <p:nvPicPr>
          <p:cNvPr id="336" name="Google Shape;336;p45"/>
          <p:cNvPicPr preferRelativeResize="0"/>
          <p:nvPr/>
        </p:nvPicPr>
        <p:blipFill>
          <a:blip r:embed="rId3">
            <a:alphaModFix/>
          </a:blip>
          <a:stretch>
            <a:fillRect/>
          </a:stretch>
        </p:blipFill>
        <p:spPr>
          <a:xfrm>
            <a:off x="0" y="1390273"/>
            <a:ext cx="9144001" cy="3283430"/>
          </a:xfrm>
          <a:prstGeom prst="rect">
            <a:avLst/>
          </a:prstGeom>
          <a:noFill/>
          <a:ln>
            <a:noFill/>
          </a:ln>
        </p:spPr>
      </p:pic>
      <p:sp>
        <p:nvSpPr>
          <p:cNvPr id="337" name="Google Shape;337;p45"/>
          <p:cNvSpPr txBox="1"/>
          <p:nvPr/>
        </p:nvSpPr>
        <p:spPr>
          <a:xfrm>
            <a:off x="400600" y="4607725"/>
            <a:ext cx="2156400" cy="50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Roboto"/>
                <a:ea typeface="Roboto"/>
                <a:cs typeface="Roboto"/>
                <a:sym typeface="Roboto"/>
              </a:rPr>
              <a:t>CA exhibits much wider variety of air temperature with elevation than CO</a:t>
            </a:r>
            <a:endParaRPr sz="800">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3" name="Google Shape;343;p46"/>
          <p:cNvSpPr txBox="1"/>
          <p:nvPr>
            <p:ph type="title"/>
          </p:nvPr>
        </p:nvSpPr>
        <p:spPr>
          <a:xfrm>
            <a:off x="311700" y="133209"/>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Machine Learning</a:t>
            </a:r>
            <a:endParaRPr/>
          </a:p>
        </p:txBody>
      </p:sp>
      <p:sp>
        <p:nvSpPr>
          <p:cNvPr id="344" name="Google Shape;344;p46"/>
          <p:cNvSpPr txBox="1"/>
          <p:nvPr/>
        </p:nvSpPr>
        <p:spPr>
          <a:xfrm>
            <a:off x="366600" y="1229025"/>
            <a:ext cx="8410800" cy="262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1"/>
                </a:solidFill>
                <a:latin typeface="Roboto"/>
                <a:ea typeface="Roboto"/>
                <a:cs typeface="Roboto"/>
                <a:sym typeface="Roboto"/>
              </a:rPr>
              <a:t>Architectures we explored:</a:t>
            </a:r>
            <a:endParaRPr sz="1800">
              <a:solidFill>
                <a:schemeClr val="dk1"/>
              </a:solidFill>
              <a:latin typeface="Roboto"/>
              <a:ea typeface="Roboto"/>
              <a:cs typeface="Roboto"/>
              <a:sym typeface="Roboto"/>
            </a:endParaRPr>
          </a:p>
          <a:p>
            <a:pPr indent="-330200" lvl="0" marL="457200" rtl="0" algn="l">
              <a:lnSpc>
                <a:spcPct val="115000"/>
              </a:lnSpc>
              <a:spcBef>
                <a:spcPts val="1000"/>
              </a:spcBef>
              <a:spcAft>
                <a:spcPts val="0"/>
              </a:spcAft>
              <a:buClr>
                <a:schemeClr val="dk1"/>
              </a:buClr>
              <a:buSzPts val="1600"/>
              <a:buFont typeface="Roboto"/>
              <a:buAutoNum type="arabicPeriod"/>
            </a:pPr>
            <a:r>
              <a:rPr b="1" lang="en" sz="1600">
                <a:solidFill>
                  <a:schemeClr val="dk1"/>
                </a:solidFill>
                <a:latin typeface="Roboto"/>
                <a:ea typeface="Roboto"/>
                <a:cs typeface="Roboto"/>
                <a:sym typeface="Roboto"/>
              </a:rPr>
              <a:t>Multiclass </a:t>
            </a:r>
            <a:r>
              <a:rPr lang="en" sz="1600">
                <a:solidFill>
                  <a:schemeClr val="dk1"/>
                </a:solidFill>
                <a:latin typeface="Roboto"/>
                <a:ea typeface="Roboto"/>
                <a:cs typeface="Roboto"/>
                <a:sym typeface="Roboto"/>
              </a:rPr>
              <a:t>(rain/snow/mix) prediction of phase </a:t>
            </a:r>
            <a:r>
              <a:rPr i="1" lang="en" sz="1600">
                <a:solidFill>
                  <a:schemeClr val="dk1"/>
                </a:solidFill>
                <a:latin typeface="Roboto"/>
                <a:ea typeface="Roboto"/>
                <a:cs typeface="Roboto"/>
                <a:sym typeface="Roboto"/>
              </a:rPr>
              <a:t>probabilities</a:t>
            </a:r>
            <a:endParaRPr i="1" sz="1600">
              <a:solidFill>
                <a:schemeClr val="dk1"/>
              </a:solidFill>
              <a:latin typeface="Roboto"/>
              <a:ea typeface="Roboto"/>
              <a:cs typeface="Roboto"/>
              <a:sym typeface="Roboto"/>
            </a:endParaRPr>
          </a:p>
          <a:p>
            <a:pPr indent="-330200" lvl="0" marL="457200" rtl="0" algn="l">
              <a:lnSpc>
                <a:spcPct val="115000"/>
              </a:lnSpc>
              <a:spcBef>
                <a:spcPts val="1000"/>
              </a:spcBef>
              <a:spcAft>
                <a:spcPts val="0"/>
              </a:spcAft>
              <a:buClr>
                <a:schemeClr val="dk1"/>
              </a:buClr>
              <a:buSzPts val="1600"/>
              <a:buFont typeface="Roboto"/>
              <a:buAutoNum type="arabicPeriod"/>
            </a:pPr>
            <a:r>
              <a:rPr b="1" lang="en" sz="1600">
                <a:solidFill>
                  <a:schemeClr val="dk1"/>
                </a:solidFill>
                <a:latin typeface="Roboto"/>
                <a:ea typeface="Roboto"/>
                <a:cs typeface="Roboto"/>
                <a:sym typeface="Roboto"/>
              </a:rPr>
              <a:t>Binary </a:t>
            </a:r>
            <a:r>
              <a:rPr lang="en" sz="1600">
                <a:solidFill>
                  <a:schemeClr val="dk1"/>
                </a:solidFill>
                <a:latin typeface="Roboto"/>
                <a:ea typeface="Roboto"/>
                <a:cs typeface="Roboto"/>
                <a:sym typeface="Roboto"/>
              </a:rPr>
              <a:t>(rain/snow) prediction of phase </a:t>
            </a:r>
            <a:r>
              <a:rPr i="1" lang="en" sz="1600">
                <a:solidFill>
                  <a:schemeClr val="dk1"/>
                </a:solidFill>
                <a:latin typeface="Roboto"/>
                <a:ea typeface="Roboto"/>
                <a:cs typeface="Roboto"/>
                <a:sym typeface="Roboto"/>
              </a:rPr>
              <a:t>probabilities + “mix” phase as uncertainty</a:t>
            </a:r>
            <a:endParaRPr i="1" sz="1600">
              <a:solidFill>
                <a:srgbClr val="595959"/>
              </a:solidFill>
              <a:latin typeface="Roboto"/>
              <a:ea typeface="Roboto"/>
              <a:cs typeface="Roboto"/>
              <a:sym typeface="Roboto"/>
            </a:endParaRPr>
          </a:p>
          <a:p>
            <a:pPr indent="0" lvl="0" marL="0" rtl="0" algn="l">
              <a:lnSpc>
                <a:spcPct val="115000"/>
              </a:lnSpc>
              <a:spcBef>
                <a:spcPts val="1000"/>
              </a:spcBef>
              <a:spcAft>
                <a:spcPts val="0"/>
              </a:spcAft>
              <a:buNone/>
            </a:pPr>
            <a:r>
              <a:t/>
            </a:r>
            <a:endParaRPr>
              <a:solidFill>
                <a:schemeClr val="dk1"/>
              </a:solidFill>
              <a:latin typeface="Roboto"/>
              <a:ea typeface="Roboto"/>
              <a:cs typeface="Roboto"/>
              <a:sym typeface="Roboto"/>
            </a:endParaRPr>
          </a:p>
        </p:txBody>
      </p:sp>
      <p:sp>
        <p:nvSpPr>
          <p:cNvPr id="345" name="Google Shape;345;p46"/>
          <p:cNvSpPr txBox="1"/>
          <p:nvPr/>
        </p:nvSpPr>
        <p:spPr>
          <a:xfrm>
            <a:off x="118800" y="2431825"/>
            <a:ext cx="8906400" cy="1280700"/>
          </a:xfrm>
          <a:prstGeom prst="rect">
            <a:avLst/>
          </a:prstGeom>
          <a:noFill/>
          <a:ln>
            <a:noFill/>
          </a:ln>
        </p:spPr>
        <p:txBody>
          <a:bodyPr anchorCtr="0" anchor="t" bIns="91425" lIns="91425" spcFirstLastPara="1" rIns="91425" wrap="square" tIns="91425">
            <a:spAutoFit/>
          </a:bodyPr>
          <a:lstStyle/>
          <a:p>
            <a:pPr indent="-311150" lvl="1" marL="914400" rtl="0" algn="l">
              <a:lnSpc>
                <a:spcPct val="115000"/>
              </a:lnSpc>
              <a:spcBef>
                <a:spcPts val="0"/>
              </a:spcBef>
              <a:spcAft>
                <a:spcPts val="0"/>
              </a:spcAft>
              <a:buClr>
                <a:schemeClr val="dk2"/>
              </a:buClr>
              <a:buSzPts val="1300"/>
              <a:buFont typeface="Roboto"/>
              <a:buChar char="○"/>
            </a:pPr>
            <a:r>
              <a:rPr lang="en" sz="1600">
                <a:solidFill>
                  <a:schemeClr val="dk2"/>
                </a:solidFill>
                <a:latin typeface="Roboto"/>
                <a:ea typeface="Roboto"/>
                <a:cs typeface="Roboto"/>
                <a:sym typeface="Roboto"/>
              </a:rPr>
              <a:t>Train on rain/snow observations only (excluding mix)</a:t>
            </a:r>
            <a:endParaRPr sz="1600">
              <a:solidFill>
                <a:schemeClr val="dk2"/>
              </a:solidFill>
              <a:latin typeface="Roboto"/>
              <a:ea typeface="Roboto"/>
              <a:cs typeface="Roboto"/>
              <a:sym typeface="Roboto"/>
            </a:endParaRPr>
          </a:p>
          <a:p>
            <a:pPr indent="-311150" lvl="1" marL="914400" rtl="0" algn="l">
              <a:lnSpc>
                <a:spcPct val="115000"/>
              </a:lnSpc>
              <a:spcBef>
                <a:spcPts val="0"/>
              </a:spcBef>
              <a:spcAft>
                <a:spcPts val="0"/>
              </a:spcAft>
              <a:buClr>
                <a:schemeClr val="dk2"/>
              </a:buClr>
              <a:buSzPts val="1300"/>
              <a:buFont typeface="Roboto"/>
              <a:buChar char="○"/>
            </a:pPr>
            <a:r>
              <a:rPr lang="en" sz="1600">
                <a:solidFill>
                  <a:schemeClr val="dk2"/>
                </a:solidFill>
                <a:latin typeface="Roboto"/>
                <a:ea typeface="Roboto"/>
                <a:cs typeface="Roboto"/>
                <a:sym typeface="Roboto"/>
              </a:rPr>
              <a:t>Calibration → model scores to probabilities</a:t>
            </a:r>
            <a:endParaRPr sz="1600">
              <a:solidFill>
                <a:schemeClr val="dk2"/>
              </a:solidFill>
              <a:latin typeface="Roboto"/>
              <a:ea typeface="Roboto"/>
              <a:cs typeface="Roboto"/>
              <a:sym typeface="Roboto"/>
            </a:endParaRPr>
          </a:p>
          <a:p>
            <a:pPr indent="-311150" lvl="1" marL="914400" rtl="0" algn="l">
              <a:lnSpc>
                <a:spcPct val="115000"/>
              </a:lnSpc>
              <a:spcBef>
                <a:spcPts val="0"/>
              </a:spcBef>
              <a:spcAft>
                <a:spcPts val="0"/>
              </a:spcAft>
              <a:buClr>
                <a:schemeClr val="dk2"/>
              </a:buClr>
              <a:buSzPts val="1300"/>
              <a:buFont typeface="Roboto"/>
              <a:buChar char="○"/>
            </a:pPr>
            <a:r>
              <a:rPr lang="en" sz="1600">
                <a:solidFill>
                  <a:schemeClr val="dk2"/>
                </a:solidFill>
                <a:latin typeface="Roboto"/>
                <a:ea typeface="Roboto"/>
                <a:cs typeface="Roboto"/>
                <a:sym typeface="Roboto"/>
              </a:rPr>
              <a:t>Optimized wet bulb threshold </a:t>
            </a:r>
            <a:r>
              <a:rPr lang="en" sz="1600">
                <a:solidFill>
                  <a:schemeClr val="dk2"/>
                </a:solidFill>
                <a:latin typeface="Roboto"/>
                <a:ea typeface="Roboto"/>
                <a:cs typeface="Roboto"/>
                <a:sym typeface="Roboto"/>
              </a:rPr>
              <a:t>abstention </a:t>
            </a:r>
            <a:r>
              <a:rPr lang="en" sz="1600">
                <a:solidFill>
                  <a:schemeClr val="dk2"/>
                </a:solidFill>
                <a:latin typeface="Roboto"/>
                <a:ea typeface="Roboto"/>
                <a:cs typeface="Roboto"/>
                <a:sym typeface="Roboto"/>
              </a:rPr>
              <a:t>band reflects “mix” from model uncertainty</a:t>
            </a:r>
            <a:endParaRPr sz="1600">
              <a:solidFill>
                <a:schemeClr val="dk2"/>
              </a:solidFill>
              <a:latin typeface="Roboto"/>
              <a:ea typeface="Roboto"/>
              <a:cs typeface="Roboto"/>
              <a:sym typeface="Roboto"/>
            </a:endParaRPr>
          </a:p>
          <a:p>
            <a:pPr indent="-304800" lvl="2" marL="1371600" rtl="0" algn="l">
              <a:lnSpc>
                <a:spcPct val="115000"/>
              </a:lnSpc>
              <a:spcBef>
                <a:spcPts val="0"/>
              </a:spcBef>
              <a:spcAft>
                <a:spcPts val="0"/>
              </a:spcAft>
              <a:buClr>
                <a:schemeClr val="dk2"/>
              </a:buClr>
              <a:buSzPts val="1200"/>
              <a:buFont typeface="Roboto"/>
              <a:buChar char="●"/>
            </a:pPr>
            <a:r>
              <a:rPr i="1" lang="en" sz="1600">
                <a:solidFill>
                  <a:schemeClr val="dk2"/>
                </a:solidFill>
                <a:latin typeface="Roboto"/>
                <a:ea typeface="Roboto"/>
                <a:cs typeface="Roboto"/>
                <a:sym typeface="Roboto"/>
              </a:rPr>
              <a:t>Mix = region where the model cannot confidently separate rain and snow</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47"/>
          <p:cNvSpPr txBox="1"/>
          <p:nvPr>
            <p:ph type="title"/>
          </p:nvPr>
        </p:nvSpPr>
        <p:spPr>
          <a:xfrm>
            <a:off x="311700" y="133209"/>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Machine Learning Model: XGBoost</a:t>
            </a:r>
            <a:endParaRPr/>
          </a:p>
        </p:txBody>
      </p:sp>
      <p:sp>
        <p:nvSpPr>
          <p:cNvPr id="352" name="Google Shape;352;p47"/>
          <p:cNvSpPr txBox="1"/>
          <p:nvPr/>
        </p:nvSpPr>
        <p:spPr>
          <a:xfrm>
            <a:off x="404325" y="1619375"/>
            <a:ext cx="8410800" cy="180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XGBoost: tree-based optimized gradient descent</a:t>
            </a:r>
            <a:endParaRPr sz="1600">
              <a:solidFill>
                <a:schemeClr val="dk1"/>
              </a:solidFill>
              <a:latin typeface="Roboto"/>
              <a:ea typeface="Roboto"/>
              <a:cs typeface="Roboto"/>
              <a:sym typeface="Roboto"/>
            </a:endParaRPr>
          </a:p>
          <a:p>
            <a:pPr indent="-323850" lvl="0" marL="457200" rtl="0" algn="l">
              <a:lnSpc>
                <a:spcPct val="115000"/>
              </a:lnSpc>
              <a:spcBef>
                <a:spcPts val="0"/>
              </a:spcBef>
              <a:spcAft>
                <a:spcPts val="0"/>
              </a:spcAft>
              <a:buClr>
                <a:srgbClr val="595959"/>
              </a:buClr>
              <a:buSzPts val="1500"/>
              <a:buFont typeface="Roboto"/>
              <a:buChar char="-"/>
            </a:pPr>
            <a:r>
              <a:rPr lang="en" sz="1500">
                <a:solidFill>
                  <a:srgbClr val="595959"/>
                </a:solidFill>
                <a:latin typeface="Roboto"/>
                <a:ea typeface="Roboto"/>
                <a:cs typeface="Roboto"/>
                <a:sym typeface="Roboto"/>
              </a:rPr>
              <a:t>“Boosting”</a:t>
            </a:r>
            <a:r>
              <a:rPr lang="en" sz="1500">
                <a:solidFill>
                  <a:srgbClr val="595959"/>
                </a:solidFill>
                <a:latin typeface="Roboto"/>
                <a:ea typeface="Roboto"/>
                <a:cs typeface="Roboto"/>
                <a:sym typeface="Roboto"/>
              </a:rPr>
              <a:t>:</a:t>
            </a:r>
            <a:r>
              <a:rPr lang="en" sz="1500">
                <a:solidFill>
                  <a:srgbClr val="595959"/>
                </a:solidFill>
                <a:latin typeface="Roboto"/>
                <a:ea typeface="Roboto"/>
                <a:cs typeface="Roboto"/>
                <a:sym typeface="Roboto"/>
              </a:rPr>
              <a:t> each tree corrects errors from the previous one (iteratively optimized)</a:t>
            </a:r>
            <a:endParaRPr sz="1500">
              <a:solidFill>
                <a:srgbClr val="595959"/>
              </a:solidFill>
              <a:latin typeface="Roboto"/>
              <a:ea typeface="Roboto"/>
              <a:cs typeface="Roboto"/>
              <a:sym typeface="Roboto"/>
            </a:endParaRPr>
          </a:p>
          <a:p>
            <a:pPr indent="-323850" lvl="0" marL="457200" rtl="0" algn="l">
              <a:lnSpc>
                <a:spcPct val="115000"/>
              </a:lnSpc>
              <a:spcBef>
                <a:spcPts val="0"/>
              </a:spcBef>
              <a:spcAft>
                <a:spcPts val="0"/>
              </a:spcAft>
              <a:buClr>
                <a:srgbClr val="595959"/>
              </a:buClr>
              <a:buSzPts val="1500"/>
              <a:buFont typeface="Roboto"/>
              <a:buChar char="-"/>
            </a:pPr>
            <a:r>
              <a:rPr lang="en" sz="1500">
                <a:solidFill>
                  <a:srgbClr val="595959"/>
                </a:solidFill>
                <a:latin typeface="Roboto"/>
                <a:ea typeface="Roboto"/>
                <a:cs typeface="Roboto"/>
                <a:sym typeface="Roboto"/>
              </a:rPr>
              <a:t>o</a:t>
            </a:r>
            <a:r>
              <a:rPr lang="en" sz="1500">
                <a:solidFill>
                  <a:srgbClr val="595959"/>
                </a:solidFill>
                <a:latin typeface="Roboto"/>
                <a:ea typeface="Roboto"/>
                <a:cs typeface="Roboto"/>
                <a:sym typeface="Roboto"/>
              </a:rPr>
              <a:t>bjection func</a:t>
            </a:r>
            <a:r>
              <a:rPr lang="en" sz="1500">
                <a:solidFill>
                  <a:srgbClr val="595959"/>
                </a:solidFill>
                <a:latin typeface="Roboto"/>
                <a:ea typeface="Roboto"/>
                <a:cs typeface="Roboto"/>
                <a:sym typeface="Roboto"/>
              </a:rPr>
              <a:t>tion: loss + regularization terms</a:t>
            </a:r>
            <a:endParaRPr sz="1500">
              <a:solidFill>
                <a:srgbClr val="595959"/>
              </a:solidFill>
              <a:latin typeface="Roboto"/>
              <a:ea typeface="Roboto"/>
              <a:cs typeface="Roboto"/>
              <a:sym typeface="Roboto"/>
            </a:endParaRPr>
          </a:p>
          <a:p>
            <a:pPr indent="0" lvl="0" marL="0" rtl="0" algn="l">
              <a:lnSpc>
                <a:spcPct val="115000"/>
              </a:lnSpc>
              <a:spcBef>
                <a:spcPts val="1000"/>
              </a:spcBef>
              <a:spcAft>
                <a:spcPts val="0"/>
              </a:spcAft>
              <a:buNone/>
            </a:pPr>
            <a:r>
              <a:rPr lang="en" sz="1600">
                <a:solidFill>
                  <a:schemeClr val="dk1"/>
                </a:solidFill>
                <a:latin typeface="Roboto"/>
                <a:ea typeface="Roboto"/>
                <a:cs typeface="Roboto"/>
                <a:sym typeface="Roboto"/>
              </a:rPr>
              <a:t>Why XGBoost?</a:t>
            </a:r>
            <a:endParaRPr sz="1600">
              <a:solidFill>
                <a:schemeClr val="dk1"/>
              </a:solidFill>
              <a:latin typeface="Roboto"/>
              <a:ea typeface="Roboto"/>
              <a:cs typeface="Roboto"/>
              <a:sym typeface="Roboto"/>
            </a:endParaRPr>
          </a:p>
          <a:p>
            <a:pPr indent="-323850" lvl="0" marL="457200" rtl="0" algn="l">
              <a:lnSpc>
                <a:spcPct val="115000"/>
              </a:lnSpc>
              <a:spcBef>
                <a:spcPts val="0"/>
              </a:spcBef>
              <a:spcAft>
                <a:spcPts val="0"/>
              </a:spcAft>
              <a:buClr>
                <a:srgbClr val="595959"/>
              </a:buClr>
              <a:buSzPts val="1500"/>
              <a:buFont typeface="Roboto"/>
              <a:buChar char="-"/>
            </a:pPr>
            <a:r>
              <a:rPr lang="en" sz="1500">
                <a:solidFill>
                  <a:srgbClr val="595959"/>
                </a:solidFill>
                <a:latin typeface="Roboto"/>
                <a:ea typeface="Roboto"/>
                <a:cs typeface="Roboto"/>
                <a:sym typeface="Roboto"/>
              </a:rPr>
              <a:t>Prevents overfitting</a:t>
            </a:r>
            <a:endParaRPr sz="1500">
              <a:solidFill>
                <a:srgbClr val="595959"/>
              </a:solidFill>
              <a:latin typeface="Roboto"/>
              <a:ea typeface="Roboto"/>
              <a:cs typeface="Roboto"/>
              <a:sym typeface="Roboto"/>
            </a:endParaRPr>
          </a:p>
          <a:p>
            <a:pPr indent="-323850" lvl="0" marL="457200" rtl="0" algn="l">
              <a:lnSpc>
                <a:spcPct val="115000"/>
              </a:lnSpc>
              <a:spcBef>
                <a:spcPts val="0"/>
              </a:spcBef>
              <a:spcAft>
                <a:spcPts val="0"/>
              </a:spcAft>
              <a:buClr>
                <a:srgbClr val="595959"/>
              </a:buClr>
              <a:buSzPts val="1500"/>
              <a:buFont typeface="Roboto"/>
              <a:buChar char="-"/>
            </a:pPr>
            <a:r>
              <a:rPr lang="en" sz="1500">
                <a:solidFill>
                  <a:srgbClr val="595959"/>
                </a:solidFill>
                <a:latin typeface="Roboto"/>
                <a:ea typeface="Roboto"/>
                <a:cs typeface="Roboto"/>
                <a:sym typeface="Roboto"/>
              </a:rPr>
              <a:t>Handles sparsity</a:t>
            </a:r>
            <a:endParaRPr sz="1500">
              <a:solidFill>
                <a:srgbClr val="595959"/>
              </a:solidFill>
              <a:latin typeface="Roboto"/>
              <a:ea typeface="Roboto"/>
              <a:cs typeface="Roboto"/>
              <a:sym typeface="Roboto"/>
            </a:endParaRPr>
          </a:p>
        </p:txBody>
      </p:sp>
      <p:pic>
        <p:nvPicPr>
          <p:cNvPr id="353" name="Google Shape;353;p47"/>
          <p:cNvPicPr preferRelativeResize="0"/>
          <p:nvPr/>
        </p:nvPicPr>
        <p:blipFill>
          <a:blip r:embed="rId3">
            <a:alphaModFix/>
          </a:blip>
          <a:stretch>
            <a:fillRect/>
          </a:stretch>
        </p:blipFill>
        <p:spPr>
          <a:xfrm>
            <a:off x="5780275" y="2324043"/>
            <a:ext cx="2106825" cy="526700"/>
          </a:xfrm>
          <a:prstGeom prst="rect">
            <a:avLst/>
          </a:prstGeom>
          <a:noFill/>
          <a:ln>
            <a:noFill/>
          </a:ln>
        </p:spPr>
      </p:pic>
      <p:pic>
        <p:nvPicPr>
          <p:cNvPr id="354" name="Google Shape;354;p47"/>
          <p:cNvPicPr preferRelativeResize="0"/>
          <p:nvPr/>
        </p:nvPicPr>
        <p:blipFill>
          <a:blip r:embed="rId4">
            <a:alphaModFix/>
          </a:blip>
          <a:stretch>
            <a:fillRect/>
          </a:stretch>
        </p:blipFill>
        <p:spPr>
          <a:xfrm>
            <a:off x="4609725" y="2905268"/>
            <a:ext cx="4346725" cy="618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8"/>
          <p:cNvSpPr/>
          <p:nvPr/>
        </p:nvSpPr>
        <p:spPr>
          <a:xfrm>
            <a:off x="89550" y="1207200"/>
            <a:ext cx="3626100" cy="3700800"/>
          </a:xfrm>
          <a:prstGeom prst="rect">
            <a:avLst/>
          </a:prstGeom>
          <a:noFill/>
          <a:ln cap="flat" cmpd="sng" w="9525">
            <a:solidFill>
              <a:srgbClr val="595959"/>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i="1" sz="1000"/>
          </a:p>
        </p:txBody>
      </p:sp>
      <p:sp>
        <p:nvSpPr>
          <p:cNvPr id="360" name="Google Shape;360;p48"/>
          <p:cNvSpPr/>
          <p:nvPr/>
        </p:nvSpPr>
        <p:spPr>
          <a:xfrm>
            <a:off x="7157500" y="2176777"/>
            <a:ext cx="1451100" cy="1844100"/>
          </a:xfrm>
          <a:prstGeom prst="rect">
            <a:avLst/>
          </a:prstGeom>
          <a:solidFill>
            <a:srgbClr val="EEEEE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i="1" lang="en" sz="1000"/>
              <a:t>OUTPUTS</a:t>
            </a:r>
            <a:endParaRPr i="1" sz="1000"/>
          </a:p>
        </p:txBody>
      </p:sp>
      <p:sp>
        <p:nvSpPr>
          <p:cNvPr id="361" name="Google Shape;361;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2" name="Google Shape;362;p48"/>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Machine Learning Framework</a:t>
            </a:r>
            <a:endParaRPr/>
          </a:p>
        </p:txBody>
      </p:sp>
      <p:sp>
        <p:nvSpPr>
          <p:cNvPr id="363" name="Google Shape;363;p48"/>
          <p:cNvSpPr/>
          <p:nvPr/>
        </p:nvSpPr>
        <p:spPr>
          <a:xfrm>
            <a:off x="4155375" y="1210050"/>
            <a:ext cx="2454300" cy="3700800"/>
          </a:xfrm>
          <a:prstGeom prst="rect">
            <a:avLst/>
          </a:prstGeom>
          <a:noFill/>
          <a:ln cap="flat" cmpd="sng" w="28575">
            <a:solidFill>
              <a:srgbClr val="FF00FF"/>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i="1" lang="en" sz="1000"/>
              <a:t>MODEL TRAINING</a:t>
            </a:r>
            <a:endParaRPr i="1" sz="1000"/>
          </a:p>
        </p:txBody>
      </p:sp>
      <p:sp>
        <p:nvSpPr>
          <p:cNvPr id="364" name="Google Shape;364;p48"/>
          <p:cNvSpPr/>
          <p:nvPr/>
        </p:nvSpPr>
        <p:spPr>
          <a:xfrm>
            <a:off x="219275" y="1272650"/>
            <a:ext cx="1248300" cy="3485700"/>
          </a:xfrm>
          <a:prstGeom prst="rect">
            <a:avLst/>
          </a:prstGeom>
          <a:solidFill>
            <a:srgbClr val="EEEEE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300"/>
          </a:p>
        </p:txBody>
      </p:sp>
      <p:pic>
        <p:nvPicPr>
          <p:cNvPr id="365" name="Google Shape;365;p48"/>
          <p:cNvPicPr preferRelativeResize="0"/>
          <p:nvPr/>
        </p:nvPicPr>
        <p:blipFill>
          <a:blip r:embed="rId3">
            <a:alphaModFix/>
          </a:blip>
          <a:stretch>
            <a:fillRect/>
          </a:stretch>
        </p:blipFill>
        <p:spPr>
          <a:xfrm>
            <a:off x="583576" y="1533984"/>
            <a:ext cx="519601" cy="422400"/>
          </a:xfrm>
          <a:prstGeom prst="rect">
            <a:avLst/>
          </a:prstGeom>
          <a:noFill/>
          <a:ln>
            <a:noFill/>
          </a:ln>
        </p:spPr>
      </p:pic>
      <p:sp>
        <p:nvSpPr>
          <p:cNvPr id="366" name="Google Shape;366;p48"/>
          <p:cNvSpPr/>
          <p:nvPr/>
        </p:nvSpPr>
        <p:spPr>
          <a:xfrm>
            <a:off x="3808449" y="1237050"/>
            <a:ext cx="242700" cy="3646800"/>
          </a:xfrm>
          <a:prstGeom prst="rightBrace">
            <a:avLst>
              <a:gd fmla="val 50000" name="adj1"/>
              <a:gd fmla="val 50066" name="adj2"/>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7" name="Google Shape;367;p48"/>
          <p:cNvSpPr txBox="1"/>
          <p:nvPr/>
        </p:nvSpPr>
        <p:spPr>
          <a:xfrm>
            <a:off x="219325" y="1929841"/>
            <a:ext cx="1248300" cy="26223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lang="en" sz="1100">
                <a:solidFill>
                  <a:srgbClr val="0097A7"/>
                </a:solidFill>
              </a:rPr>
              <a:t>elevation</a:t>
            </a:r>
            <a:endParaRPr sz="1100">
              <a:solidFill>
                <a:srgbClr val="0097A7"/>
              </a:solidFill>
            </a:endParaRPr>
          </a:p>
          <a:p>
            <a:pPr indent="0" lvl="0" marL="0" rtl="0" algn="ctr">
              <a:lnSpc>
                <a:spcPct val="200000"/>
              </a:lnSpc>
              <a:spcBef>
                <a:spcPts val="75"/>
              </a:spcBef>
              <a:spcAft>
                <a:spcPts val="0"/>
              </a:spcAft>
              <a:buNone/>
            </a:pPr>
            <a:r>
              <a:rPr lang="en" sz="1100">
                <a:solidFill>
                  <a:srgbClr val="0097A7"/>
                </a:solidFill>
              </a:rPr>
              <a:t>IMERG PLP</a:t>
            </a:r>
            <a:endParaRPr sz="1100">
              <a:solidFill>
                <a:srgbClr val="0097A7"/>
              </a:solidFill>
            </a:endParaRPr>
          </a:p>
          <a:p>
            <a:pPr indent="0" lvl="0" marL="0" rtl="0" algn="ctr">
              <a:lnSpc>
                <a:spcPct val="100000"/>
              </a:lnSpc>
              <a:spcBef>
                <a:spcPts val="75"/>
              </a:spcBef>
              <a:spcAft>
                <a:spcPts val="0"/>
              </a:spcAft>
              <a:buNone/>
            </a:pPr>
            <a:r>
              <a:rPr lang="en" sz="1100">
                <a:solidFill>
                  <a:srgbClr val="0097A7"/>
                </a:solidFill>
              </a:rPr>
              <a:t>MRoS LOOCV</a:t>
            </a:r>
            <a:br>
              <a:rPr lang="en" sz="1100">
                <a:solidFill>
                  <a:srgbClr val="0097A7"/>
                </a:solidFill>
              </a:rPr>
            </a:br>
            <a:r>
              <a:rPr i="1" lang="en" sz="1100">
                <a:solidFill>
                  <a:srgbClr val="0097A7"/>
                </a:solidFill>
              </a:rPr>
              <a:t>surfaces</a:t>
            </a:r>
            <a:endParaRPr i="1" sz="1100">
              <a:solidFill>
                <a:srgbClr val="0097A7"/>
              </a:solidFill>
            </a:endParaRPr>
          </a:p>
          <a:p>
            <a:pPr indent="0" lvl="0" marL="0" rtl="0" algn="ctr">
              <a:lnSpc>
                <a:spcPct val="100000"/>
              </a:lnSpc>
              <a:spcBef>
                <a:spcPts val="75"/>
              </a:spcBef>
              <a:spcAft>
                <a:spcPts val="0"/>
              </a:spcAft>
              <a:buNone/>
            </a:pPr>
            <a:r>
              <a:t/>
            </a:r>
            <a:endParaRPr sz="1100">
              <a:solidFill>
                <a:srgbClr val="0097A7"/>
              </a:solidFill>
            </a:endParaRPr>
          </a:p>
          <a:p>
            <a:pPr indent="0" lvl="0" marL="0" rtl="0" algn="ctr">
              <a:lnSpc>
                <a:spcPct val="200000"/>
              </a:lnSpc>
              <a:spcBef>
                <a:spcPts val="75"/>
              </a:spcBef>
              <a:spcAft>
                <a:spcPts val="0"/>
              </a:spcAft>
              <a:buNone/>
            </a:pPr>
            <a:r>
              <a:rPr lang="en" sz="1100">
                <a:solidFill>
                  <a:srgbClr val="0097A7"/>
                </a:solidFill>
              </a:rPr>
              <a:t>air temp</a:t>
            </a:r>
            <a:endParaRPr sz="1100">
              <a:solidFill>
                <a:srgbClr val="0097A7"/>
              </a:solidFill>
            </a:endParaRPr>
          </a:p>
          <a:p>
            <a:pPr indent="0" lvl="0" marL="0" rtl="0" algn="ctr">
              <a:lnSpc>
                <a:spcPct val="200000"/>
              </a:lnSpc>
              <a:spcBef>
                <a:spcPts val="75"/>
              </a:spcBef>
              <a:spcAft>
                <a:spcPts val="0"/>
              </a:spcAft>
              <a:buNone/>
            </a:pPr>
            <a:r>
              <a:rPr lang="en" sz="1100">
                <a:solidFill>
                  <a:srgbClr val="0097A7"/>
                </a:solidFill>
              </a:rPr>
              <a:t>dew temp</a:t>
            </a:r>
            <a:endParaRPr sz="1100">
              <a:solidFill>
                <a:srgbClr val="0097A7"/>
              </a:solidFill>
            </a:endParaRPr>
          </a:p>
          <a:p>
            <a:pPr indent="0" lvl="0" marL="0" rtl="0" algn="ctr">
              <a:lnSpc>
                <a:spcPct val="200000"/>
              </a:lnSpc>
              <a:spcBef>
                <a:spcPts val="75"/>
              </a:spcBef>
              <a:spcAft>
                <a:spcPts val="0"/>
              </a:spcAft>
              <a:buNone/>
            </a:pPr>
            <a:r>
              <a:rPr lang="en" sz="1100">
                <a:solidFill>
                  <a:srgbClr val="0097A7"/>
                </a:solidFill>
              </a:rPr>
              <a:t>wet-bulb temp</a:t>
            </a:r>
            <a:endParaRPr sz="1100">
              <a:solidFill>
                <a:srgbClr val="0097A7"/>
              </a:solidFill>
            </a:endParaRPr>
          </a:p>
          <a:p>
            <a:pPr indent="0" lvl="0" marL="0" rtl="0" algn="ctr">
              <a:lnSpc>
                <a:spcPct val="200000"/>
              </a:lnSpc>
              <a:spcBef>
                <a:spcPts val="75"/>
              </a:spcBef>
              <a:spcAft>
                <a:spcPts val="75"/>
              </a:spcAft>
              <a:buNone/>
            </a:pPr>
            <a:r>
              <a:rPr lang="en" sz="1100">
                <a:solidFill>
                  <a:srgbClr val="0097A7"/>
                </a:solidFill>
              </a:rPr>
              <a:t>RH</a:t>
            </a:r>
            <a:endParaRPr sz="1100">
              <a:solidFill>
                <a:srgbClr val="0097A7"/>
              </a:solidFill>
            </a:endParaRPr>
          </a:p>
        </p:txBody>
      </p:sp>
      <p:sp>
        <p:nvSpPr>
          <p:cNvPr id="368" name="Google Shape;368;p48"/>
          <p:cNvSpPr txBox="1"/>
          <p:nvPr/>
        </p:nvSpPr>
        <p:spPr>
          <a:xfrm>
            <a:off x="219225" y="4519066"/>
            <a:ext cx="1248300" cy="23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800">
                <a:solidFill>
                  <a:srgbClr val="595959"/>
                </a:solidFill>
              </a:rPr>
              <a:t>over time and space</a:t>
            </a:r>
            <a:endParaRPr i="1" sz="800">
              <a:solidFill>
                <a:srgbClr val="595959"/>
              </a:solidFill>
            </a:endParaRPr>
          </a:p>
        </p:txBody>
      </p:sp>
      <p:sp>
        <p:nvSpPr>
          <p:cNvPr id="369" name="Google Shape;369;p48"/>
          <p:cNvSpPr/>
          <p:nvPr/>
        </p:nvSpPr>
        <p:spPr>
          <a:xfrm>
            <a:off x="1653100" y="1793650"/>
            <a:ext cx="1952400" cy="2344800"/>
          </a:xfrm>
          <a:prstGeom prst="rect">
            <a:avLst/>
          </a:prstGeom>
          <a:solidFill>
            <a:srgbClr val="EEEEE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sz="1200">
              <a:solidFill>
                <a:schemeClr val="dk1"/>
              </a:solidFill>
            </a:endParaRPr>
          </a:p>
          <a:p>
            <a:pPr indent="0" lvl="0" marL="0" rtl="0" algn="ctr">
              <a:spcBef>
                <a:spcPts val="0"/>
              </a:spcBef>
              <a:spcAft>
                <a:spcPts val="0"/>
              </a:spcAft>
              <a:buClr>
                <a:schemeClr val="dk1"/>
              </a:buClr>
              <a:buSzPts val="1100"/>
              <a:buFont typeface="Arial"/>
              <a:buNone/>
            </a:pPr>
            <a:r>
              <a:t/>
            </a:r>
            <a:endParaRPr sz="1200">
              <a:solidFill>
                <a:schemeClr val="dk1"/>
              </a:solidFill>
            </a:endParaRPr>
          </a:p>
        </p:txBody>
      </p:sp>
      <p:sp>
        <p:nvSpPr>
          <p:cNvPr id="370" name="Google Shape;370;p48"/>
          <p:cNvSpPr/>
          <p:nvPr/>
        </p:nvSpPr>
        <p:spPr>
          <a:xfrm>
            <a:off x="4446800" y="2259900"/>
            <a:ext cx="1871400" cy="623700"/>
          </a:xfrm>
          <a:prstGeom prst="roundRect">
            <a:avLst>
              <a:gd fmla="val 16667" name="adj"/>
            </a:avLst>
          </a:prstGeom>
          <a:solidFill>
            <a:srgbClr val="D9D2E9"/>
          </a:solidFill>
          <a:ln cap="flat" cmpd="sng" w="952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rPr>
              <a:t>XGBoost</a:t>
            </a:r>
            <a:endParaRPr b="1" sz="1300">
              <a:solidFill>
                <a:schemeClr val="dk1"/>
              </a:solidFill>
            </a:endParaRPr>
          </a:p>
          <a:p>
            <a:pPr indent="0" lvl="0" marL="0" rtl="0" algn="ctr">
              <a:spcBef>
                <a:spcPts val="0"/>
              </a:spcBef>
              <a:spcAft>
                <a:spcPts val="0"/>
              </a:spcAft>
              <a:buNone/>
            </a:pPr>
            <a:r>
              <a:rPr lang="en" sz="1300">
                <a:solidFill>
                  <a:schemeClr val="dk1"/>
                </a:solidFill>
              </a:rPr>
              <a:t>Binary </a:t>
            </a:r>
            <a:endParaRPr sz="1300">
              <a:solidFill>
                <a:schemeClr val="dk1"/>
              </a:solidFill>
            </a:endParaRPr>
          </a:p>
          <a:p>
            <a:pPr indent="0" lvl="0" marL="0" rtl="0" algn="ctr">
              <a:spcBef>
                <a:spcPts val="0"/>
              </a:spcBef>
              <a:spcAft>
                <a:spcPts val="0"/>
              </a:spcAft>
              <a:buNone/>
            </a:pPr>
            <a:r>
              <a:rPr lang="en" sz="1100">
                <a:solidFill>
                  <a:schemeClr val="dk2"/>
                </a:solidFill>
              </a:rPr>
              <a:t>rain / snow</a:t>
            </a:r>
            <a:endParaRPr sz="1100">
              <a:solidFill>
                <a:schemeClr val="dk2"/>
              </a:solidFill>
            </a:endParaRPr>
          </a:p>
        </p:txBody>
      </p:sp>
      <p:sp>
        <p:nvSpPr>
          <p:cNvPr id="371" name="Google Shape;371;p48"/>
          <p:cNvSpPr/>
          <p:nvPr/>
        </p:nvSpPr>
        <p:spPr>
          <a:xfrm>
            <a:off x="7060003" y="1105000"/>
            <a:ext cx="1653600" cy="876000"/>
          </a:xfrm>
          <a:prstGeom prst="roundRect">
            <a:avLst>
              <a:gd fmla="val 16667" name="adj"/>
            </a:avLst>
          </a:prstGeom>
          <a:solidFill>
            <a:srgbClr val="FCE5CD"/>
          </a:solidFill>
          <a:ln cap="flat" cmpd="sng" w="9525">
            <a:solidFill>
              <a:srgbClr val="FFAB4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200">
                <a:solidFill>
                  <a:srgbClr val="000000"/>
                </a:solidFill>
              </a:rPr>
              <a:t>Testing </a:t>
            </a:r>
            <a:r>
              <a:rPr lang="en" sz="1200"/>
              <a:t>&amp; Evaluation</a:t>
            </a:r>
            <a:endParaRPr sz="1200"/>
          </a:p>
          <a:p>
            <a:pPr indent="0" lvl="0" marL="0" rtl="0" algn="ctr">
              <a:spcBef>
                <a:spcPts val="0"/>
              </a:spcBef>
              <a:spcAft>
                <a:spcPts val="0"/>
              </a:spcAft>
              <a:buClr>
                <a:srgbClr val="000000"/>
              </a:buClr>
              <a:buSzPts val="1100"/>
              <a:buFont typeface="Arial"/>
              <a:buNone/>
            </a:pPr>
            <a:r>
              <a:rPr lang="en" sz="1200">
                <a:solidFill>
                  <a:schemeClr val="dk2"/>
                </a:solidFill>
              </a:rPr>
              <a:t>hold-out test set</a:t>
            </a:r>
            <a:endParaRPr sz="1200">
              <a:solidFill>
                <a:schemeClr val="dk2"/>
              </a:solidFill>
            </a:endParaRPr>
          </a:p>
        </p:txBody>
      </p:sp>
      <p:cxnSp>
        <p:nvCxnSpPr>
          <p:cNvPr id="372" name="Google Shape;372;p48"/>
          <p:cNvCxnSpPr>
            <a:stCxn id="363" idx="3"/>
            <a:endCxn id="371" idx="1"/>
          </p:cNvCxnSpPr>
          <p:nvPr/>
        </p:nvCxnSpPr>
        <p:spPr>
          <a:xfrm flipH="1" rot="10800000">
            <a:off x="6609675" y="1543050"/>
            <a:ext cx="450300" cy="1517400"/>
          </a:xfrm>
          <a:prstGeom prst="straightConnector1">
            <a:avLst/>
          </a:prstGeom>
          <a:noFill/>
          <a:ln cap="flat" cmpd="sng" w="9525">
            <a:solidFill>
              <a:srgbClr val="595959"/>
            </a:solidFill>
            <a:prstDash val="solid"/>
            <a:round/>
            <a:headEnd len="med" w="med" type="none"/>
            <a:tailEnd len="med" w="med" type="triangle"/>
          </a:ln>
        </p:spPr>
      </p:cxnSp>
      <p:sp>
        <p:nvSpPr>
          <p:cNvPr id="373" name="Google Shape;373;p48"/>
          <p:cNvSpPr/>
          <p:nvPr/>
        </p:nvSpPr>
        <p:spPr>
          <a:xfrm>
            <a:off x="1823110" y="3216753"/>
            <a:ext cx="1653600" cy="786600"/>
          </a:xfrm>
          <a:prstGeom prst="roundRect">
            <a:avLst>
              <a:gd fmla="val 16667" name="adj"/>
            </a:avLst>
          </a:prstGeom>
          <a:solidFill>
            <a:srgbClr val="D9D2E9"/>
          </a:solidFill>
          <a:ln cap="flat" cmpd="sng" w="9525">
            <a:solidFill>
              <a:srgbClr val="351C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lang="en" sz="1300">
                <a:solidFill>
                  <a:srgbClr val="000000"/>
                </a:solidFill>
              </a:rPr>
              <a:t>Data Splitting</a:t>
            </a:r>
            <a:endParaRPr sz="1300">
              <a:solidFill>
                <a:srgbClr val="000000"/>
              </a:solidFill>
            </a:endParaRPr>
          </a:p>
          <a:p>
            <a:pPr indent="0" lvl="0" marL="0" rtl="0" algn="ctr">
              <a:lnSpc>
                <a:spcPct val="115000"/>
              </a:lnSpc>
              <a:spcBef>
                <a:spcPts val="0"/>
              </a:spcBef>
              <a:spcAft>
                <a:spcPts val="0"/>
              </a:spcAft>
              <a:buClr>
                <a:srgbClr val="000000"/>
              </a:buClr>
              <a:buSzPts val="1100"/>
              <a:buFont typeface="Arial"/>
              <a:buNone/>
            </a:pPr>
            <a:r>
              <a:rPr lang="en" sz="1000">
                <a:solidFill>
                  <a:schemeClr val="dk2"/>
                </a:solidFill>
              </a:rPr>
              <a:t>train / test / val</a:t>
            </a:r>
            <a:endParaRPr sz="1000">
              <a:solidFill>
                <a:schemeClr val="dk2"/>
              </a:solidFill>
            </a:endParaRPr>
          </a:p>
          <a:p>
            <a:pPr indent="0" lvl="0" marL="0" rtl="0" algn="ctr">
              <a:lnSpc>
                <a:spcPct val="115000"/>
              </a:lnSpc>
              <a:spcBef>
                <a:spcPts val="0"/>
              </a:spcBef>
              <a:spcAft>
                <a:spcPts val="0"/>
              </a:spcAft>
              <a:buClr>
                <a:srgbClr val="000000"/>
              </a:buClr>
              <a:buSzPts val="1100"/>
              <a:buFont typeface="Arial"/>
              <a:buNone/>
            </a:pPr>
            <a:r>
              <a:rPr lang="en" sz="1000">
                <a:solidFill>
                  <a:schemeClr val="dk2"/>
                </a:solidFill>
              </a:rPr>
              <a:t>70 / 15 / 15</a:t>
            </a:r>
            <a:endParaRPr sz="1000">
              <a:solidFill>
                <a:schemeClr val="dk2"/>
              </a:solidFill>
            </a:endParaRPr>
          </a:p>
          <a:p>
            <a:pPr indent="0" lvl="0" marL="0" rtl="0" algn="ctr">
              <a:lnSpc>
                <a:spcPct val="115000"/>
              </a:lnSpc>
              <a:spcBef>
                <a:spcPts val="0"/>
              </a:spcBef>
              <a:spcAft>
                <a:spcPts val="0"/>
              </a:spcAft>
              <a:buClr>
                <a:srgbClr val="000000"/>
              </a:buClr>
              <a:buSzPts val="1100"/>
              <a:buFont typeface="Arial"/>
              <a:buNone/>
            </a:pPr>
            <a:r>
              <a:rPr i="1" lang="en" sz="1000">
                <a:solidFill>
                  <a:schemeClr val="dk2"/>
                </a:solidFill>
              </a:rPr>
              <a:t>stratified by phase</a:t>
            </a:r>
            <a:endParaRPr i="1" sz="1000">
              <a:solidFill>
                <a:schemeClr val="dk2"/>
              </a:solidFill>
            </a:endParaRPr>
          </a:p>
        </p:txBody>
      </p:sp>
      <p:sp>
        <p:nvSpPr>
          <p:cNvPr id="374" name="Google Shape;374;p48"/>
          <p:cNvSpPr txBox="1"/>
          <p:nvPr/>
        </p:nvSpPr>
        <p:spPr>
          <a:xfrm>
            <a:off x="344026" y="1357884"/>
            <a:ext cx="998700" cy="17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900">
                <a:solidFill>
                  <a:schemeClr val="dk1"/>
                </a:solidFill>
              </a:rPr>
              <a:t>PREDICTORS</a:t>
            </a:r>
            <a:endParaRPr i="1" sz="900">
              <a:solidFill>
                <a:schemeClr val="dk1"/>
              </a:solidFill>
            </a:endParaRPr>
          </a:p>
        </p:txBody>
      </p:sp>
      <p:sp>
        <p:nvSpPr>
          <p:cNvPr id="375" name="Google Shape;375;p48"/>
          <p:cNvSpPr txBox="1"/>
          <p:nvPr/>
        </p:nvSpPr>
        <p:spPr>
          <a:xfrm>
            <a:off x="1813229" y="1891901"/>
            <a:ext cx="1706700" cy="21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900">
                <a:solidFill>
                  <a:schemeClr val="dk1"/>
                </a:solidFill>
              </a:rPr>
              <a:t>LABELS (TARGET)</a:t>
            </a:r>
            <a:endParaRPr i="1" sz="900">
              <a:solidFill>
                <a:schemeClr val="dk1"/>
              </a:solidFill>
            </a:endParaRPr>
          </a:p>
        </p:txBody>
      </p:sp>
      <p:sp>
        <p:nvSpPr>
          <p:cNvPr id="376" name="Google Shape;376;p48"/>
          <p:cNvSpPr/>
          <p:nvPr/>
        </p:nvSpPr>
        <p:spPr>
          <a:xfrm>
            <a:off x="4406175" y="1598125"/>
            <a:ext cx="1952400" cy="422400"/>
          </a:xfrm>
          <a:prstGeom prst="roundRect">
            <a:avLst>
              <a:gd fmla="val 16667" name="adj"/>
            </a:avLst>
          </a:prstGeom>
          <a:solidFill>
            <a:srgbClr val="D9EAD3"/>
          </a:solidFill>
          <a:ln cap="flat" cmpd="sng" w="952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Class Weighting</a:t>
            </a:r>
            <a:endParaRPr/>
          </a:p>
        </p:txBody>
      </p:sp>
      <p:sp>
        <p:nvSpPr>
          <p:cNvPr id="377" name="Google Shape;377;p48"/>
          <p:cNvSpPr/>
          <p:nvPr/>
        </p:nvSpPr>
        <p:spPr>
          <a:xfrm>
            <a:off x="1823060" y="2148228"/>
            <a:ext cx="1653600" cy="786600"/>
          </a:xfrm>
          <a:prstGeom prst="roundRect">
            <a:avLst>
              <a:gd fmla="val 16667" name="adj"/>
            </a:avLst>
          </a:prstGeom>
          <a:solidFill>
            <a:srgbClr val="D0E0E3"/>
          </a:solidFill>
          <a:ln cap="flat" cmpd="sng" w="9525">
            <a:solidFill>
              <a:srgbClr val="0097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lang="en" sz="1300"/>
              <a:t>MRoS Observations </a:t>
            </a:r>
            <a:r>
              <a:rPr i="1" lang="en" sz="1300">
                <a:solidFill>
                  <a:schemeClr val="dk2"/>
                </a:solidFill>
              </a:rPr>
              <a:t>(points)</a:t>
            </a:r>
            <a:endParaRPr i="1" sz="1200">
              <a:solidFill>
                <a:schemeClr val="dk2"/>
              </a:solidFill>
            </a:endParaRPr>
          </a:p>
        </p:txBody>
      </p:sp>
      <p:cxnSp>
        <p:nvCxnSpPr>
          <p:cNvPr id="378" name="Google Shape;378;p48"/>
          <p:cNvCxnSpPr>
            <a:stCxn id="377" idx="2"/>
            <a:endCxn id="373" idx="0"/>
          </p:cNvCxnSpPr>
          <p:nvPr/>
        </p:nvCxnSpPr>
        <p:spPr>
          <a:xfrm>
            <a:off x="2649860" y="2934828"/>
            <a:ext cx="0" cy="282000"/>
          </a:xfrm>
          <a:prstGeom prst="straightConnector1">
            <a:avLst/>
          </a:prstGeom>
          <a:noFill/>
          <a:ln cap="flat" cmpd="sng" w="9525">
            <a:solidFill>
              <a:srgbClr val="595959"/>
            </a:solidFill>
            <a:prstDash val="solid"/>
            <a:round/>
            <a:headEnd len="med" w="med" type="none"/>
            <a:tailEnd len="med" w="med" type="triangle"/>
          </a:ln>
        </p:spPr>
      </p:cxnSp>
      <p:sp>
        <p:nvSpPr>
          <p:cNvPr id="379" name="Google Shape;379;p48"/>
          <p:cNvSpPr/>
          <p:nvPr/>
        </p:nvSpPr>
        <p:spPr>
          <a:xfrm>
            <a:off x="4365225" y="3124025"/>
            <a:ext cx="2034600" cy="712500"/>
          </a:xfrm>
          <a:prstGeom prst="roundRect">
            <a:avLst>
              <a:gd fmla="val 16667" name="adj"/>
            </a:avLst>
          </a:prstGeom>
          <a:solidFill>
            <a:srgbClr val="D9EAD3"/>
          </a:solidFill>
          <a:ln cap="flat" cmpd="sng" w="952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Calibration</a:t>
            </a:r>
            <a:endParaRPr/>
          </a:p>
          <a:p>
            <a:pPr indent="0" lvl="0" marL="0" rtl="0" algn="ctr">
              <a:spcBef>
                <a:spcPts val="0"/>
              </a:spcBef>
              <a:spcAft>
                <a:spcPts val="0"/>
              </a:spcAft>
              <a:buNone/>
            </a:pPr>
            <a:r>
              <a:t/>
            </a:r>
            <a:endParaRPr sz="1000">
              <a:solidFill>
                <a:schemeClr val="dk2"/>
              </a:solidFill>
            </a:endParaRPr>
          </a:p>
        </p:txBody>
      </p:sp>
      <p:sp>
        <p:nvSpPr>
          <p:cNvPr id="380" name="Google Shape;380;p48"/>
          <p:cNvSpPr/>
          <p:nvPr/>
        </p:nvSpPr>
        <p:spPr>
          <a:xfrm>
            <a:off x="4406325" y="4076950"/>
            <a:ext cx="1952400" cy="712500"/>
          </a:xfrm>
          <a:prstGeom prst="roundRect">
            <a:avLst>
              <a:gd fmla="val 16667" name="adj"/>
            </a:avLst>
          </a:prstGeom>
          <a:solidFill>
            <a:srgbClr val="D9EAD3"/>
          </a:solidFill>
          <a:ln cap="flat" cmpd="sng" w="9525">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“Mix” Thresholding</a:t>
            </a:r>
            <a:endParaRPr/>
          </a:p>
          <a:p>
            <a:pPr indent="0" lvl="0" marL="0" rtl="0" algn="ctr">
              <a:spcBef>
                <a:spcPts val="0"/>
              </a:spcBef>
              <a:spcAft>
                <a:spcPts val="0"/>
              </a:spcAft>
              <a:buNone/>
            </a:pPr>
            <a:r>
              <a:rPr lang="en" sz="1000">
                <a:solidFill>
                  <a:schemeClr val="dk2"/>
                </a:solidFill>
              </a:rPr>
              <a:t>Gaussian</a:t>
            </a:r>
            <a:r>
              <a:rPr lang="en" sz="1000">
                <a:solidFill>
                  <a:schemeClr val="dk2"/>
                </a:solidFill>
              </a:rPr>
              <a:t>-half band</a:t>
            </a:r>
            <a:endParaRPr sz="1000">
              <a:solidFill>
                <a:schemeClr val="dk2"/>
              </a:solidFill>
            </a:endParaRPr>
          </a:p>
          <a:p>
            <a:pPr indent="0" lvl="0" marL="0" rtl="0" algn="ctr">
              <a:spcBef>
                <a:spcPts val="0"/>
              </a:spcBef>
              <a:spcAft>
                <a:spcPts val="0"/>
              </a:spcAft>
              <a:buNone/>
            </a:pPr>
            <a:r>
              <a:rPr lang="en" sz="1000">
                <a:solidFill>
                  <a:schemeClr val="dk2"/>
                </a:solidFill>
              </a:rPr>
              <a:t>Twet conditioned</a:t>
            </a:r>
            <a:endParaRPr sz="1000">
              <a:solidFill>
                <a:schemeClr val="dk2"/>
              </a:solidFill>
            </a:endParaRPr>
          </a:p>
        </p:txBody>
      </p:sp>
      <p:cxnSp>
        <p:nvCxnSpPr>
          <p:cNvPr id="381" name="Google Shape;381;p48"/>
          <p:cNvCxnSpPr>
            <a:stCxn id="376" idx="2"/>
            <a:endCxn id="370" idx="0"/>
          </p:cNvCxnSpPr>
          <p:nvPr/>
        </p:nvCxnSpPr>
        <p:spPr>
          <a:xfrm>
            <a:off x="5382375" y="2020525"/>
            <a:ext cx="0" cy="239400"/>
          </a:xfrm>
          <a:prstGeom prst="straightConnector1">
            <a:avLst/>
          </a:prstGeom>
          <a:noFill/>
          <a:ln cap="flat" cmpd="sng" w="9525">
            <a:solidFill>
              <a:srgbClr val="595959"/>
            </a:solidFill>
            <a:prstDash val="solid"/>
            <a:round/>
            <a:headEnd len="med" w="med" type="none"/>
            <a:tailEnd len="med" w="med" type="triangle"/>
          </a:ln>
        </p:spPr>
      </p:cxnSp>
      <p:cxnSp>
        <p:nvCxnSpPr>
          <p:cNvPr id="382" name="Google Shape;382;p48"/>
          <p:cNvCxnSpPr>
            <a:stCxn id="370" idx="2"/>
            <a:endCxn id="379" idx="0"/>
          </p:cNvCxnSpPr>
          <p:nvPr/>
        </p:nvCxnSpPr>
        <p:spPr>
          <a:xfrm>
            <a:off x="5382500" y="2883600"/>
            <a:ext cx="0" cy="240300"/>
          </a:xfrm>
          <a:prstGeom prst="straightConnector1">
            <a:avLst/>
          </a:prstGeom>
          <a:noFill/>
          <a:ln cap="flat" cmpd="sng" w="9525">
            <a:solidFill>
              <a:srgbClr val="595959"/>
            </a:solidFill>
            <a:prstDash val="solid"/>
            <a:round/>
            <a:headEnd len="med" w="med" type="none"/>
            <a:tailEnd len="med" w="med" type="triangle"/>
          </a:ln>
        </p:spPr>
      </p:cxnSp>
      <p:cxnSp>
        <p:nvCxnSpPr>
          <p:cNvPr id="383" name="Google Shape;383;p48"/>
          <p:cNvCxnSpPr>
            <a:stCxn id="379" idx="2"/>
            <a:endCxn id="380" idx="0"/>
          </p:cNvCxnSpPr>
          <p:nvPr/>
        </p:nvCxnSpPr>
        <p:spPr>
          <a:xfrm>
            <a:off x="5382525" y="3836525"/>
            <a:ext cx="0" cy="240300"/>
          </a:xfrm>
          <a:prstGeom prst="straightConnector1">
            <a:avLst/>
          </a:prstGeom>
          <a:noFill/>
          <a:ln cap="flat" cmpd="sng" w="9525">
            <a:solidFill>
              <a:srgbClr val="595959"/>
            </a:solidFill>
            <a:prstDash val="solid"/>
            <a:round/>
            <a:headEnd len="med" w="med" type="none"/>
            <a:tailEnd len="med" w="med" type="triangle"/>
          </a:ln>
        </p:spPr>
      </p:cxnSp>
      <p:sp>
        <p:nvSpPr>
          <p:cNvPr id="384" name="Google Shape;384;p48"/>
          <p:cNvSpPr/>
          <p:nvPr/>
        </p:nvSpPr>
        <p:spPr>
          <a:xfrm>
            <a:off x="7314025" y="2543052"/>
            <a:ext cx="1178400" cy="1342800"/>
          </a:xfrm>
          <a:prstGeom prst="roundRect">
            <a:avLst>
              <a:gd fmla="val 16667" name="adj"/>
            </a:avLst>
          </a:prstGeom>
          <a:solidFill>
            <a:srgbClr val="D0E0E3"/>
          </a:solidFill>
          <a:ln cap="flat" cmpd="sng" w="9525">
            <a:solidFill>
              <a:srgbClr val="0097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000"/>
              </a:spcBef>
              <a:spcAft>
                <a:spcPts val="0"/>
              </a:spcAft>
              <a:buClr>
                <a:srgbClr val="000000"/>
              </a:buClr>
              <a:buSzPts val="1100"/>
              <a:buFont typeface="Arial"/>
              <a:buNone/>
            </a:pPr>
            <a:r>
              <a:rPr lang="en" sz="1300"/>
              <a:t>p(rain)</a:t>
            </a:r>
            <a:endParaRPr sz="1300"/>
          </a:p>
          <a:p>
            <a:pPr indent="0" lvl="0" marL="0" rtl="0" algn="ctr">
              <a:lnSpc>
                <a:spcPct val="115000"/>
              </a:lnSpc>
              <a:spcBef>
                <a:spcPts val="1000"/>
              </a:spcBef>
              <a:spcAft>
                <a:spcPts val="0"/>
              </a:spcAft>
              <a:buClr>
                <a:srgbClr val="000000"/>
              </a:buClr>
              <a:buSzPts val="1100"/>
              <a:buFont typeface="Arial"/>
              <a:buNone/>
            </a:pPr>
            <a:r>
              <a:rPr lang="en" sz="1300"/>
              <a:t>p(snow)</a:t>
            </a:r>
            <a:endParaRPr sz="1300"/>
          </a:p>
          <a:p>
            <a:pPr indent="0" lvl="0" marL="0" rtl="0" algn="ctr">
              <a:lnSpc>
                <a:spcPct val="115000"/>
              </a:lnSpc>
              <a:spcBef>
                <a:spcPts val="1000"/>
              </a:spcBef>
              <a:spcAft>
                <a:spcPts val="0"/>
              </a:spcAft>
              <a:buClr>
                <a:srgbClr val="000000"/>
              </a:buClr>
              <a:buSzPts val="1100"/>
              <a:buFont typeface="Arial"/>
              <a:buNone/>
            </a:pPr>
            <a:r>
              <a:rPr lang="en" sz="1300"/>
              <a:t>p(mix) </a:t>
            </a:r>
            <a:r>
              <a:rPr i="1" lang="en" sz="1100">
                <a:solidFill>
                  <a:schemeClr val="dk2"/>
                </a:solidFill>
              </a:rPr>
              <a:t>derived</a:t>
            </a:r>
            <a:endParaRPr i="1" sz="1100">
              <a:solidFill>
                <a:schemeClr val="dk2"/>
              </a:solidFill>
            </a:endParaRPr>
          </a:p>
        </p:txBody>
      </p:sp>
      <p:sp>
        <p:nvSpPr>
          <p:cNvPr id="385" name="Google Shape;385;p48"/>
          <p:cNvSpPr/>
          <p:nvPr/>
        </p:nvSpPr>
        <p:spPr>
          <a:xfrm>
            <a:off x="7207450" y="4216650"/>
            <a:ext cx="1351200" cy="786600"/>
          </a:xfrm>
          <a:prstGeom prst="roundRect">
            <a:avLst>
              <a:gd fmla="val 16667" name="adj"/>
            </a:avLst>
          </a:prstGeom>
          <a:solidFill>
            <a:srgbClr val="FCE5CD"/>
          </a:solidFill>
          <a:ln cap="flat" cmpd="sng" w="9525">
            <a:solidFill>
              <a:srgbClr val="FFAB4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300">
                <a:solidFill>
                  <a:schemeClr val="dk1"/>
                </a:solidFill>
              </a:rPr>
              <a:t>Feature Interpretation</a:t>
            </a:r>
            <a:endParaRPr sz="1300">
              <a:solidFill>
                <a:schemeClr val="dk1"/>
              </a:solidFill>
            </a:endParaRPr>
          </a:p>
          <a:p>
            <a:pPr indent="0" lvl="0" marL="0" rtl="0" algn="ctr">
              <a:spcBef>
                <a:spcPts val="0"/>
              </a:spcBef>
              <a:spcAft>
                <a:spcPts val="0"/>
              </a:spcAft>
              <a:buClr>
                <a:schemeClr val="dk1"/>
              </a:buClr>
              <a:buSzPts val="1100"/>
              <a:buFont typeface="Arial"/>
              <a:buNone/>
            </a:pPr>
            <a:r>
              <a:rPr lang="en" sz="1100">
                <a:solidFill>
                  <a:schemeClr val="dk2"/>
                </a:solidFill>
              </a:rPr>
              <a:t>SHAP</a:t>
            </a:r>
            <a:endParaRPr>
              <a:solidFill>
                <a:schemeClr val="dk2"/>
              </a:solidFill>
            </a:endParaRPr>
          </a:p>
        </p:txBody>
      </p:sp>
      <p:cxnSp>
        <p:nvCxnSpPr>
          <p:cNvPr id="386" name="Google Shape;386;p48"/>
          <p:cNvCxnSpPr>
            <a:stCxn id="371" idx="2"/>
            <a:endCxn id="360" idx="0"/>
          </p:cNvCxnSpPr>
          <p:nvPr/>
        </p:nvCxnSpPr>
        <p:spPr>
          <a:xfrm flipH="1">
            <a:off x="7882903" y="1981000"/>
            <a:ext cx="3900" cy="195900"/>
          </a:xfrm>
          <a:prstGeom prst="straightConnector1">
            <a:avLst/>
          </a:prstGeom>
          <a:noFill/>
          <a:ln cap="flat" cmpd="sng" w="9525">
            <a:solidFill>
              <a:srgbClr val="595959"/>
            </a:solidFill>
            <a:prstDash val="solid"/>
            <a:round/>
            <a:headEnd len="med" w="med" type="none"/>
            <a:tailEnd len="med" w="med" type="triangle"/>
          </a:ln>
        </p:spPr>
      </p:cxnSp>
      <p:cxnSp>
        <p:nvCxnSpPr>
          <p:cNvPr id="387" name="Google Shape;387;p48"/>
          <p:cNvCxnSpPr>
            <a:stCxn id="360" idx="2"/>
            <a:endCxn id="385" idx="0"/>
          </p:cNvCxnSpPr>
          <p:nvPr/>
        </p:nvCxnSpPr>
        <p:spPr>
          <a:xfrm>
            <a:off x="7883050" y="4020877"/>
            <a:ext cx="0" cy="195900"/>
          </a:xfrm>
          <a:prstGeom prst="straightConnector1">
            <a:avLst/>
          </a:prstGeom>
          <a:noFill/>
          <a:ln cap="flat" cmpd="sng" w="9525">
            <a:solidFill>
              <a:srgbClr val="595959"/>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3" name="Google Shape;393;p49"/>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Managing Class Imbalance</a:t>
            </a:r>
            <a:endParaRPr/>
          </a:p>
        </p:txBody>
      </p:sp>
      <p:sp>
        <p:nvSpPr>
          <p:cNvPr id="394" name="Google Shape;394;p49"/>
          <p:cNvSpPr txBox="1"/>
          <p:nvPr/>
        </p:nvSpPr>
        <p:spPr>
          <a:xfrm>
            <a:off x="185650" y="980475"/>
            <a:ext cx="8835600" cy="15531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chemeClr val="dk1"/>
              </a:buClr>
              <a:buSzPts val="1200"/>
              <a:buFont typeface="Roboto"/>
              <a:buChar char="●"/>
            </a:pPr>
            <a:r>
              <a:rPr lang="en" sz="1200">
                <a:solidFill>
                  <a:schemeClr val="dk1"/>
                </a:solidFill>
                <a:latin typeface="Roboto"/>
                <a:ea typeface="Roboto"/>
                <a:cs typeface="Roboto"/>
                <a:sym typeface="Roboto"/>
              </a:rPr>
              <a:t>MRoS stations skew toward high-elevation &amp; more snow obs than rain → so model learns to favor snow</a:t>
            </a:r>
            <a:endParaRPr sz="1200">
              <a:solidFill>
                <a:schemeClr val="dk1"/>
              </a:solidFill>
              <a:latin typeface="Roboto"/>
              <a:ea typeface="Roboto"/>
              <a:cs typeface="Roboto"/>
              <a:sym typeface="Roboto"/>
            </a:endParaRPr>
          </a:p>
          <a:p>
            <a:pPr indent="-304800" lvl="0" marL="457200" rtl="0" algn="l">
              <a:lnSpc>
                <a:spcPct val="115000"/>
              </a:lnSpc>
              <a:spcBef>
                <a:spcPts val="1200"/>
              </a:spcBef>
              <a:spcAft>
                <a:spcPts val="0"/>
              </a:spcAft>
              <a:buClr>
                <a:schemeClr val="dk1"/>
              </a:buClr>
              <a:buSzPts val="1200"/>
              <a:buFont typeface="Roboto"/>
              <a:buChar char="●"/>
            </a:pPr>
            <a:r>
              <a:rPr lang="en" sz="1200">
                <a:solidFill>
                  <a:schemeClr val="dk1"/>
                </a:solidFill>
                <a:latin typeface="Roboto"/>
                <a:ea typeface="Roboto"/>
                <a:cs typeface="Roboto"/>
                <a:sym typeface="Roboto"/>
              </a:rPr>
              <a:t>Frequency-based reweighting? </a:t>
            </a:r>
            <a:endParaRPr sz="1200">
              <a:solidFill>
                <a:schemeClr val="dk1"/>
              </a:solidFill>
              <a:latin typeface="Roboto"/>
              <a:ea typeface="Roboto"/>
              <a:cs typeface="Roboto"/>
              <a:sym typeface="Roboto"/>
            </a:endParaRPr>
          </a:p>
          <a:p>
            <a:pPr indent="-304800" lvl="1" marL="914400" rtl="0" algn="l">
              <a:lnSpc>
                <a:spcPct val="115000"/>
              </a:lnSpc>
              <a:spcBef>
                <a:spcPts val="0"/>
              </a:spcBef>
              <a:spcAft>
                <a:spcPts val="0"/>
              </a:spcAft>
              <a:buClr>
                <a:srgbClr val="595959"/>
              </a:buClr>
              <a:buSzPts val="1200"/>
              <a:buFont typeface="Roboto"/>
              <a:buChar char="○"/>
            </a:pPr>
            <a:r>
              <a:rPr lang="en" sz="1200">
                <a:solidFill>
                  <a:srgbClr val="595959"/>
                </a:solidFill>
                <a:latin typeface="Roboto"/>
                <a:ea typeface="Roboto"/>
                <a:cs typeface="Roboto"/>
                <a:sym typeface="Roboto"/>
              </a:rPr>
              <a:t>That fixes </a:t>
            </a:r>
            <a:r>
              <a:rPr i="1" lang="en" sz="1200">
                <a:solidFill>
                  <a:srgbClr val="595959"/>
                </a:solidFill>
                <a:latin typeface="Roboto"/>
                <a:ea typeface="Roboto"/>
                <a:cs typeface="Roboto"/>
                <a:sym typeface="Roboto"/>
              </a:rPr>
              <a:t>count imbalance</a:t>
            </a:r>
            <a:r>
              <a:rPr lang="en" sz="1200">
                <a:solidFill>
                  <a:srgbClr val="595959"/>
                </a:solidFill>
                <a:latin typeface="Roboto"/>
                <a:ea typeface="Roboto"/>
                <a:cs typeface="Roboto"/>
                <a:sym typeface="Roboto"/>
              </a:rPr>
              <a:t>, not the </a:t>
            </a:r>
            <a:r>
              <a:rPr i="1" lang="en" sz="1200">
                <a:solidFill>
                  <a:srgbClr val="595959"/>
                </a:solidFill>
                <a:latin typeface="Roboto"/>
                <a:ea typeface="Roboto"/>
                <a:cs typeface="Roboto"/>
                <a:sym typeface="Roboto"/>
              </a:rPr>
              <a:t>recall asymmetry</a:t>
            </a:r>
            <a:r>
              <a:rPr lang="en" sz="1200">
                <a:solidFill>
                  <a:srgbClr val="595959"/>
                </a:solidFill>
                <a:latin typeface="Roboto"/>
                <a:ea typeface="Roboto"/>
                <a:cs typeface="Roboto"/>
                <a:sym typeface="Roboto"/>
              </a:rPr>
              <a:t> we actually see…</a:t>
            </a:r>
            <a:endParaRPr sz="1200">
              <a:solidFill>
                <a:srgbClr val="595959"/>
              </a:solidFill>
              <a:latin typeface="Roboto"/>
              <a:ea typeface="Roboto"/>
              <a:cs typeface="Roboto"/>
              <a:sym typeface="Roboto"/>
            </a:endParaRPr>
          </a:p>
          <a:p>
            <a:pPr indent="-304800" lvl="0" marL="457200" rtl="0" algn="l">
              <a:lnSpc>
                <a:spcPct val="115000"/>
              </a:lnSpc>
              <a:spcBef>
                <a:spcPts val="1200"/>
              </a:spcBef>
              <a:spcAft>
                <a:spcPts val="0"/>
              </a:spcAft>
              <a:buClr>
                <a:schemeClr val="dk1"/>
              </a:buClr>
              <a:buSzPts val="1200"/>
              <a:buChar char="●"/>
            </a:pPr>
            <a:r>
              <a:rPr lang="en" sz="1200">
                <a:solidFill>
                  <a:srgbClr val="188038"/>
                </a:solidFill>
                <a:latin typeface="Roboto"/>
                <a:ea typeface="Roboto"/>
                <a:cs typeface="Roboto"/>
                <a:sym typeface="Roboto"/>
              </a:rPr>
              <a:t>Solution</a:t>
            </a:r>
            <a:r>
              <a:rPr lang="en" sz="1200">
                <a:solidFill>
                  <a:schemeClr val="dk1"/>
                </a:solidFill>
                <a:latin typeface="Roboto"/>
                <a:ea typeface="Roboto"/>
                <a:cs typeface="Roboto"/>
                <a:sym typeface="Roboto"/>
              </a:rPr>
              <a:t>: Tune XGBoost's </a:t>
            </a:r>
            <a:r>
              <a:rPr b="1" i="1" lang="en" sz="1200">
                <a:solidFill>
                  <a:schemeClr val="dk1"/>
                </a:solidFill>
                <a:latin typeface="Roboto"/>
                <a:ea typeface="Roboto"/>
                <a:cs typeface="Roboto"/>
                <a:sym typeface="Roboto"/>
              </a:rPr>
              <a:t>scale_pos_weight </a:t>
            </a:r>
            <a:r>
              <a:rPr lang="en" sz="1200">
                <a:solidFill>
                  <a:schemeClr val="dk1"/>
                </a:solidFill>
                <a:latin typeface="Roboto"/>
                <a:ea typeface="Roboto"/>
                <a:cs typeface="Roboto"/>
                <a:sym typeface="Roboto"/>
              </a:rPr>
              <a:t>empirically →</a:t>
            </a:r>
            <a:r>
              <a:rPr lang="en" sz="1200">
                <a:solidFill>
                  <a:schemeClr val="dk1"/>
                </a:solidFill>
                <a:latin typeface="Roboto"/>
                <a:ea typeface="Roboto"/>
                <a:cs typeface="Roboto"/>
                <a:sym typeface="Roboto"/>
              </a:rPr>
              <a:t> </a:t>
            </a:r>
            <a:r>
              <a:rPr lang="en" sz="1200">
                <a:solidFill>
                  <a:schemeClr val="dk1"/>
                </a:solidFill>
                <a:latin typeface="Roboto"/>
                <a:ea typeface="Roboto"/>
                <a:cs typeface="Roboto"/>
                <a:sym typeface="Roboto"/>
              </a:rPr>
              <a:t>sweep over candidate values</a:t>
            </a:r>
            <a:endParaRPr sz="1200">
              <a:solidFill>
                <a:schemeClr val="dk1"/>
              </a:solidFill>
              <a:latin typeface="Roboto"/>
              <a:ea typeface="Roboto"/>
              <a:cs typeface="Roboto"/>
              <a:sym typeface="Roboto"/>
            </a:endParaRPr>
          </a:p>
          <a:p>
            <a:pPr indent="-304800" lvl="1" marL="914400" rtl="0" algn="l">
              <a:lnSpc>
                <a:spcPct val="115000"/>
              </a:lnSpc>
              <a:spcBef>
                <a:spcPts val="0"/>
              </a:spcBef>
              <a:spcAft>
                <a:spcPts val="0"/>
              </a:spcAft>
              <a:buClr>
                <a:schemeClr val="dk2"/>
              </a:buClr>
              <a:buSzPts val="1200"/>
              <a:buChar char="○"/>
            </a:pPr>
            <a:r>
              <a:rPr lang="en" sz="1200">
                <a:solidFill>
                  <a:schemeClr val="dk2"/>
                </a:solidFill>
                <a:latin typeface="Roboto"/>
                <a:ea typeface="Roboto"/>
                <a:cs typeface="Roboto"/>
                <a:sym typeface="Roboto"/>
              </a:rPr>
              <a:t>scale_pos_weight &lt; 1 downweights the majority snow class</a:t>
            </a:r>
            <a:endParaRPr sz="1200">
              <a:solidFill>
                <a:schemeClr val="dk2"/>
              </a:solidFill>
              <a:latin typeface="Roboto"/>
              <a:ea typeface="Roboto"/>
              <a:cs typeface="Roboto"/>
              <a:sym typeface="Roboto"/>
            </a:endParaRPr>
          </a:p>
          <a:p>
            <a:pPr indent="-304800" lvl="1" marL="914400" rtl="0" algn="l">
              <a:lnSpc>
                <a:spcPct val="115000"/>
              </a:lnSpc>
              <a:spcBef>
                <a:spcPts val="0"/>
              </a:spcBef>
              <a:spcAft>
                <a:spcPts val="1000"/>
              </a:spcAft>
              <a:buClr>
                <a:schemeClr val="dk2"/>
              </a:buClr>
              <a:buSzPts val="1200"/>
              <a:buChar char="○"/>
            </a:pPr>
            <a:r>
              <a:rPr lang="en" sz="1200">
                <a:solidFill>
                  <a:schemeClr val="dk2"/>
                </a:solidFill>
                <a:latin typeface="Roboto"/>
                <a:ea typeface="Roboto"/>
                <a:cs typeface="Roboto"/>
                <a:sym typeface="Roboto"/>
              </a:rPr>
              <a:t>For each candidate: evaluate snow recall vs. rain recall on the </a:t>
            </a:r>
            <a:r>
              <a:rPr i="1" lang="en" sz="1200">
                <a:solidFill>
                  <a:schemeClr val="dk2"/>
                </a:solidFill>
                <a:latin typeface="Roboto"/>
                <a:ea typeface="Roboto"/>
                <a:cs typeface="Roboto"/>
                <a:sym typeface="Roboto"/>
              </a:rPr>
              <a:t>validation </a:t>
            </a:r>
            <a:r>
              <a:rPr lang="en" sz="1200">
                <a:solidFill>
                  <a:schemeClr val="dk2"/>
                </a:solidFill>
                <a:latin typeface="Roboto"/>
                <a:ea typeface="Roboto"/>
                <a:cs typeface="Roboto"/>
                <a:sym typeface="Roboto"/>
              </a:rPr>
              <a:t>set</a:t>
            </a:r>
            <a:endParaRPr sz="1200">
              <a:solidFill>
                <a:schemeClr val="dk2"/>
              </a:solidFill>
              <a:latin typeface="Roboto"/>
              <a:ea typeface="Roboto"/>
              <a:cs typeface="Roboto"/>
              <a:sym typeface="Roboto"/>
            </a:endParaRPr>
          </a:p>
        </p:txBody>
      </p:sp>
      <p:pic>
        <p:nvPicPr>
          <p:cNvPr id="395" name="Google Shape;395;p49"/>
          <p:cNvPicPr preferRelativeResize="0"/>
          <p:nvPr/>
        </p:nvPicPr>
        <p:blipFill>
          <a:blip r:embed="rId3">
            <a:alphaModFix/>
          </a:blip>
          <a:stretch>
            <a:fillRect/>
          </a:stretch>
        </p:blipFill>
        <p:spPr>
          <a:xfrm>
            <a:off x="2803825" y="2880225"/>
            <a:ext cx="6306381" cy="2263276"/>
          </a:xfrm>
          <a:prstGeom prst="rect">
            <a:avLst/>
          </a:prstGeom>
          <a:noFill/>
          <a:ln>
            <a:noFill/>
          </a:ln>
        </p:spPr>
      </p:pic>
      <p:sp>
        <p:nvSpPr>
          <p:cNvPr id="396" name="Google Shape;396;p49"/>
          <p:cNvSpPr txBox="1"/>
          <p:nvPr/>
        </p:nvSpPr>
        <p:spPr>
          <a:xfrm>
            <a:off x="185650" y="3089425"/>
            <a:ext cx="2535600" cy="17979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Font typeface="Roboto"/>
              <a:buChar char="●"/>
            </a:pPr>
            <a:r>
              <a:rPr lang="en" sz="1200">
                <a:solidFill>
                  <a:schemeClr val="dk1"/>
                </a:solidFill>
                <a:latin typeface="Roboto"/>
                <a:ea typeface="Roboto"/>
                <a:cs typeface="Roboto"/>
                <a:sym typeface="Roboto"/>
              </a:rPr>
              <a:t>Select the value that minimizes: </a:t>
            </a:r>
            <a:br>
              <a:rPr lang="en" sz="1200">
                <a:solidFill>
                  <a:schemeClr val="dk1"/>
                </a:solidFill>
                <a:latin typeface="Roboto"/>
                <a:ea typeface="Roboto"/>
                <a:cs typeface="Roboto"/>
                <a:sym typeface="Roboto"/>
              </a:rPr>
            </a:br>
            <a:r>
              <a:rPr i="1" lang="en" sz="1200">
                <a:solidFill>
                  <a:schemeClr val="dk1"/>
                </a:solidFill>
                <a:latin typeface="Roboto"/>
                <a:ea typeface="Roboto"/>
                <a:cs typeface="Roboto"/>
                <a:sym typeface="Roboto"/>
              </a:rPr>
              <a:t>|snow recall − rain recall|</a:t>
            </a:r>
            <a:endParaRPr i="1" sz="1200">
              <a:solidFill>
                <a:schemeClr val="dk1"/>
              </a:solidFill>
              <a:latin typeface="Roboto"/>
              <a:ea typeface="Roboto"/>
              <a:cs typeface="Roboto"/>
              <a:sym typeface="Roboto"/>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latin typeface="Roboto"/>
                <a:ea typeface="Roboto"/>
                <a:cs typeface="Roboto"/>
                <a:sym typeface="Roboto"/>
              </a:rPr>
              <a:t>E.g., Selected value: </a:t>
            </a:r>
            <a:r>
              <a:rPr b="1" lang="en" sz="1200">
                <a:solidFill>
                  <a:schemeClr val="dk1"/>
                </a:solidFill>
                <a:latin typeface="Roboto"/>
                <a:ea typeface="Roboto"/>
                <a:cs typeface="Roboto"/>
                <a:sym typeface="Roboto"/>
              </a:rPr>
              <a:t>0.50</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latin typeface="Roboto"/>
                <a:ea typeface="Roboto"/>
                <a:cs typeface="Roboto"/>
                <a:sym typeface="Roboto"/>
              </a:rPr>
              <a:t>snow recall 0.890</a:t>
            </a:r>
            <a:endParaRPr sz="1200">
              <a:solidFill>
                <a:schemeClr val="dk1"/>
              </a:solidFill>
              <a:latin typeface="Roboto"/>
              <a:ea typeface="Roboto"/>
              <a:cs typeface="Roboto"/>
              <a:sym typeface="Roboto"/>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latin typeface="Roboto"/>
                <a:ea typeface="Roboto"/>
                <a:cs typeface="Roboto"/>
                <a:sym typeface="Roboto"/>
              </a:rPr>
              <a:t>rain recall 0.900</a:t>
            </a:r>
            <a:endParaRPr sz="1200">
              <a:solidFill>
                <a:schemeClr val="dk1"/>
              </a:solidFill>
              <a:latin typeface="Roboto"/>
              <a:ea typeface="Roboto"/>
              <a:cs typeface="Roboto"/>
              <a:sym typeface="Roboto"/>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latin typeface="Roboto"/>
                <a:ea typeface="Roboto"/>
                <a:cs typeface="Roboto"/>
                <a:sym typeface="Roboto"/>
              </a:rPr>
              <a:t>gap = 0.010 !</a:t>
            </a:r>
            <a:endParaRPr sz="1200">
              <a:solidFill>
                <a:schemeClr val="dk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2" name="Google Shape;402;p50"/>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Calibration (for CO)</a:t>
            </a:r>
            <a:endParaRPr/>
          </a:p>
        </p:txBody>
      </p:sp>
      <p:sp>
        <p:nvSpPr>
          <p:cNvPr id="403" name="Google Shape;403;p50"/>
          <p:cNvSpPr txBox="1"/>
          <p:nvPr/>
        </p:nvSpPr>
        <p:spPr>
          <a:xfrm>
            <a:off x="185650" y="1129125"/>
            <a:ext cx="8007000" cy="1446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1"/>
              </a:buClr>
              <a:buSzPts val="1400"/>
              <a:buFont typeface="Roboto"/>
              <a:buChar char="●"/>
            </a:pPr>
            <a:r>
              <a:rPr lang="en">
                <a:solidFill>
                  <a:schemeClr val="dk1"/>
                </a:solidFill>
                <a:latin typeface="Roboto"/>
                <a:ea typeface="Roboto"/>
                <a:cs typeface="Roboto"/>
                <a:sym typeface="Roboto"/>
              </a:rPr>
              <a:t>XGBoost scores are well-calibrated for ranking, not for stated probabilities →</a:t>
            </a:r>
            <a:r>
              <a:rPr lang="en">
                <a:solidFill>
                  <a:schemeClr val="dk1"/>
                </a:solidFill>
                <a:latin typeface="Roboto"/>
                <a:ea typeface="Roboto"/>
                <a:cs typeface="Roboto"/>
                <a:sym typeface="Roboto"/>
              </a:rPr>
              <a:t> </a:t>
            </a:r>
            <a:r>
              <a:rPr lang="en">
                <a:solidFill>
                  <a:schemeClr val="dk1"/>
                </a:solidFill>
                <a:latin typeface="Roboto"/>
                <a:ea typeface="Roboto"/>
                <a:cs typeface="Roboto"/>
                <a:sym typeface="Roboto"/>
              </a:rPr>
              <a:t>a score of 0.80 ≠ 80% snow</a:t>
            </a:r>
            <a:endParaRPr>
              <a:solidFill>
                <a:schemeClr val="dk1"/>
              </a:solidFill>
              <a:latin typeface="Roboto"/>
              <a:ea typeface="Roboto"/>
              <a:cs typeface="Roboto"/>
              <a:sym typeface="Roboto"/>
            </a:endParaRPr>
          </a:p>
          <a:p>
            <a:pPr indent="0" lvl="0" marL="0" rtl="0" algn="l">
              <a:spcBef>
                <a:spcPts val="1000"/>
              </a:spcBef>
              <a:spcAft>
                <a:spcPts val="0"/>
              </a:spcAft>
              <a:buNone/>
            </a:pPr>
            <a:r>
              <a:t/>
            </a:r>
            <a:endParaRPr>
              <a:solidFill>
                <a:schemeClr val="dk1"/>
              </a:solidFill>
              <a:latin typeface="Roboto"/>
              <a:ea typeface="Roboto"/>
              <a:cs typeface="Roboto"/>
              <a:sym typeface="Roboto"/>
            </a:endParaRPr>
          </a:p>
        </p:txBody>
      </p:sp>
      <p:pic>
        <p:nvPicPr>
          <p:cNvPr id="404" name="Google Shape;404;p50"/>
          <p:cNvPicPr preferRelativeResize="0"/>
          <p:nvPr/>
        </p:nvPicPr>
        <p:blipFill>
          <a:blip r:embed="rId3">
            <a:alphaModFix/>
          </a:blip>
          <a:stretch>
            <a:fillRect/>
          </a:stretch>
        </p:blipFill>
        <p:spPr>
          <a:xfrm>
            <a:off x="5686950" y="2114250"/>
            <a:ext cx="3464174" cy="2612550"/>
          </a:xfrm>
          <a:prstGeom prst="rect">
            <a:avLst/>
          </a:prstGeom>
          <a:noFill/>
          <a:ln>
            <a:noFill/>
          </a:ln>
        </p:spPr>
      </p:pic>
      <p:sp>
        <p:nvSpPr>
          <p:cNvPr id="405" name="Google Shape;405;p50"/>
          <p:cNvSpPr txBox="1"/>
          <p:nvPr/>
        </p:nvSpPr>
        <p:spPr>
          <a:xfrm>
            <a:off x="185650" y="1951275"/>
            <a:ext cx="5679600" cy="29958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Char char="●"/>
            </a:pPr>
            <a:r>
              <a:rPr b="1" lang="en">
                <a:solidFill>
                  <a:schemeClr val="dk1"/>
                </a:solidFill>
                <a:latin typeface="Roboto"/>
                <a:ea typeface="Roboto"/>
                <a:cs typeface="Roboto"/>
                <a:sym typeface="Roboto"/>
              </a:rPr>
              <a:t>Isotonic regression calibration</a:t>
            </a:r>
            <a:r>
              <a:rPr lang="en">
                <a:solidFill>
                  <a:schemeClr val="dk1"/>
                </a:solidFill>
                <a:latin typeface="Roboto"/>
                <a:ea typeface="Roboto"/>
                <a:cs typeface="Roboto"/>
                <a:sym typeface="Roboto"/>
              </a:rPr>
              <a:t>:</a:t>
            </a:r>
            <a:r>
              <a:rPr lang="en">
                <a:solidFill>
                  <a:schemeClr val="dk1"/>
                </a:solidFill>
                <a:latin typeface="Roboto"/>
                <a:ea typeface="Roboto"/>
                <a:cs typeface="Roboto"/>
                <a:sym typeface="Roboto"/>
              </a:rPr>
              <a:t> maps the raw scores to corrected probabilities by fitting an increasing step function that minimizes the difference between predicted probabilities and observed outcomes on held-out data</a:t>
            </a:r>
            <a:endParaRPr>
              <a:solidFill>
                <a:schemeClr val="dk1"/>
              </a:solidFill>
              <a:latin typeface="Roboto"/>
              <a:ea typeface="Roboto"/>
              <a:cs typeface="Roboto"/>
              <a:sym typeface="Roboto"/>
            </a:endParaRPr>
          </a:p>
          <a:p>
            <a:pPr indent="-311150" lvl="1" marL="914400" rtl="0" algn="l">
              <a:lnSpc>
                <a:spcPct val="115000"/>
              </a:lnSpc>
              <a:spcBef>
                <a:spcPts val="1000"/>
              </a:spcBef>
              <a:spcAft>
                <a:spcPts val="0"/>
              </a:spcAft>
              <a:buClr>
                <a:srgbClr val="595959"/>
              </a:buClr>
              <a:buSzPts val="1300"/>
              <a:buFont typeface="Roboto"/>
              <a:buChar char="○"/>
            </a:pPr>
            <a:r>
              <a:rPr lang="en" sz="1300">
                <a:solidFill>
                  <a:srgbClr val="595959"/>
                </a:solidFill>
                <a:latin typeface="Roboto"/>
                <a:ea typeface="Roboto"/>
                <a:cs typeface="Roboto"/>
                <a:sym typeface="Roboto"/>
              </a:rPr>
              <a:t>non-parametric and monotone: no distributional assumption, but it can produce flat steps and overfit small samples</a:t>
            </a:r>
            <a:endParaRPr sz="1300">
              <a:solidFill>
                <a:srgbClr val="595959"/>
              </a:solidFill>
              <a:latin typeface="Roboto"/>
              <a:ea typeface="Roboto"/>
              <a:cs typeface="Roboto"/>
              <a:sym typeface="Roboto"/>
            </a:endParaRPr>
          </a:p>
          <a:p>
            <a:pPr indent="-311150" lvl="1" marL="914400" rtl="0" algn="l">
              <a:lnSpc>
                <a:spcPct val="115000"/>
              </a:lnSpc>
              <a:spcBef>
                <a:spcPts val="1200"/>
              </a:spcBef>
              <a:spcAft>
                <a:spcPts val="0"/>
              </a:spcAft>
              <a:buClr>
                <a:srgbClr val="595959"/>
              </a:buClr>
              <a:buSzPts val="1300"/>
              <a:buFont typeface="Roboto"/>
              <a:buChar char="○"/>
            </a:pPr>
            <a:r>
              <a:rPr lang="en" sz="1300">
                <a:solidFill>
                  <a:srgbClr val="595959"/>
                </a:solidFill>
                <a:latin typeface="Roboto"/>
                <a:ea typeface="Roboto"/>
                <a:cs typeface="Roboto"/>
                <a:sym typeface="Roboto"/>
              </a:rPr>
              <a:t>Separate calibration models for near-freezing observations (|T_wet| ≤ 2°C) and clear-phase observations (|T_wet| &gt; 2°C)</a:t>
            </a:r>
            <a:endParaRPr sz="1300">
              <a:solidFill>
                <a:srgbClr val="595959"/>
              </a:solidFill>
              <a:latin typeface="Roboto"/>
              <a:ea typeface="Roboto"/>
              <a:cs typeface="Roboto"/>
              <a:sym typeface="Roboto"/>
            </a:endParaRPr>
          </a:p>
          <a:p>
            <a:pPr indent="-317500" lvl="0" marL="457200" rtl="0" algn="l">
              <a:lnSpc>
                <a:spcPct val="115000"/>
              </a:lnSpc>
              <a:spcBef>
                <a:spcPts val="1200"/>
              </a:spcBef>
              <a:spcAft>
                <a:spcPts val="1000"/>
              </a:spcAft>
              <a:buClr>
                <a:schemeClr val="dk1"/>
              </a:buClr>
              <a:buSzPts val="1400"/>
              <a:buFont typeface="Roboto"/>
              <a:buChar char="●"/>
            </a:pPr>
            <a:r>
              <a:rPr lang="en">
                <a:solidFill>
                  <a:schemeClr val="dk1"/>
                </a:solidFill>
                <a:latin typeface="Roboto"/>
                <a:ea typeface="Roboto"/>
                <a:cs typeface="Roboto"/>
                <a:sym typeface="Roboto"/>
              </a:rPr>
              <a:t>Use 10-fold cross-fitting so every obs gets a calibrated probability from data it wasn't part of</a:t>
            </a:r>
            <a:endParaRPr>
              <a:solidFill>
                <a:schemeClr val="dk1"/>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1" name="Google Shape;411;p51"/>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Calibration</a:t>
            </a:r>
            <a:r>
              <a:rPr lang="en"/>
              <a:t> (for CA)</a:t>
            </a:r>
            <a:endParaRPr/>
          </a:p>
        </p:txBody>
      </p:sp>
      <p:sp>
        <p:nvSpPr>
          <p:cNvPr id="412" name="Google Shape;412;p51"/>
          <p:cNvSpPr txBox="1"/>
          <p:nvPr/>
        </p:nvSpPr>
        <p:spPr>
          <a:xfrm>
            <a:off x="185650" y="1129125"/>
            <a:ext cx="8007000" cy="7590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rgbClr val="9E9E9E"/>
              </a:buClr>
              <a:buSzPts val="1400"/>
              <a:buFont typeface="Roboto"/>
              <a:buChar char="●"/>
            </a:pPr>
            <a:r>
              <a:rPr lang="en">
                <a:solidFill>
                  <a:srgbClr val="9E9E9E"/>
                </a:solidFill>
                <a:latin typeface="Roboto"/>
                <a:ea typeface="Roboto"/>
                <a:cs typeface="Roboto"/>
                <a:sym typeface="Roboto"/>
              </a:rPr>
              <a:t>XGBoost scores are well-calibrated for ranking, not for stated probabilities →</a:t>
            </a:r>
            <a:r>
              <a:rPr lang="en">
                <a:solidFill>
                  <a:srgbClr val="9E9E9E"/>
                </a:solidFill>
                <a:latin typeface="Roboto"/>
                <a:ea typeface="Roboto"/>
                <a:cs typeface="Roboto"/>
                <a:sym typeface="Roboto"/>
              </a:rPr>
              <a:t> </a:t>
            </a:r>
            <a:r>
              <a:rPr lang="en">
                <a:solidFill>
                  <a:srgbClr val="9E9E9E"/>
                </a:solidFill>
                <a:latin typeface="Roboto"/>
                <a:ea typeface="Roboto"/>
                <a:cs typeface="Roboto"/>
                <a:sym typeface="Roboto"/>
              </a:rPr>
              <a:t>a score of 0.80 ≠ 80% snow</a:t>
            </a:r>
            <a:endParaRPr>
              <a:solidFill>
                <a:srgbClr val="9E9E9E"/>
              </a:solidFill>
              <a:latin typeface="Roboto"/>
              <a:ea typeface="Roboto"/>
              <a:cs typeface="Roboto"/>
              <a:sym typeface="Roboto"/>
            </a:endParaRPr>
          </a:p>
          <a:p>
            <a:pPr indent="0" lvl="0" marL="0" rtl="0" algn="l">
              <a:spcBef>
                <a:spcPts val="1000"/>
              </a:spcBef>
              <a:spcAft>
                <a:spcPts val="0"/>
              </a:spcAft>
              <a:buNone/>
            </a:pPr>
            <a:r>
              <a:t/>
            </a:r>
            <a:endParaRPr>
              <a:solidFill>
                <a:schemeClr val="dk1"/>
              </a:solidFill>
              <a:latin typeface="Roboto"/>
              <a:ea typeface="Roboto"/>
              <a:cs typeface="Roboto"/>
              <a:sym typeface="Roboto"/>
            </a:endParaRPr>
          </a:p>
        </p:txBody>
      </p:sp>
      <p:sp>
        <p:nvSpPr>
          <p:cNvPr id="413" name="Google Shape;413;p51"/>
          <p:cNvSpPr txBox="1"/>
          <p:nvPr/>
        </p:nvSpPr>
        <p:spPr>
          <a:xfrm>
            <a:off x="185650" y="2938600"/>
            <a:ext cx="5686800" cy="14511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chemeClr val="dk1"/>
              </a:buClr>
              <a:buSzPts val="1400"/>
              <a:buFont typeface="Roboto"/>
              <a:buChar char="●"/>
            </a:pPr>
            <a:r>
              <a:rPr b="1" lang="en">
                <a:solidFill>
                  <a:schemeClr val="dk1"/>
                </a:solidFill>
                <a:latin typeface="Roboto"/>
                <a:ea typeface="Roboto"/>
                <a:cs typeface="Roboto"/>
                <a:sym typeface="Roboto"/>
              </a:rPr>
              <a:t>Beta calibration (Kull et al., 2017): </a:t>
            </a:r>
            <a:endParaRPr b="1">
              <a:solidFill>
                <a:schemeClr val="dk1"/>
              </a:solidFill>
              <a:latin typeface="Roboto"/>
              <a:ea typeface="Roboto"/>
              <a:cs typeface="Roboto"/>
              <a:sym typeface="Roboto"/>
            </a:endParaRPr>
          </a:p>
          <a:p>
            <a:pPr indent="-311150" lvl="1" marL="914400" rtl="0" algn="l">
              <a:lnSpc>
                <a:spcPct val="115000"/>
              </a:lnSpc>
              <a:spcBef>
                <a:spcPts val="1000"/>
              </a:spcBef>
              <a:spcAft>
                <a:spcPts val="0"/>
              </a:spcAft>
              <a:buClr>
                <a:srgbClr val="595959"/>
              </a:buClr>
              <a:buSzPts val="1300"/>
              <a:buFont typeface="Roboto"/>
              <a:buChar char="○"/>
            </a:pPr>
            <a:r>
              <a:rPr lang="en" sz="1300">
                <a:solidFill>
                  <a:srgbClr val="595959"/>
                </a:solidFill>
                <a:latin typeface="Roboto"/>
                <a:ea typeface="Roboto"/>
                <a:cs typeface="Roboto"/>
                <a:sym typeface="Roboto"/>
              </a:rPr>
              <a:t>fits a 3-parameter map derived from beta distributions →</a:t>
            </a:r>
            <a:r>
              <a:rPr lang="en" sz="1300">
                <a:solidFill>
                  <a:srgbClr val="595959"/>
                </a:solidFill>
                <a:latin typeface="Roboto"/>
                <a:ea typeface="Roboto"/>
                <a:cs typeface="Roboto"/>
                <a:sym typeface="Roboto"/>
              </a:rPr>
              <a:t> </a:t>
            </a:r>
            <a:r>
              <a:rPr lang="en" sz="1300">
                <a:solidFill>
                  <a:srgbClr val="595959"/>
                </a:solidFill>
                <a:latin typeface="Roboto"/>
                <a:ea typeface="Roboto"/>
                <a:cs typeface="Roboto"/>
                <a:sym typeface="Roboto"/>
              </a:rPr>
              <a:t>flexible enough for extremely skewed score distributions</a:t>
            </a:r>
            <a:endParaRPr sz="1300">
              <a:solidFill>
                <a:srgbClr val="595959"/>
              </a:solidFill>
              <a:latin typeface="Roboto"/>
              <a:ea typeface="Roboto"/>
              <a:cs typeface="Roboto"/>
              <a:sym typeface="Roboto"/>
            </a:endParaRPr>
          </a:p>
          <a:p>
            <a:pPr indent="-311150" lvl="1" marL="914400" rtl="0" algn="l">
              <a:lnSpc>
                <a:spcPct val="115000"/>
              </a:lnSpc>
              <a:spcBef>
                <a:spcPts val="0"/>
              </a:spcBef>
              <a:spcAft>
                <a:spcPts val="0"/>
              </a:spcAft>
              <a:buClr>
                <a:srgbClr val="595959"/>
              </a:buClr>
              <a:buSzPts val="1300"/>
              <a:buFont typeface="Roboto"/>
              <a:buChar char="○"/>
            </a:pPr>
            <a:r>
              <a:rPr lang="en" sz="1300">
                <a:solidFill>
                  <a:srgbClr val="595959"/>
                </a:solidFill>
                <a:latin typeface="Roboto"/>
                <a:ea typeface="Roboto"/>
                <a:cs typeface="Roboto"/>
                <a:sym typeface="Roboto"/>
              </a:rPr>
              <a:t>Parametric: stable with few observations near the extremes (where isotonic has the least data to fit)</a:t>
            </a:r>
            <a:endParaRPr sz="1300">
              <a:solidFill>
                <a:schemeClr val="dk1"/>
              </a:solidFill>
              <a:latin typeface="Roboto"/>
              <a:ea typeface="Roboto"/>
              <a:cs typeface="Roboto"/>
              <a:sym typeface="Roboto"/>
            </a:endParaRPr>
          </a:p>
        </p:txBody>
      </p:sp>
      <p:pic>
        <p:nvPicPr>
          <p:cNvPr id="414" name="Google Shape;414;p51"/>
          <p:cNvPicPr preferRelativeResize="0"/>
          <p:nvPr/>
        </p:nvPicPr>
        <p:blipFill>
          <a:blip r:embed="rId3">
            <a:alphaModFix/>
          </a:blip>
          <a:stretch>
            <a:fillRect/>
          </a:stretch>
        </p:blipFill>
        <p:spPr>
          <a:xfrm>
            <a:off x="5931025" y="2174500"/>
            <a:ext cx="2853228" cy="2263275"/>
          </a:xfrm>
          <a:prstGeom prst="rect">
            <a:avLst/>
          </a:prstGeom>
          <a:noFill/>
          <a:ln>
            <a:noFill/>
          </a:ln>
        </p:spPr>
      </p:pic>
      <p:sp>
        <p:nvSpPr>
          <p:cNvPr id="415" name="Google Shape;415;p51"/>
          <p:cNvSpPr txBox="1"/>
          <p:nvPr/>
        </p:nvSpPr>
        <p:spPr>
          <a:xfrm>
            <a:off x="185650" y="1811950"/>
            <a:ext cx="5686800" cy="9006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1"/>
              </a:buClr>
              <a:buSzPts val="1400"/>
              <a:buFont typeface="Roboto"/>
              <a:buChar char="●"/>
            </a:pPr>
            <a:r>
              <a:rPr lang="en">
                <a:solidFill>
                  <a:schemeClr val="dk1"/>
                </a:solidFill>
                <a:latin typeface="Roboto"/>
                <a:ea typeface="Roboto"/>
                <a:cs typeface="Roboto"/>
                <a:sym typeface="Roboto"/>
              </a:rPr>
              <a:t>What if the XGBoost ranked probability results are trending so far towards the extreme and a non-parametric approach like isotonic calibration doesn’t do a great job? i.e., CA dataset</a:t>
            </a:r>
            <a:endParaRPr>
              <a:solidFill>
                <a:schemeClr val="dk1"/>
              </a:solidFill>
              <a:latin typeface="Roboto"/>
              <a:ea typeface="Roboto"/>
              <a:cs typeface="Roboto"/>
              <a:sym typeface="Roboto"/>
            </a:endParaRPr>
          </a:p>
          <a:p>
            <a:pPr indent="0" lvl="0" marL="0" rtl="0" algn="l">
              <a:spcBef>
                <a:spcPts val="1000"/>
              </a:spcBef>
              <a:spcAft>
                <a:spcPts val="0"/>
              </a:spcAft>
              <a:buNone/>
            </a:pPr>
            <a:r>
              <a:t/>
            </a:r>
            <a:endParaRPr>
              <a:solidFill>
                <a:schemeClr val="dk1"/>
              </a:solidFill>
              <a:latin typeface="Roboto"/>
              <a:ea typeface="Roboto"/>
              <a:cs typeface="Roboto"/>
              <a:sym typeface="Roboto"/>
            </a:endParaRPr>
          </a:p>
        </p:txBody>
      </p:sp>
      <p:sp>
        <p:nvSpPr>
          <p:cNvPr id="416" name="Google Shape;416;p51"/>
          <p:cNvSpPr txBox="1"/>
          <p:nvPr/>
        </p:nvSpPr>
        <p:spPr>
          <a:xfrm>
            <a:off x="132600" y="4724150"/>
            <a:ext cx="88788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i="1" lang="en" sz="1300">
                <a:solidFill>
                  <a:schemeClr val="dk1"/>
                </a:solidFill>
                <a:latin typeface="Roboto"/>
                <a:ea typeface="Roboto"/>
                <a:cs typeface="Roboto"/>
                <a:sym typeface="Roboto"/>
              </a:rPr>
              <a:t>We use </a:t>
            </a:r>
            <a:r>
              <a:rPr i="1" lang="en" sz="1300">
                <a:solidFill>
                  <a:schemeClr val="dk1"/>
                </a:solidFill>
                <a:latin typeface="Roboto"/>
                <a:ea typeface="Roboto"/>
                <a:cs typeface="Roboto"/>
                <a:sym typeface="Roboto"/>
              </a:rPr>
              <a:t>betacal for the large bimodal CA dataset &amp; isotonic for sparser CO dataset –</a:t>
            </a:r>
            <a:r>
              <a:rPr i="1" lang="en" sz="1300">
                <a:solidFill>
                  <a:schemeClr val="dk1"/>
                </a:solidFill>
                <a:latin typeface="Roboto"/>
                <a:ea typeface="Roboto"/>
                <a:cs typeface="Roboto"/>
                <a:sym typeface="Roboto"/>
              </a:rPr>
              <a:t> </a:t>
            </a:r>
            <a:r>
              <a:rPr i="1" lang="en" sz="1300">
                <a:solidFill>
                  <a:schemeClr val="dk1"/>
                </a:solidFill>
                <a:latin typeface="Roboto"/>
                <a:ea typeface="Roboto"/>
                <a:cs typeface="Roboto"/>
                <a:sym typeface="Roboto"/>
              </a:rPr>
              <a:t>chosen by validation Brier/ECE</a:t>
            </a:r>
            <a:endParaRPr i="1" sz="1300">
              <a:solidFill>
                <a:schemeClr val="dk1"/>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2" name="Google Shape;422;p52"/>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Handling “Mix” Phase</a:t>
            </a:r>
            <a:endParaRPr/>
          </a:p>
        </p:txBody>
      </p:sp>
      <p:sp>
        <p:nvSpPr>
          <p:cNvPr id="423" name="Google Shape;423;p52"/>
          <p:cNvSpPr txBox="1"/>
          <p:nvPr/>
        </p:nvSpPr>
        <p:spPr>
          <a:xfrm>
            <a:off x="132100" y="1129125"/>
            <a:ext cx="8859300" cy="2289300"/>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We’ve implemented a binary model to predict RAIN or SNOW… why didn’t we include “MIX” as a third phase in a multi-class approach instead?</a:t>
            </a:r>
            <a:endParaRPr sz="1200">
              <a:solidFill>
                <a:schemeClr val="dk1"/>
              </a:solidFill>
              <a:latin typeface="Roboto"/>
              <a:ea typeface="Roboto"/>
              <a:cs typeface="Roboto"/>
              <a:sym typeface="Roboto"/>
            </a:endParaRPr>
          </a:p>
          <a:p>
            <a:pPr indent="-304800" lvl="1" marL="914400" rtl="0" algn="l">
              <a:lnSpc>
                <a:spcPct val="100000"/>
              </a:lnSpc>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Mix is only ~10% of labels, has no distinct physical regime (overlaps with rain/snow near freezing), and observer definitions of 'mix' are inconsistent →</a:t>
            </a:r>
            <a:r>
              <a:rPr lang="en" sz="1200">
                <a:solidFill>
                  <a:schemeClr val="dk1"/>
                </a:solidFill>
                <a:latin typeface="Roboto"/>
                <a:ea typeface="Roboto"/>
                <a:cs typeface="Roboto"/>
                <a:sym typeface="Roboto"/>
              </a:rPr>
              <a:t> </a:t>
            </a:r>
            <a:r>
              <a:rPr lang="en" sz="1200">
                <a:solidFill>
                  <a:schemeClr val="dk1"/>
                </a:solidFill>
                <a:latin typeface="Roboto"/>
                <a:ea typeface="Roboto"/>
                <a:cs typeface="Roboto"/>
                <a:sym typeface="Roboto"/>
              </a:rPr>
              <a:t>a trained third class just learns label noise</a:t>
            </a:r>
            <a:endParaRPr sz="1200">
              <a:solidFill>
                <a:schemeClr val="dk1"/>
              </a:solidFill>
              <a:latin typeface="Roboto"/>
              <a:ea typeface="Roboto"/>
              <a:cs typeface="Roboto"/>
              <a:sym typeface="Roboto"/>
            </a:endParaRPr>
          </a:p>
          <a:p>
            <a:pPr indent="-304800" lvl="1" marL="914400" rtl="0" algn="l">
              <a:lnSpc>
                <a:spcPct val="100000"/>
              </a:lnSpc>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Multiclass also degrades the rain/snow boundary: gradients from noisy mix labels pull away from the decision surface in the near freezing regime</a:t>
            </a:r>
            <a:endParaRPr sz="1200">
              <a:solidFill>
                <a:schemeClr val="dk1"/>
              </a:solidFill>
              <a:latin typeface="Roboto"/>
              <a:ea typeface="Roboto"/>
              <a:cs typeface="Roboto"/>
              <a:sym typeface="Roboto"/>
            </a:endParaRPr>
          </a:p>
          <a:p>
            <a:pPr indent="-304800" lvl="1" marL="914400" rtl="0" algn="l">
              <a:lnSpc>
                <a:spcPct val="100000"/>
              </a:lnSpc>
              <a:spcBef>
                <a:spcPts val="1000"/>
              </a:spcBef>
              <a:spcAft>
                <a:spcPts val="1000"/>
              </a:spcAft>
              <a:buClr>
                <a:schemeClr val="dk1"/>
              </a:buClr>
              <a:buSzPts val="1200"/>
              <a:buFont typeface="Roboto"/>
              <a:buChar char="○"/>
            </a:pPr>
            <a:r>
              <a:rPr lang="en" sz="1200">
                <a:solidFill>
                  <a:schemeClr val="dk1"/>
                </a:solidFill>
                <a:latin typeface="Roboto"/>
                <a:ea typeface="Roboto"/>
                <a:cs typeface="Roboto"/>
                <a:sym typeface="Roboto"/>
              </a:rPr>
              <a:t>Binary + abstention keeps the supervised signal clean and converts mix into an operational flag that shows where the model is uncertain</a:t>
            </a:r>
            <a:endParaRPr sz="1200">
              <a:solidFill>
                <a:schemeClr val="dk1"/>
              </a:solidFill>
              <a:latin typeface="Roboto"/>
              <a:ea typeface="Roboto"/>
              <a:cs typeface="Roboto"/>
              <a:sym typeface="Roboto"/>
            </a:endParaRPr>
          </a:p>
        </p:txBody>
      </p:sp>
      <p:sp>
        <p:nvSpPr>
          <p:cNvPr id="424" name="Google Shape;424;p52"/>
          <p:cNvSpPr txBox="1"/>
          <p:nvPr/>
        </p:nvSpPr>
        <p:spPr>
          <a:xfrm>
            <a:off x="132100" y="3507325"/>
            <a:ext cx="8792700" cy="15495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So how can we handle “mix” observations from MRoS data to make use of the full labels without deteriorating model performance?</a:t>
            </a:r>
            <a:endParaRPr sz="1200">
              <a:solidFill>
                <a:schemeClr val="dk1"/>
              </a:solidFill>
              <a:latin typeface="Roboto"/>
              <a:ea typeface="Roboto"/>
              <a:cs typeface="Roboto"/>
              <a:sym typeface="Roboto"/>
            </a:endParaRPr>
          </a:p>
          <a:p>
            <a:pPr indent="-304800" lvl="1" marL="914400" rtl="0" algn="l">
              <a:spcBef>
                <a:spcPts val="1000"/>
              </a:spcBef>
              <a:spcAft>
                <a:spcPts val="0"/>
              </a:spcAft>
              <a:buClr>
                <a:schemeClr val="dk1"/>
              </a:buClr>
              <a:buSzPts val="1200"/>
              <a:buFont typeface="Roboto"/>
              <a:buChar char="○"/>
            </a:pPr>
            <a:r>
              <a:rPr lang="en" sz="1200">
                <a:solidFill>
                  <a:schemeClr val="dk1"/>
                </a:solidFill>
                <a:latin typeface="Roboto"/>
                <a:ea typeface="Roboto"/>
                <a:cs typeface="Roboto"/>
                <a:sym typeface="Roboto"/>
              </a:rPr>
              <a:t>O</a:t>
            </a:r>
            <a:r>
              <a:rPr lang="en" sz="1200">
                <a:solidFill>
                  <a:schemeClr val="dk1"/>
                </a:solidFill>
                <a:latin typeface="Roboto"/>
                <a:ea typeface="Roboto"/>
                <a:cs typeface="Roboto"/>
                <a:sym typeface="Roboto"/>
              </a:rPr>
              <a:t>bserver-reported mix events can serve as an external validation of where the band lands in temperature and probability space</a:t>
            </a:r>
            <a:endParaRPr sz="1200">
              <a:solidFill>
                <a:schemeClr val="dk1"/>
              </a:solidFill>
              <a:latin typeface="Roboto"/>
              <a:ea typeface="Roboto"/>
              <a:cs typeface="Roboto"/>
              <a:sym typeface="Roboto"/>
            </a:endParaRPr>
          </a:p>
          <a:p>
            <a:pPr indent="-304800" lvl="1" marL="914400" rtl="0" algn="l">
              <a:spcBef>
                <a:spcPts val="1000"/>
              </a:spcBef>
              <a:spcAft>
                <a:spcPts val="1000"/>
              </a:spcAft>
              <a:buClr>
                <a:schemeClr val="dk1"/>
              </a:buClr>
              <a:buSzPts val="1200"/>
              <a:buFont typeface="Roboto"/>
              <a:buChar char="○"/>
            </a:pPr>
            <a:r>
              <a:rPr lang="en" sz="1200">
                <a:solidFill>
                  <a:schemeClr val="dk1"/>
                </a:solidFill>
                <a:latin typeface="Roboto"/>
                <a:ea typeface="Roboto"/>
                <a:cs typeface="Roboto"/>
                <a:sym typeface="Roboto"/>
              </a:rPr>
              <a:t>We’re not claiming the model will learn to detect mixed phase → </a:t>
            </a:r>
            <a:r>
              <a:rPr i="1" lang="en" sz="1200">
                <a:solidFill>
                  <a:schemeClr val="dk1"/>
                </a:solidFill>
                <a:latin typeface="Roboto"/>
                <a:ea typeface="Roboto"/>
                <a:cs typeface="Roboto"/>
                <a:sym typeface="Roboto"/>
              </a:rPr>
              <a:t>we’re asking whether its uncertainty concentrates in the same physical regime where human observers also reported ambiguity</a:t>
            </a:r>
            <a:endParaRPr i="1" sz="1200">
              <a:solidFill>
                <a:schemeClr val="dk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30" name="Google Shape;430;p53"/>
          <p:cNvSpPr txBox="1"/>
          <p:nvPr>
            <p:ph type="title"/>
          </p:nvPr>
        </p:nvSpPr>
        <p:spPr>
          <a:xfrm>
            <a:off x="311700" y="193250"/>
            <a:ext cx="8018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Handling “Mix” Phase: Uncertainty Gaussian</a:t>
            </a:r>
            <a:r>
              <a:rPr lang="en"/>
              <a:t> Half Band</a:t>
            </a:r>
            <a:endParaRPr sz="2133"/>
          </a:p>
        </p:txBody>
      </p:sp>
      <p:sp>
        <p:nvSpPr>
          <p:cNvPr id="431" name="Google Shape;431;p53"/>
          <p:cNvSpPr txBox="1"/>
          <p:nvPr/>
        </p:nvSpPr>
        <p:spPr>
          <a:xfrm>
            <a:off x="0" y="1129125"/>
            <a:ext cx="3765300" cy="1200600"/>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1200"/>
              </a:spcBef>
              <a:spcAft>
                <a:spcPts val="0"/>
              </a:spcAft>
              <a:buClr>
                <a:schemeClr val="dk1"/>
              </a:buClr>
              <a:buSzPts val="1200"/>
              <a:buFont typeface="Roboto"/>
              <a:buChar char="●"/>
            </a:pPr>
            <a:r>
              <a:rPr lang="en" sz="1200">
                <a:solidFill>
                  <a:schemeClr val="dk1"/>
                </a:solidFill>
                <a:latin typeface="Roboto"/>
                <a:ea typeface="Roboto"/>
                <a:cs typeface="Roboto"/>
                <a:sym typeface="Roboto"/>
              </a:rPr>
              <a:t>Let’s define a boundary where the model is having the most trouble ascertaining snow vs rain… and we’ll later check if it overlaps with true mix observations</a:t>
            </a:r>
            <a:endParaRPr sz="1200">
              <a:solidFill>
                <a:schemeClr val="dk1"/>
              </a:solidFill>
              <a:latin typeface="Roboto"/>
              <a:ea typeface="Roboto"/>
              <a:cs typeface="Roboto"/>
              <a:sym typeface="Roboto"/>
            </a:endParaRPr>
          </a:p>
          <a:p>
            <a:pPr indent="-304800" lvl="0" marL="457200" rtl="0" algn="l">
              <a:spcBef>
                <a:spcPts val="1000"/>
              </a:spcBef>
              <a:spcAft>
                <a:spcPts val="1000"/>
              </a:spcAft>
              <a:buClr>
                <a:schemeClr val="dk1"/>
              </a:buClr>
              <a:buSzPts val="1200"/>
              <a:buFont typeface="Roboto"/>
              <a:buChar char="●"/>
            </a:pPr>
            <a:r>
              <a:rPr lang="en" sz="1200">
                <a:solidFill>
                  <a:schemeClr val="dk1"/>
                </a:solidFill>
                <a:latin typeface="Roboto"/>
                <a:ea typeface="Roboto"/>
                <a:cs typeface="Roboto"/>
                <a:sym typeface="Roboto"/>
              </a:rPr>
              <a:t>Requires a threshold… but h</a:t>
            </a:r>
            <a:r>
              <a:rPr lang="en" sz="1200">
                <a:solidFill>
                  <a:schemeClr val="dk1"/>
                </a:solidFill>
                <a:latin typeface="Roboto"/>
                <a:ea typeface="Roboto"/>
                <a:cs typeface="Roboto"/>
                <a:sym typeface="Roboto"/>
              </a:rPr>
              <a:t>ow to avoid fixed, arbitrary ones?</a:t>
            </a:r>
            <a:endParaRPr sz="1200">
              <a:solidFill>
                <a:schemeClr val="dk1"/>
              </a:solidFill>
              <a:latin typeface="Roboto"/>
              <a:ea typeface="Roboto"/>
              <a:cs typeface="Roboto"/>
              <a:sym typeface="Roboto"/>
            </a:endParaRPr>
          </a:p>
        </p:txBody>
      </p:sp>
      <p:pic>
        <p:nvPicPr>
          <p:cNvPr id="432" name="Google Shape;432;p53"/>
          <p:cNvPicPr preferRelativeResize="0"/>
          <p:nvPr/>
        </p:nvPicPr>
        <p:blipFill>
          <a:blip r:embed="rId3">
            <a:alphaModFix/>
          </a:blip>
          <a:stretch>
            <a:fillRect/>
          </a:stretch>
        </p:blipFill>
        <p:spPr>
          <a:xfrm>
            <a:off x="3895825" y="990575"/>
            <a:ext cx="5248174" cy="2595829"/>
          </a:xfrm>
          <a:prstGeom prst="rect">
            <a:avLst/>
          </a:prstGeom>
          <a:noFill/>
          <a:ln>
            <a:noFill/>
          </a:ln>
        </p:spPr>
      </p:pic>
      <p:sp>
        <p:nvSpPr>
          <p:cNvPr id="433" name="Google Shape;433;p53"/>
          <p:cNvSpPr txBox="1"/>
          <p:nvPr/>
        </p:nvSpPr>
        <p:spPr>
          <a:xfrm>
            <a:off x="0" y="4108632"/>
            <a:ext cx="6678900" cy="7623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Three parameters </a:t>
            </a:r>
            <a:r>
              <a:rPr lang="en" sz="1200">
                <a:solidFill>
                  <a:schemeClr val="dk1"/>
                </a:solidFill>
                <a:latin typeface="Roboto"/>
                <a:ea typeface="Roboto"/>
                <a:cs typeface="Roboto"/>
                <a:sym typeface="Roboto"/>
              </a:rPr>
              <a:t>optimized </a:t>
            </a:r>
            <a:r>
              <a:rPr lang="en" sz="1200">
                <a:solidFill>
                  <a:schemeClr val="dk1"/>
                </a:solidFill>
                <a:latin typeface="Roboto"/>
                <a:ea typeface="Roboto"/>
                <a:cs typeface="Roboto"/>
                <a:sym typeface="Roboto"/>
              </a:rPr>
              <a:t>on validation set (incl. observed mixed obs): </a:t>
            </a:r>
            <a:r>
              <a:rPr b="1" lang="en" sz="1200">
                <a:solidFill>
                  <a:schemeClr val="dk1"/>
                </a:solidFill>
                <a:latin typeface="Roboto"/>
                <a:ea typeface="Roboto"/>
                <a:cs typeface="Roboto"/>
                <a:sym typeface="Roboto"/>
              </a:rPr>
              <a:t>base, extra, σ</a:t>
            </a:r>
            <a:endParaRPr b="1" sz="1200">
              <a:solidFill>
                <a:schemeClr val="dk1"/>
              </a:solidFill>
              <a:latin typeface="Roboto"/>
              <a:ea typeface="Roboto"/>
              <a:cs typeface="Roboto"/>
              <a:sym typeface="Roboto"/>
            </a:endParaRPr>
          </a:p>
          <a:p>
            <a:pPr indent="-279400" lvl="1" marL="914400" marR="381000" rtl="0" algn="l">
              <a:lnSpc>
                <a:spcPct val="115000"/>
              </a:lnSpc>
              <a:spcBef>
                <a:spcPts val="1000"/>
              </a:spcBef>
              <a:spcAft>
                <a:spcPts val="0"/>
              </a:spcAft>
              <a:buClr>
                <a:schemeClr val="dk2"/>
              </a:buClr>
              <a:buSzPts val="800"/>
              <a:buFont typeface="Roboto"/>
              <a:buChar char="○"/>
            </a:pPr>
            <a:r>
              <a:rPr i="1" lang="en" sz="800">
                <a:solidFill>
                  <a:schemeClr val="dk2"/>
                </a:solidFill>
                <a:latin typeface="Roboto"/>
                <a:ea typeface="Roboto"/>
                <a:cs typeface="Roboto"/>
                <a:sym typeface="Roboto"/>
              </a:rPr>
              <a:t>half_band(T_wet) = base_half_band + extra_half_band × exp(−T_wet² / 2σ²)</a:t>
            </a:r>
            <a:endParaRPr i="1" sz="800">
              <a:solidFill>
                <a:schemeClr val="dk2"/>
              </a:solidFill>
              <a:latin typeface="Roboto"/>
              <a:ea typeface="Roboto"/>
              <a:cs typeface="Roboto"/>
              <a:sym typeface="Roboto"/>
            </a:endParaRPr>
          </a:p>
          <a:p>
            <a:pPr indent="-279400" lvl="1" marL="914400" marR="381000" rtl="0" algn="l">
              <a:lnSpc>
                <a:spcPct val="115000"/>
              </a:lnSpc>
              <a:spcBef>
                <a:spcPts val="0"/>
              </a:spcBef>
              <a:spcAft>
                <a:spcPts val="0"/>
              </a:spcAft>
              <a:buClr>
                <a:schemeClr val="dk2"/>
              </a:buClr>
              <a:buSzPts val="800"/>
              <a:buFont typeface="Roboto"/>
              <a:buChar char="○"/>
            </a:pPr>
            <a:r>
              <a:rPr i="1" lang="en" sz="800">
                <a:solidFill>
                  <a:schemeClr val="dk2"/>
                </a:solidFill>
                <a:latin typeface="Roboto"/>
                <a:ea typeface="Roboto"/>
                <a:cs typeface="Roboto"/>
                <a:sym typeface="Roboto"/>
              </a:rPr>
              <a:t>rain_thresh = 0.5 − half_band(T_wet) snow_thresh = 0.5 + half_band(T_w)</a:t>
            </a:r>
            <a:endParaRPr sz="1100">
              <a:solidFill>
                <a:srgbClr val="595959"/>
              </a:solidFill>
              <a:latin typeface="Roboto"/>
              <a:ea typeface="Roboto"/>
              <a:cs typeface="Roboto"/>
              <a:sym typeface="Roboto"/>
            </a:endParaRPr>
          </a:p>
        </p:txBody>
      </p:sp>
      <p:sp>
        <p:nvSpPr>
          <p:cNvPr id="434" name="Google Shape;434;p53"/>
          <p:cNvSpPr txBox="1"/>
          <p:nvPr/>
        </p:nvSpPr>
        <p:spPr>
          <a:xfrm>
            <a:off x="7212900" y="3517125"/>
            <a:ext cx="1931100" cy="158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Example selection:</a:t>
            </a:r>
            <a:endParaRPr sz="1000">
              <a:solidFill>
                <a:schemeClr val="dk1"/>
              </a:solidFill>
              <a:latin typeface="Roboto"/>
              <a:ea typeface="Roboto"/>
              <a:cs typeface="Roboto"/>
              <a:sym typeface="Roboto"/>
            </a:endParaRPr>
          </a:p>
          <a:p>
            <a:pPr indent="0" lvl="0" marL="0" rtl="0" algn="l">
              <a:spcBef>
                <a:spcPts val="0"/>
              </a:spcBef>
              <a:spcAft>
                <a:spcPts val="0"/>
              </a:spcAft>
              <a:buNone/>
            </a:pPr>
            <a:r>
              <a:t/>
            </a:r>
            <a:endParaRPr sz="900">
              <a:solidFill>
                <a:schemeClr val="dk1"/>
              </a:solidFill>
              <a:latin typeface="Roboto"/>
              <a:ea typeface="Roboto"/>
              <a:cs typeface="Roboto"/>
              <a:sym typeface="Roboto"/>
            </a:endParaRPr>
          </a:p>
          <a:p>
            <a:pPr indent="0" lvl="0" marL="0" rtl="0" algn="l">
              <a:spcBef>
                <a:spcPts val="0"/>
              </a:spcBef>
              <a:spcAft>
                <a:spcPts val="0"/>
              </a:spcAft>
              <a:buNone/>
            </a:pPr>
            <a:r>
              <a:rPr lang="en" sz="900">
                <a:solidFill>
                  <a:schemeClr val="dk1"/>
                </a:solidFill>
                <a:latin typeface="Roboto"/>
                <a:ea typeface="Roboto"/>
                <a:cs typeface="Roboto"/>
                <a:sym typeface="Roboto"/>
              </a:rPr>
              <a:t>Thresholds at T_wet = 0°C: </a:t>
            </a:r>
            <a:endParaRPr sz="900">
              <a:solidFill>
                <a:schemeClr val="dk1"/>
              </a:solidFill>
              <a:latin typeface="Roboto"/>
              <a:ea typeface="Roboto"/>
              <a:cs typeface="Roboto"/>
              <a:sym typeface="Roboto"/>
            </a:endParaRPr>
          </a:p>
          <a:p>
            <a:pPr indent="-285750" lvl="0" marL="457200" rtl="0" algn="l">
              <a:spcBef>
                <a:spcPts val="0"/>
              </a:spcBef>
              <a:spcAft>
                <a:spcPts val="0"/>
              </a:spcAft>
              <a:buClr>
                <a:schemeClr val="dk1"/>
              </a:buClr>
              <a:buSzPts val="900"/>
              <a:buFont typeface="Roboto"/>
              <a:buChar char="●"/>
            </a:pPr>
            <a:r>
              <a:rPr lang="en" sz="900">
                <a:solidFill>
                  <a:schemeClr val="dk1"/>
                </a:solidFill>
                <a:latin typeface="Roboto"/>
                <a:ea typeface="Roboto"/>
                <a:cs typeface="Roboto"/>
                <a:sym typeface="Roboto"/>
              </a:rPr>
              <a:t>rain &lt; 0.15</a:t>
            </a:r>
            <a:endParaRPr sz="900">
              <a:solidFill>
                <a:schemeClr val="dk1"/>
              </a:solidFill>
              <a:latin typeface="Roboto"/>
              <a:ea typeface="Roboto"/>
              <a:cs typeface="Roboto"/>
              <a:sym typeface="Roboto"/>
            </a:endParaRPr>
          </a:p>
          <a:p>
            <a:pPr indent="-285750" lvl="0" marL="457200" rtl="0" algn="l">
              <a:spcBef>
                <a:spcPts val="0"/>
              </a:spcBef>
              <a:spcAft>
                <a:spcPts val="0"/>
              </a:spcAft>
              <a:buClr>
                <a:schemeClr val="dk1"/>
              </a:buClr>
              <a:buSzPts val="900"/>
              <a:buFont typeface="Roboto"/>
              <a:buChar char="●"/>
            </a:pPr>
            <a:r>
              <a:rPr lang="en" sz="900">
                <a:solidFill>
                  <a:schemeClr val="dk1"/>
                </a:solidFill>
                <a:latin typeface="Roboto"/>
                <a:ea typeface="Roboto"/>
                <a:cs typeface="Roboto"/>
                <a:sym typeface="Roboto"/>
              </a:rPr>
              <a:t>mixed 0.15–0.85</a:t>
            </a:r>
            <a:endParaRPr sz="900">
              <a:solidFill>
                <a:schemeClr val="dk1"/>
              </a:solidFill>
              <a:latin typeface="Roboto"/>
              <a:ea typeface="Roboto"/>
              <a:cs typeface="Roboto"/>
              <a:sym typeface="Roboto"/>
            </a:endParaRPr>
          </a:p>
          <a:p>
            <a:pPr indent="-285750" lvl="0" marL="457200" rtl="0" algn="l">
              <a:spcBef>
                <a:spcPts val="0"/>
              </a:spcBef>
              <a:spcAft>
                <a:spcPts val="0"/>
              </a:spcAft>
              <a:buClr>
                <a:schemeClr val="dk1"/>
              </a:buClr>
              <a:buSzPts val="900"/>
              <a:buFont typeface="Roboto"/>
              <a:buChar char="●"/>
            </a:pPr>
            <a:r>
              <a:rPr lang="en" sz="900">
                <a:solidFill>
                  <a:schemeClr val="dk1"/>
                </a:solidFill>
                <a:latin typeface="Roboto"/>
                <a:ea typeface="Roboto"/>
                <a:cs typeface="Roboto"/>
                <a:sym typeface="Roboto"/>
              </a:rPr>
              <a:t>snow &gt; 0.85</a:t>
            </a:r>
            <a:endParaRPr sz="900">
              <a:solidFill>
                <a:schemeClr val="dk1"/>
              </a:solidFill>
              <a:latin typeface="Roboto"/>
              <a:ea typeface="Roboto"/>
              <a:cs typeface="Roboto"/>
              <a:sym typeface="Roboto"/>
            </a:endParaRPr>
          </a:p>
          <a:p>
            <a:pPr indent="0" lvl="0" marL="0" rtl="0" algn="l">
              <a:spcBef>
                <a:spcPts val="0"/>
              </a:spcBef>
              <a:spcAft>
                <a:spcPts val="0"/>
              </a:spcAft>
              <a:buNone/>
            </a:pPr>
            <a:r>
              <a:rPr lang="en" sz="900">
                <a:solidFill>
                  <a:schemeClr val="dk1"/>
                </a:solidFill>
                <a:latin typeface="Roboto"/>
                <a:ea typeface="Roboto"/>
                <a:cs typeface="Roboto"/>
                <a:sym typeface="Roboto"/>
              </a:rPr>
              <a:t>Thresholds far from freezing:</a:t>
            </a:r>
            <a:endParaRPr sz="900">
              <a:solidFill>
                <a:schemeClr val="dk1"/>
              </a:solidFill>
              <a:latin typeface="Roboto"/>
              <a:ea typeface="Roboto"/>
              <a:cs typeface="Roboto"/>
              <a:sym typeface="Roboto"/>
            </a:endParaRPr>
          </a:p>
          <a:p>
            <a:pPr indent="-285750" lvl="0" marL="457200" rtl="0" algn="l">
              <a:spcBef>
                <a:spcPts val="0"/>
              </a:spcBef>
              <a:spcAft>
                <a:spcPts val="0"/>
              </a:spcAft>
              <a:buClr>
                <a:schemeClr val="dk1"/>
              </a:buClr>
              <a:buSzPts val="900"/>
              <a:buFont typeface="Roboto"/>
              <a:buChar char="●"/>
            </a:pPr>
            <a:r>
              <a:rPr lang="en" sz="900">
                <a:solidFill>
                  <a:schemeClr val="dk1"/>
                </a:solidFill>
                <a:latin typeface="Roboto"/>
                <a:ea typeface="Roboto"/>
                <a:cs typeface="Roboto"/>
                <a:sym typeface="Roboto"/>
              </a:rPr>
              <a:t>rain &lt; 0.30</a:t>
            </a:r>
            <a:endParaRPr sz="900">
              <a:solidFill>
                <a:schemeClr val="dk1"/>
              </a:solidFill>
              <a:latin typeface="Roboto"/>
              <a:ea typeface="Roboto"/>
              <a:cs typeface="Roboto"/>
              <a:sym typeface="Roboto"/>
            </a:endParaRPr>
          </a:p>
          <a:p>
            <a:pPr indent="-285750" lvl="0" marL="457200" rtl="0" algn="l">
              <a:spcBef>
                <a:spcPts val="0"/>
              </a:spcBef>
              <a:spcAft>
                <a:spcPts val="0"/>
              </a:spcAft>
              <a:buClr>
                <a:schemeClr val="dk1"/>
              </a:buClr>
              <a:buSzPts val="900"/>
              <a:buFont typeface="Roboto"/>
              <a:buChar char="●"/>
            </a:pPr>
            <a:r>
              <a:rPr lang="en" sz="900">
                <a:solidFill>
                  <a:schemeClr val="dk1"/>
                </a:solidFill>
                <a:latin typeface="Roboto"/>
                <a:ea typeface="Roboto"/>
                <a:cs typeface="Roboto"/>
                <a:sym typeface="Roboto"/>
              </a:rPr>
              <a:t>mixed 0.30–0.70</a:t>
            </a:r>
            <a:endParaRPr sz="900">
              <a:solidFill>
                <a:schemeClr val="dk1"/>
              </a:solidFill>
              <a:latin typeface="Roboto"/>
              <a:ea typeface="Roboto"/>
              <a:cs typeface="Roboto"/>
              <a:sym typeface="Roboto"/>
            </a:endParaRPr>
          </a:p>
          <a:p>
            <a:pPr indent="-285750" lvl="0" marL="457200" rtl="0" algn="l">
              <a:spcBef>
                <a:spcPts val="0"/>
              </a:spcBef>
              <a:spcAft>
                <a:spcPts val="0"/>
              </a:spcAft>
              <a:buClr>
                <a:schemeClr val="dk1"/>
              </a:buClr>
              <a:buSzPts val="900"/>
              <a:buFont typeface="Roboto"/>
              <a:buChar char="●"/>
            </a:pPr>
            <a:r>
              <a:rPr lang="en" sz="900">
                <a:solidFill>
                  <a:schemeClr val="dk1"/>
                </a:solidFill>
                <a:latin typeface="Roboto"/>
                <a:ea typeface="Roboto"/>
                <a:cs typeface="Roboto"/>
                <a:sym typeface="Roboto"/>
              </a:rPr>
              <a:t>snow &gt; 0.70</a:t>
            </a:r>
            <a:endParaRPr sz="900">
              <a:latin typeface="Roboto"/>
              <a:ea typeface="Roboto"/>
              <a:cs typeface="Roboto"/>
              <a:sym typeface="Roboto"/>
            </a:endParaRPr>
          </a:p>
        </p:txBody>
      </p:sp>
      <p:sp>
        <p:nvSpPr>
          <p:cNvPr id="435" name="Google Shape;435;p53"/>
          <p:cNvSpPr txBox="1"/>
          <p:nvPr/>
        </p:nvSpPr>
        <p:spPr>
          <a:xfrm>
            <a:off x="0" y="2511175"/>
            <a:ext cx="3934500" cy="554100"/>
          </a:xfrm>
          <a:prstGeom prst="rect">
            <a:avLst/>
          </a:prstGeom>
          <a:noFill/>
          <a:ln>
            <a:noFill/>
          </a:ln>
        </p:spPr>
        <p:txBody>
          <a:bodyPr anchorCtr="0" anchor="t" bIns="91425" lIns="91425" spcFirstLastPara="1" rIns="91425" wrap="square" tIns="91425">
            <a:spAutoFit/>
          </a:bodyPr>
          <a:lstStyle/>
          <a:p>
            <a:pPr indent="-304800" lvl="0" marL="457200" rtl="0" algn="l">
              <a:spcBef>
                <a:spcPts val="1200"/>
              </a:spcBef>
              <a:spcAft>
                <a:spcPts val="1000"/>
              </a:spcAft>
              <a:buClr>
                <a:schemeClr val="dk1"/>
              </a:buClr>
              <a:buSzPts val="1200"/>
              <a:buFont typeface="Roboto"/>
              <a:buChar char="●"/>
            </a:pPr>
            <a:r>
              <a:rPr b="1" lang="en" sz="1200">
                <a:solidFill>
                  <a:schemeClr val="dk1"/>
                </a:solidFill>
                <a:latin typeface="Roboto"/>
                <a:ea typeface="Roboto"/>
                <a:cs typeface="Roboto"/>
                <a:sym typeface="Roboto"/>
              </a:rPr>
              <a:t>Gaussian half-band</a:t>
            </a:r>
            <a:r>
              <a:rPr lang="en" sz="1200">
                <a:solidFill>
                  <a:schemeClr val="dk1"/>
                </a:solidFill>
                <a:latin typeface="Roboto"/>
                <a:ea typeface="Roboto"/>
                <a:cs typeface="Roboto"/>
                <a:sym typeface="Roboto"/>
              </a:rPr>
              <a:t> –</a:t>
            </a:r>
            <a:r>
              <a:rPr lang="en" sz="1200">
                <a:solidFill>
                  <a:schemeClr val="dk1"/>
                </a:solidFill>
                <a:latin typeface="Roboto"/>
                <a:ea typeface="Roboto"/>
                <a:cs typeface="Roboto"/>
                <a:sym typeface="Roboto"/>
              </a:rPr>
              <a:t> </a:t>
            </a:r>
            <a:r>
              <a:rPr lang="en" sz="1200">
                <a:solidFill>
                  <a:schemeClr val="dk1"/>
                </a:solidFill>
                <a:latin typeface="Roboto"/>
                <a:ea typeface="Roboto"/>
                <a:cs typeface="Roboto"/>
                <a:sym typeface="Roboto"/>
              </a:rPr>
              <a:t>threshold width varies continuously with </a:t>
            </a:r>
            <a:r>
              <a:rPr i="1" lang="en" sz="1200">
                <a:solidFill>
                  <a:schemeClr val="dk1"/>
                </a:solidFill>
                <a:latin typeface="Roboto"/>
                <a:ea typeface="Roboto"/>
                <a:cs typeface="Roboto"/>
                <a:sym typeface="Roboto"/>
              </a:rPr>
              <a:t>wet-bulb</a:t>
            </a:r>
            <a:r>
              <a:rPr lang="en" sz="1200">
                <a:solidFill>
                  <a:schemeClr val="dk1"/>
                </a:solidFill>
                <a:latin typeface="Roboto"/>
                <a:ea typeface="Roboto"/>
                <a:cs typeface="Roboto"/>
                <a:sym typeface="Roboto"/>
              </a:rPr>
              <a:t> temperature</a:t>
            </a:r>
            <a:endParaRPr sz="1100">
              <a:solidFill>
                <a:srgbClr val="595959"/>
              </a:solidFill>
              <a:latin typeface="Roboto"/>
              <a:ea typeface="Roboto"/>
              <a:cs typeface="Roboto"/>
              <a:sym typeface="Roboto"/>
            </a:endParaRPr>
          </a:p>
        </p:txBody>
      </p:sp>
      <p:sp>
        <p:nvSpPr>
          <p:cNvPr id="436" name="Google Shape;436;p53"/>
          <p:cNvSpPr txBox="1"/>
          <p:nvPr/>
        </p:nvSpPr>
        <p:spPr>
          <a:xfrm>
            <a:off x="4365863" y="1167925"/>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t>band as an </a:t>
            </a:r>
            <a:r>
              <a:rPr i="1" lang="en" sz="1200">
                <a:solidFill>
                  <a:srgbClr val="9900FF"/>
                </a:solidFill>
              </a:rPr>
              <a:t>operational abstention mechanism</a:t>
            </a:r>
            <a:endParaRPr i="1" sz="1200">
              <a:solidFill>
                <a:srgbClr val="9900FF"/>
              </a:solidFill>
            </a:endParaRPr>
          </a:p>
        </p:txBody>
      </p:sp>
      <p:sp>
        <p:nvSpPr>
          <p:cNvPr id="437" name="Google Shape;437;p53"/>
          <p:cNvSpPr txBox="1"/>
          <p:nvPr/>
        </p:nvSpPr>
        <p:spPr>
          <a:xfrm>
            <a:off x="-21375" y="3007119"/>
            <a:ext cx="5630400" cy="1200600"/>
          </a:xfrm>
          <a:prstGeom prst="rect">
            <a:avLst/>
          </a:prstGeom>
          <a:noFill/>
          <a:ln>
            <a:noFill/>
          </a:ln>
        </p:spPr>
        <p:txBody>
          <a:bodyPr anchorCtr="0" anchor="t" bIns="91425" lIns="91425" spcFirstLastPara="1" rIns="91425" wrap="square" tIns="91425">
            <a:spAutoFit/>
          </a:bodyPr>
          <a:lstStyle/>
          <a:p>
            <a:pPr indent="-298450" lvl="1" marL="914400" rtl="0" algn="l">
              <a:spcBef>
                <a:spcPts val="1200"/>
              </a:spcBef>
              <a:spcAft>
                <a:spcPts val="0"/>
              </a:spcAft>
              <a:buClr>
                <a:schemeClr val="dk2"/>
              </a:buClr>
              <a:buSzPts val="1100"/>
              <a:buFont typeface="Roboto"/>
              <a:buChar char="○"/>
            </a:pPr>
            <a:r>
              <a:rPr lang="en" sz="1100">
                <a:solidFill>
                  <a:schemeClr val="dk2"/>
                </a:solidFill>
                <a:latin typeface="Roboto"/>
                <a:ea typeface="Roboto"/>
                <a:cs typeface="Roboto"/>
                <a:sym typeface="Roboto"/>
              </a:rPr>
              <a:t>Widens near 0°C (ambiguous zone) → more </a:t>
            </a:r>
            <a:br>
              <a:rPr lang="en" sz="1100">
                <a:solidFill>
                  <a:schemeClr val="dk2"/>
                </a:solidFill>
                <a:latin typeface="Roboto"/>
                <a:ea typeface="Roboto"/>
                <a:cs typeface="Roboto"/>
                <a:sym typeface="Roboto"/>
              </a:rPr>
            </a:br>
            <a:r>
              <a:rPr lang="en" sz="1100">
                <a:solidFill>
                  <a:schemeClr val="dk2"/>
                </a:solidFill>
                <a:latin typeface="Roboto"/>
                <a:ea typeface="Roboto"/>
                <a:cs typeface="Roboto"/>
                <a:sym typeface="Roboto"/>
              </a:rPr>
              <a:t>observations flagged as uncertain/mixed</a:t>
            </a:r>
            <a:endParaRPr sz="1100">
              <a:solidFill>
                <a:schemeClr val="dk2"/>
              </a:solidFill>
              <a:latin typeface="Roboto"/>
              <a:ea typeface="Roboto"/>
              <a:cs typeface="Roboto"/>
              <a:sym typeface="Roboto"/>
            </a:endParaRPr>
          </a:p>
          <a:p>
            <a:pPr indent="-298450" lvl="1" marL="914400" rtl="0" algn="l">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Narrows far from freezing (deterministic zone) → confident snow/rain calls preserved</a:t>
            </a:r>
            <a:endParaRPr sz="1100">
              <a:solidFill>
                <a:schemeClr val="dk2"/>
              </a:solidFill>
              <a:latin typeface="Roboto"/>
              <a:ea typeface="Roboto"/>
              <a:cs typeface="Roboto"/>
              <a:sym typeface="Roboto"/>
            </a:endParaRPr>
          </a:p>
          <a:p>
            <a:pPr indent="-298450" lvl="1" marL="914400" rtl="0" algn="l">
              <a:spcBef>
                <a:spcPts val="0"/>
              </a:spcBef>
              <a:spcAft>
                <a:spcPts val="0"/>
              </a:spcAft>
              <a:buClr>
                <a:schemeClr val="dk2"/>
              </a:buClr>
              <a:buSzPts val="1100"/>
              <a:buFont typeface="Roboto"/>
              <a:buChar char="○"/>
            </a:pPr>
            <a:r>
              <a:rPr lang="en" sz="1100">
                <a:solidFill>
                  <a:schemeClr val="dk2"/>
                </a:solidFill>
                <a:latin typeface="Roboto"/>
                <a:ea typeface="Roboto"/>
                <a:cs typeface="Roboto"/>
                <a:sym typeface="Roboto"/>
              </a:rPr>
              <a:t>Shape tries to mirror the empirical mix distribution rather than imposing a box</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43" name="Google Shape;443;p54"/>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t>
            </a:r>
            <a:r>
              <a:rPr lang="en"/>
              <a:t>exactly is “Mix” in the end?</a:t>
            </a:r>
            <a:endParaRPr/>
          </a:p>
        </p:txBody>
      </p:sp>
      <p:sp>
        <p:nvSpPr>
          <p:cNvPr id="444" name="Google Shape;444;p54"/>
          <p:cNvSpPr txBox="1"/>
          <p:nvPr/>
        </p:nvSpPr>
        <p:spPr>
          <a:xfrm>
            <a:off x="302875" y="1133375"/>
            <a:ext cx="8319300" cy="3798900"/>
          </a:xfrm>
          <a:prstGeom prst="rect">
            <a:avLst/>
          </a:prstGeom>
          <a:noFill/>
          <a:ln>
            <a:noFill/>
          </a:ln>
        </p:spPr>
        <p:txBody>
          <a:bodyPr anchorCtr="0" anchor="t" bIns="91425" lIns="91425" spcFirstLastPara="1" rIns="91425" wrap="square" tIns="91425">
            <a:noAutofit/>
          </a:bodyPr>
          <a:lstStyle/>
          <a:p>
            <a:pPr indent="-317500" lvl="0" marL="457200" rtl="0" algn="l">
              <a:spcBef>
                <a:spcPts val="1000"/>
              </a:spcBef>
              <a:spcAft>
                <a:spcPts val="0"/>
              </a:spcAft>
              <a:buClr>
                <a:schemeClr val="dk1"/>
              </a:buClr>
              <a:buSzPts val="1400"/>
              <a:buFont typeface="Roboto"/>
              <a:buChar char="●"/>
            </a:pPr>
            <a:r>
              <a:rPr lang="en">
                <a:solidFill>
                  <a:schemeClr val="dk1"/>
                </a:solidFill>
                <a:latin typeface="Roboto"/>
                <a:ea typeface="Roboto"/>
                <a:cs typeface="Roboto"/>
                <a:sym typeface="Roboto"/>
              </a:rPr>
              <a:t>Mix ≠ phase class that the model detects</a:t>
            </a:r>
            <a:endParaRPr>
              <a:solidFill>
                <a:schemeClr val="dk1"/>
              </a:solidFill>
              <a:latin typeface="Roboto"/>
              <a:ea typeface="Roboto"/>
              <a:cs typeface="Roboto"/>
              <a:sym typeface="Roboto"/>
            </a:endParaRPr>
          </a:p>
          <a:p>
            <a:pPr indent="-311150" lvl="1" marL="914400" rtl="0" algn="l">
              <a:spcBef>
                <a:spcPts val="0"/>
              </a:spcBef>
              <a:spcAft>
                <a:spcPts val="0"/>
              </a:spcAft>
              <a:buClr>
                <a:srgbClr val="434343"/>
              </a:buClr>
              <a:buSzPts val="1300"/>
              <a:buFont typeface="Roboto"/>
              <a:buChar char="○"/>
            </a:pPr>
            <a:r>
              <a:rPr lang="en" sz="1300">
                <a:solidFill>
                  <a:srgbClr val="434343"/>
                </a:solidFill>
                <a:latin typeface="Roboto"/>
                <a:ea typeface="Roboto"/>
                <a:cs typeface="Roboto"/>
                <a:sym typeface="Roboto"/>
              </a:rPr>
              <a:t>It’s the region where the model can’t confidently separate rain from snow</a:t>
            </a:r>
            <a:endParaRPr sz="1300">
              <a:solidFill>
                <a:srgbClr val="434343"/>
              </a:solidFill>
              <a:latin typeface="Roboto"/>
              <a:ea typeface="Roboto"/>
              <a:cs typeface="Roboto"/>
              <a:sym typeface="Roboto"/>
            </a:endParaRPr>
          </a:p>
          <a:p>
            <a:pPr indent="-311150" lvl="1" marL="914400" rtl="0" algn="l">
              <a:spcBef>
                <a:spcPts val="0"/>
              </a:spcBef>
              <a:spcAft>
                <a:spcPts val="0"/>
              </a:spcAft>
              <a:buClr>
                <a:srgbClr val="434343"/>
              </a:buClr>
              <a:buSzPts val="1300"/>
              <a:buFont typeface="Roboto"/>
              <a:buChar char="○"/>
            </a:pPr>
            <a:r>
              <a:rPr lang="en" sz="1300">
                <a:solidFill>
                  <a:srgbClr val="434343"/>
                </a:solidFill>
                <a:latin typeface="Roboto"/>
                <a:ea typeface="Roboto"/>
                <a:cs typeface="Roboto"/>
                <a:sym typeface="Roboto"/>
              </a:rPr>
              <a:t>Abstention, not prediction</a:t>
            </a:r>
            <a:endParaRPr sz="1300">
              <a:solidFill>
                <a:srgbClr val="434343"/>
              </a:solidFill>
              <a:latin typeface="Roboto"/>
              <a:ea typeface="Roboto"/>
              <a:cs typeface="Roboto"/>
              <a:sym typeface="Roboto"/>
            </a:endParaRPr>
          </a:p>
          <a:p>
            <a:pPr indent="-317500" lvl="0" marL="457200" rtl="0" algn="l">
              <a:spcBef>
                <a:spcPts val="1000"/>
              </a:spcBef>
              <a:spcAft>
                <a:spcPts val="0"/>
              </a:spcAft>
              <a:buClr>
                <a:schemeClr val="dk1"/>
              </a:buClr>
              <a:buSzPts val="1400"/>
              <a:buFont typeface="Roboto"/>
              <a:buChar char="●"/>
            </a:pPr>
            <a:r>
              <a:rPr lang="en">
                <a:solidFill>
                  <a:schemeClr val="dk1"/>
                </a:solidFill>
                <a:latin typeface="Roboto"/>
                <a:ea typeface="Roboto"/>
                <a:cs typeface="Roboto"/>
                <a:sym typeface="Roboto"/>
              </a:rPr>
              <a:t>3 things can land an observation in the band</a:t>
            </a:r>
            <a:endParaRPr>
              <a:solidFill>
                <a:schemeClr val="dk1"/>
              </a:solidFill>
              <a:latin typeface="Roboto"/>
              <a:ea typeface="Roboto"/>
              <a:cs typeface="Roboto"/>
              <a:sym typeface="Roboto"/>
            </a:endParaRPr>
          </a:p>
          <a:p>
            <a:pPr indent="-311150" lvl="1" marL="914400" rtl="0" algn="l">
              <a:spcBef>
                <a:spcPts val="0"/>
              </a:spcBef>
              <a:spcAft>
                <a:spcPts val="0"/>
              </a:spcAft>
              <a:buClr>
                <a:srgbClr val="434343"/>
              </a:buClr>
              <a:buSzPts val="1300"/>
              <a:buFont typeface="Roboto"/>
              <a:buChar char="○"/>
            </a:pPr>
            <a:r>
              <a:rPr lang="en" sz="1300">
                <a:solidFill>
                  <a:srgbClr val="434343"/>
                </a:solidFill>
                <a:latin typeface="Roboto"/>
                <a:ea typeface="Roboto"/>
                <a:cs typeface="Roboto"/>
                <a:sym typeface="Roboto"/>
              </a:rPr>
              <a:t>Truly</a:t>
            </a:r>
            <a:r>
              <a:rPr lang="en" sz="1300">
                <a:solidFill>
                  <a:srgbClr val="434343"/>
                </a:solidFill>
                <a:latin typeface="Roboto"/>
                <a:ea typeface="Roboto"/>
                <a:cs typeface="Roboto"/>
                <a:sym typeface="Roboto"/>
              </a:rPr>
              <a:t> mixed precipitation</a:t>
            </a:r>
            <a:endParaRPr sz="1300">
              <a:solidFill>
                <a:srgbClr val="434343"/>
              </a:solidFill>
              <a:latin typeface="Roboto"/>
              <a:ea typeface="Roboto"/>
              <a:cs typeface="Roboto"/>
              <a:sym typeface="Roboto"/>
            </a:endParaRPr>
          </a:p>
          <a:p>
            <a:pPr indent="-311150" lvl="1" marL="914400" rtl="0" algn="l">
              <a:spcBef>
                <a:spcPts val="0"/>
              </a:spcBef>
              <a:spcAft>
                <a:spcPts val="0"/>
              </a:spcAft>
              <a:buClr>
                <a:srgbClr val="434343"/>
              </a:buClr>
              <a:buSzPts val="1300"/>
              <a:buFont typeface="Roboto"/>
              <a:buChar char="○"/>
            </a:pPr>
            <a:r>
              <a:rPr lang="en" sz="1300">
                <a:solidFill>
                  <a:srgbClr val="434343"/>
                </a:solidFill>
                <a:latin typeface="Roboto"/>
                <a:ea typeface="Roboto"/>
                <a:cs typeface="Roboto"/>
                <a:sym typeface="Roboto"/>
              </a:rPr>
              <a:t>Conflicting predictor decisions</a:t>
            </a:r>
            <a:endParaRPr sz="1300">
              <a:solidFill>
                <a:srgbClr val="434343"/>
              </a:solidFill>
              <a:latin typeface="Roboto"/>
              <a:ea typeface="Roboto"/>
              <a:cs typeface="Roboto"/>
              <a:sym typeface="Roboto"/>
            </a:endParaRPr>
          </a:p>
          <a:p>
            <a:pPr indent="-311150" lvl="1" marL="914400" rtl="0" algn="l">
              <a:spcBef>
                <a:spcPts val="0"/>
              </a:spcBef>
              <a:spcAft>
                <a:spcPts val="0"/>
              </a:spcAft>
              <a:buClr>
                <a:srgbClr val="434343"/>
              </a:buClr>
              <a:buSzPts val="1300"/>
              <a:buFont typeface="Roboto"/>
              <a:buChar char="○"/>
            </a:pPr>
            <a:r>
              <a:rPr lang="en" sz="1300">
                <a:solidFill>
                  <a:srgbClr val="434343"/>
                </a:solidFill>
                <a:latin typeface="Roboto"/>
                <a:ea typeface="Roboto"/>
                <a:cs typeface="Roboto"/>
                <a:sym typeface="Roboto"/>
              </a:rPr>
              <a:t>Sparse local data</a:t>
            </a:r>
            <a:endParaRPr sz="1300">
              <a:solidFill>
                <a:srgbClr val="434343"/>
              </a:solidFill>
              <a:latin typeface="Roboto"/>
              <a:ea typeface="Roboto"/>
              <a:cs typeface="Roboto"/>
              <a:sym typeface="Roboto"/>
            </a:endParaRPr>
          </a:p>
          <a:p>
            <a:pPr indent="-317500" lvl="0" marL="457200" rtl="0" algn="l">
              <a:spcBef>
                <a:spcPts val="1000"/>
              </a:spcBef>
              <a:spcAft>
                <a:spcPts val="0"/>
              </a:spcAft>
              <a:buClr>
                <a:schemeClr val="dk1"/>
              </a:buClr>
              <a:buSzPts val="1400"/>
              <a:buFont typeface="Roboto"/>
              <a:buChar char="●"/>
            </a:pPr>
            <a:r>
              <a:rPr lang="en">
                <a:solidFill>
                  <a:schemeClr val="dk1"/>
                </a:solidFill>
                <a:latin typeface="Roboto"/>
                <a:ea typeface="Roboto"/>
                <a:cs typeface="Roboto"/>
                <a:sym typeface="Roboto"/>
              </a:rPr>
              <a:t>Validation logic: does the model uncertainty concentrate where citizen scientists report mix?</a:t>
            </a:r>
            <a:endParaRPr>
              <a:solidFill>
                <a:schemeClr val="dk1"/>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50" name="Google Shape;450;p55"/>
          <p:cNvSpPr txBox="1"/>
          <p:nvPr>
            <p:ph type="title"/>
          </p:nvPr>
        </p:nvSpPr>
        <p:spPr>
          <a:xfrm>
            <a:off x="311700" y="172028"/>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420"/>
              <a:t>Performance Metrics</a:t>
            </a:r>
            <a:endParaRPr sz="242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aphicFrame>
        <p:nvGraphicFramePr>
          <p:cNvPr id="451" name="Google Shape;451;p55"/>
          <p:cNvGraphicFramePr/>
          <p:nvPr/>
        </p:nvGraphicFramePr>
        <p:xfrm>
          <a:off x="81000" y="1005432"/>
          <a:ext cx="3000000" cy="3000000"/>
        </p:xfrm>
        <a:graphic>
          <a:graphicData uri="http://schemas.openxmlformats.org/drawingml/2006/table">
            <a:tbl>
              <a:tblPr>
                <a:noFill/>
                <a:tableStyleId>{75D24AE4-C694-4153-94AB-1E15D84ED316}</a:tableStyleId>
              </a:tblPr>
              <a:tblGrid>
                <a:gridCol w="2010800"/>
                <a:gridCol w="1711550"/>
                <a:gridCol w="5032500"/>
              </a:tblGrid>
              <a:tr h="339400">
                <a:tc>
                  <a:txBody>
                    <a:bodyPr/>
                    <a:lstStyle/>
                    <a:p>
                      <a:pPr indent="0" lvl="0" marL="0" rtl="0" algn="ctr">
                        <a:spcBef>
                          <a:spcPts val="0"/>
                        </a:spcBef>
                        <a:spcAft>
                          <a:spcPts val="0"/>
                        </a:spcAft>
                        <a:buNone/>
                      </a:pPr>
                      <a:r>
                        <a:rPr b="1" lang="en">
                          <a:latin typeface="Roboto"/>
                          <a:ea typeface="Roboto"/>
                          <a:cs typeface="Roboto"/>
                          <a:sym typeface="Roboto"/>
                        </a:rPr>
                        <a:t>What does this tell us?</a:t>
                      </a:r>
                      <a:endParaRPr b="1">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9050">
                      <a:solidFill>
                        <a:srgbClr val="33394A"/>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latin typeface="Roboto"/>
                          <a:ea typeface="Roboto"/>
                          <a:cs typeface="Roboto"/>
                          <a:sym typeface="Roboto"/>
                        </a:rPr>
                        <a:t>Metric</a:t>
                      </a:r>
                      <a:endParaRPr b="1">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lnB cap="flat" cmpd="sng" w="19050">
                      <a:solidFill>
                        <a:srgbClr val="33394A"/>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latin typeface="Roboto"/>
                          <a:ea typeface="Roboto"/>
                          <a:cs typeface="Roboto"/>
                          <a:sym typeface="Roboto"/>
                        </a:rPr>
                        <a:t>Description</a:t>
                      </a:r>
                      <a:endParaRPr b="1">
                        <a:latin typeface="Roboto"/>
                        <a:ea typeface="Roboto"/>
                        <a:cs typeface="Roboto"/>
                        <a:sym typeface="Roboto"/>
                      </a:endParaRPr>
                    </a:p>
                  </a:txBody>
                  <a:tcPr marT="91425" marB="91425" marR="91425" marL="91425" anchor="ctr">
                    <a:lnB cap="flat" cmpd="sng" w="19050">
                      <a:solidFill>
                        <a:srgbClr val="33394A"/>
                      </a:solidFill>
                      <a:prstDash val="solid"/>
                      <a:round/>
                      <a:headEnd len="sm" w="sm" type="none"/>
                      <a:tailEnd len="sm" w="sm" type="none"/>
                    </a:lnB>
                    <a:solidFill>
                      <a:schemeClr val="lt2"/>
                    </a:solidFill>
                  </a:tcPr>
                </a:tc>
              </a:tr>
              <a:tr h="521775">
                <a:tc rowSpan="2">
                  <a:txBody>
                    <a:bodyPr/>
                    <a:lstStyle/>
                    <a:p>
                      <a:pPr indent="0" lvl="0" marL="0" rtl="0" algn="ctr">
                        <a:spcBef>
                          <a:spcPts val="0"/>
                        </a:spcBef>
                        <a:spcAft>
                          <a:spcPts val="0"/>
                        </a:spcAft>
                        <a:buNone/>
                      </a:pPr>
                      <a:r>
                        <a:rPr lang="en">
                          <a:latin typeface="Roboto"/>
                          <a:ea typeface="Roboto"/>
                          <a:cs typeface="Roboto"/>
                          <a:sym typeface="Roboto"/>
                        </a:rPr>
                        <a:t>Did the model predict accurately?</a:t>
                      </a:r>
                      <a:endParaRPr>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19050">
                      <a:solidFill>
                        <a:srgbClr val="33394A"/>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Roboto"/>
                          <a:ea typeface="Roboto"/>
                          <a:cs typeface="Roboto"/>
                          <a:sym typeface="Roboto"/>
                        </a:rPr>
                        <a:t>Confusion Matrix</a:t>
                      </a:r>
                      <a:endParaRPr b="1">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lnT cap="flat" cmpd="sng" w="19050">
                      <a:solidFill>
                        <a:srgbClr val="33394A"/>
                      </a:solidFill>
                      <a:prstDash val="solid"/>
                      <a:round/>
                      <a:headEnd len="sm" w="sm" type="none"/>
                      <a:tailEnd len="sm" w="sm" type="none"/>
                    </a:lnT>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Of all true snow/rain/mix observations: the % that the model label correctly vs. mix up</a:t>
                      </a:r>
                      <a:endParaRPr sz="1100">
                        <a:solidFill>
                          <a:schemeClr val="dk2"/>
                        </a:solidFill>
                        <a:latin typeface="Roboto"/>
                        <a:ea typeface="Roboto"/>
                        <a:cs typeface="Roboto"/>
                        <a:sym typeface="Roboto"/>
                      </a:endParaRPr>
                    </a:p>
                  </a:txBody>
                  <a:tcPr marT="91425" marB="91425" marR="91425" marL="91425" anchor="ctr">
                    <a:lnT cap="flat" cmpd="sng" w="19050">
                      <a:solidFill>
                        <a:srgbClr val="33394A"/>
                      </a:solidFill>
                      <a:prstDash val="solid"/>
                      <a:round/>
                      <a:headEnd len="sm" w="sm" type="none"/>
                      <a:tailEnd len="sm" w="sm" type="none"/>
                    </a:lnT>
                  </a:tcPr>
                </a:tc>
              </a:tr>
              <a:tr h="562975">
                <a:tc vMerge="1"/>
                <a:tc>
                  <a:txBody>
                    <a:bodyPr/>
                    <a:lstStyle/>
                    <a:p>
                      <a:pPr indent="0" lvl="0" marL="0" rtl="0" algn="ctr">
                        <a:spcBef>
                          <a:spcPts val="0"/>
                        </a:spcBef>
                        <a:spcAft>
                          <a:spcPts val="0"/>
                        </a:spcAft>
                        <a:buNone/>
                      </a:pPr>
                      <a:r>
                        <a:rPr b="1" lang="en">
                          <a:latin typeface="Roboto"/>
                          <a:ea typeface="Roboto"/>
                          <a:cs typeface="Roboto"/>
                          <a:sym typeface="Roboto"/>
                        </a:rPr>
                        <a:t>F1 Score</a:t>
                      </a:r>
                      <a:endParaRPr b="1">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Single number per class; lower if the model either misses too many events or raises too many false alarms. </a:t>
                      </a:r>
                      <a:endParaRPr sz="1100">
                        <a:solidFill>
                          <a:schemeClr val="dk2"/>
                        </a:solidFill>
                        <a:latin typeface="Roboto"/>
                        <a:ea typeface="Roboto"/>
                        <a:cs typeface="Roboto"/>
                        <a:sym typeface="Roboto"/>
                      </a:endParaRPr>
                    </a:p>
                    <a:p>
                      <a:pPr indent="0" lvl="0" marL="0" rtl="0" algn="l">
                        <a:spcBef>
                          <a:spcPts val="0"/>
                        </a:spcBef>
                        <a:spcAft>
                          <a:spcPts val="0"/>
                        </a:spcAft>
                        <a:buNone/>
                      </a:pPr>
                      <a:r>
                        <a:rPr lang="en" sz="1100">
                          <a:solidFill>
                            <a:schemeClr val="dk2"/>
                          </a:solidFill>
                          <a:latin typeface="Roboto"/>
                          <a:ea typeface="Roboto"/>
                          <a:cs typeface="Roboto"/>
                          <a:sym typeface="Roboto"/>
                        </a:rPr>
                        <a:t>“</a:t>
                      </a:r>
                      <a:r>
                        <a:rPr b="1" lang="en" sz="1100">
                          <a:solidFill>
                            <a:schemeClr val="dk2"/>
                          </a:solidFill>
                          <a:latin typeface="Roboto"/>
                          <a:ea typeface="Roboto"/>
                          <a:cs typeface="Roboto"/>
                          <a:sym typeface="Roboto"/>
                        </a:rPr>
                        <a:t>Macro</a:t>
                      </a:r>
                      <a:r>
                        <a:rPr lang="en" sz="1100">
                          <a:solidFill>
                            <a:schemeClr val="dk2"/>
                          </a:solidFill>
                          <a:latin typeface="Roboto"/>
                          <a:ea typeface="Roboto"/>
                          <a:cs typeface="Roboto"/>
                          <a:sym typeface="Roboto"/>
                        </a:rPr>
                        <a:t>” F1 is average of F1 across each class.</a:t>
                      </a:r>
                      <a:endParaRPr sz="1100">
                        <a:solidFill>
                          <a:schemeClr val="dk2"/>
                        </a:solidFill>
                        <a:latin typeface="Roboto"/>
                        <a:ea typeface="Roboto"/>
                        <a:cs typeface="Roboto"/>
                        <a:sym typeface="Roboto"/>
                      </a:endParaRPr>
                    </a:p>
                  </a:txBody>
                  <a:tcPr marT="91425" marB="91425" marR="91425" marL="91425" anchor="ctr"/>
                </a:tc>
              </a:tr>
            </a:tbl>
          </a:graphicData>
        </a:graphic>
      </p:graphicFrame>
      <p:graphicFrame>
        <p:nvGraphicFramePr>
          <p:cNvPr id="452" name="Google Shape;452;p55"/>
          <p:cNvGraphicFramePr/>
          <p:nvPr/>
        </p:nvGraphicFramePr>
        <p:xfrm>
          <a:off x="81000" y="2610877"/>
          <a:ext cx="3000000" cy="3000000"/>
        </p:xfrm>
        <a:graphic>
          <a:graphicData uri="http://schemas.openxmlformats.org/drawingml/2006/table">
            <a:tbl>
              <a:tblPr>
                <a:noFill/>
                <a:tableStyleId>{75D24AE4-C694-4153-94AB-1E15D84ED316}</a:tableStyleId>
              </a:tblPr>
              <a:tblGrid>
                <a:gridCol w="2010800"/>
                <a:gridCol w="1711550"/>
                <a:gridCol w="5032500"/>
              </a:tblGrid>
              <a:tr h="558850">
                <a:tc rowSpan="2">
                  <a:txBody>
                    <a:bodyPr/>
                    <a:lstStyle/>
                    <a:p>
                      <a:pPr indent="0" lvl="0" marL="0" rtl="0" algn="ctr">
                        <a:spcBef>
                          <a:spcPts val="0"/>
                        </a:spcBef>
                        <a:spcAft>
                          <a:spcPts val="0"/>
                        </a:spcAft>
                        <a:buNone/>
                      </a:pPr>
                      <a:r>
                        <a:rPr lang="en">
                          <a:latin typeface="Roboto"/>
                          <a:ea typeface="Roboto"/>
                          <a:cs typeface="Roboto"/>
                          <a:sym typeface="Roboto"/>
                        </a:rPr>
                        <a:t>How well does the model separate phase?</a:t>
                      </a:r>
                      <a:endParaRPr>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Roboto"/>
                          <a:ea typeface="Roboto"/>
                          <a:cs typeface="Roboto"/>
                          <a:sym typeface="Roboto"/>
                        </a:rPr>
                        <a:t>AU</a:t>
                      </a:r>
                      <a:r>
                        <a:rPr b="1" lang="en">
                          <a:latin typeface="Roboto"/>
                          <a:ea typeface="Roboto"/>
                          <a:cs typeface="Roboto"/>
                          <a:sym typeface="Roboto"/>
                        </a:rPr>
                        <a:t>ROC</a:t>
                      </a:r>
                      <a:endParaRPr b="1">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tcPr>
                </a:tc>
                <a:tc>
                  <a:txBody>
                    <a:bodyPr/>
                    <a:lstStyle/>
                    <a:p>
                      <a:pPr indent="0" lvl="0" marL="0" rtl="0" algn="l">
                        <a:lnSpc>
                          <a:spcPct val="115000"/>
                        </a:lnSpc>
                        <a:spcBef>
                          <a:spcPts val="1200"/>
                        </a:spcBef>
                        <a:spcAft>
                          <a:spcPts val="1200"/>
                        </a:spcAft>
                        <a:buNone/>
                      </a:pPr>
                      <a:r>
                        <a:rPr lang="en" sz="1100">
                          <a:solidFill>
                            <a:schemeClr val="dk2"/>
                          </a:solidFill>
                          <a:latin typeface="Roboto"/>
                          <a:ea typeface="Roboto"/>
                          <a:cs typeface="Roboto"/>
                          <a:sym typeface="Roboto"/>
                        </a:rPr>
                        <a:t>Area under curve of the true positive rate against the false positive rate. Closer to 1 the better</a:t>
                      </a:r>
                      <a:endParaRPr sz="1100">
                        <a:solidFill>
                          <a:schemeClr val="dk2"/>
                        </a:solidFill>
                        <a:latin typeface="Roboto"/>
                        <a:ea typeface="Roboto"/>
                        <a:cs typeface="Roboto"/>
                        <a:sym typeface="Roboto"/>
                      </a:endParaRPr>
                    </a:p>
                  </a:txBody>
                  <a:tcPr marT="91425" marB="91425" marR="91425" marL="91425" anchor="ctr"/>
                </a:tc>
              </a:tr>
              <a:tr h="399250">
                <a:tc vMerge="1"/>
                <a:tc>
                  <a:txBody>
                    <a:bodyPr/>
                    <a:lstStyle/>
                    <a:p>
                      <a:pPr indent="0" lvl="0" marL="0" rtl="0" algn="ctr">
                        <a:spcBef>
                          <a:spcPts val="0"/>
                        </a:spcBef>
                        <a:spcAft>
                          <a:spcPts val="0"/>
                        </a:spcAft>
                        <a:buNone/>
                      </a:pPr>
                      <a:r>
                        <a:rPr b="1" lang="en">
                          <a:solidFill>
                            <a:schemeClr val="dk1"/>
                          </a:solidFill>
                          <a:latin typeface="Roboto"/>
                          <a:ea typeface="Roboto"/>
                          <a:cs typeface="Roboto"/>
                          <a:sym typeface="Roboto"/>
                        </a:rPr>
                        <a:t>AP</a:t>
                      </a:r>
                      <a:endParaRPr b="1" sz="1300">
                        <a:solidFill>
                          <a:schemeClr val="dk1"/>
                        </a:solidFill>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sz="1100">
                          <a:solidFill>
                            <a:srgbClr val="595959"/>
                          </a:solidFill>
                          <a:latin typeface="Roboto"/>
                          <a:ea typeface="Roboto"/>
                          <a:cs typeface="Roboto"/>
                          <a:sym typeface="Roboto"/>
                        </a:rPr>
                        <a:t>Average precision: similar to &amp; more strict than AUROC</a:t>
                      </a:r>
                      <a:endParaRPr sz="1100">
                        <a:solidFill>
                          <a:srgbClr val="595959"/>
                        </a:solidFill>
                        <a:latin typeface="Roboto"/>
                        <a:ea typeface="Roboto"/>
                        <a:cs typeface="Roboto"/>
                        <a:sym typeface="Roboto"/>
                      </a:endParaRPr>
                    </a:p>
                  </a:txBody>
                  <a:tcPr marT="91425" marB="91425" marR="91425" marL="91425" anchor="ctr"/>
                </a:tc>
              </a:tr>
            </a:tbl>
          </a:graphicData>
        </a:graphic>
      </p:graphicFrame>
      <p:graphicFrame>
        <p:nvGraphicFramePr>
          <p:cNvPr id="453" name="Google Shape;453;p55"/>
          <p:cNvGraphicFramePr/>
          <p:nvPr/>
        </p:nvGraphicFramePr>
        <p:xfrm>
          <a:off x="81000" y="3564392"/>
          <a:ext cx="3000000" cy="3000000"/>
        </p:xfrm>
        <a:graphic>
          <a:graphicData uri="http://schemas.openxmlformats.org/drawingml/2006/table">
            <a:tbl>
              <a:tblPr>
                <a:noFill/>
                <a:tableStyleId>{75D24AE4-C694-4153-94AB-1E15D84ED316}</a:tableStyleId>
              </a:tblPr>
              <a:tblGrid>
                <a:gridCol w="2010800"/>
                <a:gridCol w="1711550"/>
                <a:gridCol w="5032500"/>
              </a:tblGrid>
              <a:tr h="486625">
                <a:tc rowSpan="3">
                  <a:txBody>
                    <a:bodyPr/>
                    <a:lstStyle/>
                    <a:p>
                      <a:pPr indent="0" lvl="0" marL="0" rtl="0" algn="ctr">
                        <a:spcBef>
                          <a:spcPts val="0"/>
                        </a:spcBef>
                        <a:spcAft>
                          <a:spcPts val="0"/>
                        </a:spcAft>
                        <a:buNone/>
                      </a:pPr>
                      <a:r>
                        <a:rPr lang="en">
                          <a:latin typeface="Roboto"/>
                          <a:ea typeface="Roboto"/>
                          <a:cs typeface="Roboto"/>
                          <a:sym typeface="Roboto"/>
                        </a:rPr>
                        <a:t>How trustworthy are the predictions?</a:t>
                      </a:r>
                      <a:endParaRPr>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Roboto"/>
                          <a:ea typeface="Roboto"/>
                          <a:cs typeface="Roboto"/>
                          <a:sym typeface="Roboto"/>
                        </a:rPr>
                        <a:t>Reliability</a:t>
                      </a:r>
                      <a:endParaRPr b="1">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Reveals over/under confidence; when model says "70% chance of snow," does snow actually occur ~70% of the time?</a:t>
                      </a:r>
                      <a:endParaRPr sz="1100">
                        <a:solidFill>
                          <a:schemeClr val="dk2"/>
                        </a:solidFill>
                        <a:latin typeface="Roboto"/>
                        <a:ea typeface="Roboto"/>
                        <a:cs typeface="Roboto"/>
                        <a:sym typeface="Roboto"/>
                      </a:endParaRPr>
                    </a:p>
                  </a:txBody>
                  <a:tcPr marT="91425" marB="91425" marR="91425" marL="91425" anchor="ctr"/>
                </a:tc>
              </a:tr>
              <a:tr h="434375">
                <a:tc vMerge="1"/>
                <a:tc>
                  <a:txBody>
                    <a:bodyPr/>
                    <a:lstStyle/>
                    <a:p>
                      <a:pPr indent="0" lvl="0" marL="0" rtl="0" algn="ctr">
                        <a:spcBef>
                          <a:spcPts val="0"/>
                        </a:spcBef>
                        <a:spcAft>
                          <a:spcPts val="0"/>
                        </a:spcAft>
                        <a:buNone/>
                      </a:pPr>
                      <a:r>
                        <a:rPr b="1" lang="en">
                          <a:latin typeface="Roboto"/>
                          <a:ea typeface="Roboto"/>
                          <a:cs typeface="Roboto"/>
                          <a:sym typeface="Roboto"/>
                        </a:rPr>
                        <a:t>Brier Score</a:t>
                      </a:r>
                      <a:endParaRPr b="1">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Mean squared error between predicted probability and truth. Lower score means less error.</a:t>
                      </a:r>
                      <a:endParaRPr sz="1100">
                        <a:solidFill>
                          <a:schemeClr val="dk2"/>
                        </a:solidFill>
                        <a:latin typeface="Roboto"/>
                        <a:ea typeface="Roboto"/>
                        <a:cs typeface="Roboto"/>
                        <a:sym typeface="Roboto"/>
                      </a:endParaRPr>
                    </a:p>
                  </a:txBody>
                  <a:tcPr marT="91425" marB="91425" marR="91425" marL="91425" anchor="ctr"/>
                </a:tc>
              </a:tr>
              <a:tr h="434375">
                <a:tc vMerge="1"/>
                <a:tc>
                  <a:txBody>
                    <a:bodyPr/>
                    <a:lstStyle/>
                    <a:p>
                      <a:pPr indent="0" lvl="0" marL="0" rtl="0" algn="ctr">
                        <a:spcBef>
                          <a:spcPts val="0"/>
                        </a:spcBef>
                        <a:spcAft>
                          <a:spcPts val="0"/>
                        </a:spcAft>
                        <a:buNone/>
                      </a:pPr>
                      <a:r>
                        <a:rPr b="1" lang="en">
                          <a:latin typeface="Roboto"/>
                          <a:ea typeface="Roboto"/>
                          <a:cs typeface="Roboto"/>
                          <a:sym typeface="Roboto"/>
                        </a:rPr>
                        <a:t>ECE</a:t>
                      </a:r>
                      <a:endParaRPr b="1">
                        <a:latin typeface="Roboto"/>
                        <a:ea typeface="Roboto"/>
                        <a:cs typeface="Roboto"/>
                        <a:sym typeface="Roboto"/>
                      </a:endParaRPr>
                    </a:p>
                  </a:txBody>
                  <a:tcPr marT="91425" marB="91425" marR="91425" marL="91425" anchor="ctr">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Expected calibration error: alignment between predicted probabilities and observed outcome frequencies across binned probability ranges.</a:t>
                      </a:r>
                      <a:endParaRPr sz="1100">
                        <a:solidFill>
                          <a:schemeClr val="dk2"/>
                        </a:solidFill>
                        <a:latin typeface="Roboto"/>
                        <a:ea typeface="Roboto"/>
                        <a:cs typeface="Roboto"/>
                        <a:sym typeface="Roboto"/>
                      </a:endParaRPr>
                    </a:p>
                  </a:txBody>
                  <a:tcPr marT="91425" marB="91425" marR="91425" marL="91425" anchor="ct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59" name="Google Shape;459;p56"/>
          <p:cNvSpPr txBox="1"/>
          <p:nvPr>
            <p:ph type="ctrTitle"/>
          </p:nvPr>
        </p:nvSpPr>
        <p:spPr>
          <a:xfrm>
            <a:off x="311700" y="301500"/>
            <a:ext cx="2903100" cy="1395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Results</a:t>
            </a:r>
            <a:endParaRPr/>
          </a:p>
        </p:txBody>
      </p:sp>
      <p:sp>
        <p:nvSpPr>
          <p:cNvPr id="460" name="Google Shape;460;p56"/>
          <p:cNvSpPr txBox="1"/>
          <p:nvPr>
            <p:ph idx="1" type="subTitle"/>
          </p:nvPr>
        </p:nvSpPr>
        <p:spPr>
          <a:xfrm>
            <a:off x="3889000" y="3123200"/>
            <a:ext cx="4989900" cy="7926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b="1" lang="en" sz="2400"/>
              <a:t>Binary </a:t>
            </a:r>
            <a:r>
              <a:rPr lang="en" sz="2400"/>
              <a:t>Model on CA</a:t>
            </a:r>
            <a:endParaRPr sz="2400"/>
          </a:p>
          <a:p>
            <a:pPr indent="0" lvl="0" marL="0" rtl="0" algn="ctr">
              <a:lnSpc>
                <a:spcPct val="90000"/>
              </a:lnSpc>
              <a:spcBef>
                <a:spcPts val="0"/>
              </a:spcBef>
              <a:spcAft>
                <a:spcPts val="0"/>
              </a:spcAft>
              <a:buNone/>
            </a:pPr>
            <a:r>
              <a:rPr i="1" lang="en" sz="2000">
                <a:solidFill>
                  <a:srgbClr val="595959"/>
                </a:solidFill>
              </a:rPr>
              <a:t>(</a:t>
            </a:r>
            <a:r>
              <a:rPr b="1" i="1" lang="en" sz="2000">
                <a:solidFill>
                  <a:srgbClr val="595959"/>
                </a:solidFill>
              </a:rPr>
              <a:t>kriging</a:t>
            </a:r>
            <a:r>
              <a:rPr i="1" lang="en" sz="2000">
                <a:solidFill>
                  <a:srgbClr val="595959"/>
                </a:solidFill>
              </a:rPr>
              <a:t>-</a:t>
            </a:r>
            <a:r>
              <a:rPr i="1" lang="en" sz="2000">
                <a:solidFill>
                  <a:srgbClr val="595959"/>
                </a:solidFill>
              </a:rPr>
              <a:t>based interpolated MRoS and station predictors</a:t>
            </a:r>
            <a:r>
              <a:rPr i="1" lang="en" sz="2000">
                <a:solidFill>
                  <a:srgbClr val="595959"/>
                </a:solidFill>
              </a:rPr>
              <a:t>)</a:t>
            </a:r>
            <a:endParaRPr i="1" sz="2000">
              <a:solidFill>
                <a:srgbClr val="595959"/>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66" name="Google Shape;466;p57"/>
          <p:cNvSpPr txBox="1"/>
          <p:nvPr>
            <p:ph type="title"/>
          </p:nvPr>
        </p:nvSpPr>
        <p:spPr>
          <a:xfrm>
            <a:off x="311700" y="172028"/>
            <a:ext cx="78747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20"/>
              <a:t>Confusion Matrices</a:t>
            </a:r>
            <a:endParaRPr sz="2420"/>
          </a:p>
        </p:txBody>
      </p:sp>
      <p:pic>
        <p:nvPicPr>
          <p:cNvPr id="467" name="Google Shape;467;p57"/>
          <p:cNvPicPr preferRelativeResize="0"/>
          <p:nvPr/>
        </p:nvPicPr>
        <p:blipFill>
          <a:blip r:embed="rId3">
            <a:alphaModFix/>
          </a:blip>
          <a:stretch>
            <a:fillRect/>
          </a:stretch>
        </p:blipFill>
        <p:spPr>
          <a:xfrm>
            <a:off x="524788" y="1235353"/>
            <a:ext cx="8094419" cy="361368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73" name="Google Shape;473;p58"/>
          <p:cNvSpPr txBox="1"/>
          <p:nvPr>
            <p:ph type="title"/>
          </p:nvPr>
        </p:nvSpPr>
        <p:spPr>
          <a:xfrm>
            <a:off x="311700" y="172028"/>
            <a:ext cx="78747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20"/>
              <a:t>Confusion Matrices</a:t>
            </a:r>
            <a:endParaRPr sz="2420"/>
          </a:p>
        </p:txBody>
      </p:sp>
      <p:pic>
        <p:nvPicPr>
          <p:cNvPr id="474" name="Google Shape;474;p58"/>
          <p:cNvPicPr preferRelativeResize="0"/>
          <p:nvPr/>
        </p:nvPicPr>
        <p:blipFill>
          <a:blip r:embed="rId3">
            <a:alphaModFix/>
          </a:blip>
          <a:stretch>
            <a:fillRect/>
          </a:stretch>
        </p:blipFill>
        <p:spPr>
          <a:xfrm>
            <a:off x="524800" y="1235372"/>
            <a:ext cx="8094399" cy="361366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80" name="Google Shape;480;p59"/>
          <p:cNvSpPr txBox="1"/>
          <p:nvPr>
            <p:ph type="title"/>
          </p:nvPr>
        </p:nvSpPr>
        <p:spPr>
          <a:xfrm>
            <a:off x="311700" y="172028"/>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420"/>
              <a:t>AUROC, AP</a:t>
            </a:r>
            <a:endParaRPr sz="2420"/>
          </a:p>
          <a:p>
            <a:pPr indent="0" lvl="0" marL="0" rtl="0" algn="l">
              <a:spcBef>
                <a:spcPts val="0"/>
              </a:spcBef>
              <a:spcAft>
                <a:spcPts val="0"/>
              </a:spcAft>
              <a:buNone/>
            </a:pPr>
            <a:r>
              <a:t/>
            </a:r>
            <a:endParaRPr sz="2420"/>
          </a:p>
        </p:txBody>
      </p:sp>
      <p:pic>
        <p:nvPicPr>
          <p:cNvPr id="481" name="Google Shape;481;p59"/>
          <p:cNvPicPr preferRelativeResize="0"/>
          <p:nvPr/>
        </p:nvPicPr>
        <p:blipFill>
          <a:blip r:embed="rId3">
            <a:alphaModFix/>
          </a:blip>
          <a:stretch>
            <a:fillRect/>
          </a:stretch>
        </p:blipFill>
        <p:spPr>
          <a:xfrm>
            <a:off x="584725" y="1196478"/>
            <a:ext cx="7974531" cy="361368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87" name="Google Shape;487;p60"/>
          <p:cNvPicPr preferRelativeResize="0"/>
          <p:nvPr/>
        </p:nvPicPr>
        <p:blipFill>
          <a:blip r:embed="rId3">
            <a:alphaModFix/>
          </a:blip>
          <a:stretch>
            <a:fillRect/>
          </a:stretch>
        </p:blipFill>
        <p:spPr>
          <a:xfrm>
            <a:off x="1119116" y="0"/>
            <a:ext cx="6905769" cy="5143500"/>
          </a:xfrm>
          <a:prstGeom prst="rect">
            <a:avLst/>
          </a:prstGeom>
          <a:noFill/>
          <a:ln>
            <a:noFill/>
          </a:ln>
        </p:spPr>
      </p:pic>
      <p:sp>
        <p:nvSpPr>
          <p:cNvPr id="488" name="Google Shape;488;p60"/>
          <p:cNvSpPr txBox="1"/>
          <p:nvPr/>
        </p:nvSpPr>
        <p:spPr>
          <a:xfrm>
            <a:off x="131225" y="1047200"/>
            <a:ext cx="858600" cy="6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Roboto"/>
                <a:ea typeface="Roboto"/>
                <a:cs typeface="Roboto"/>
                <a:sym typeface="Roboto"/>
              </a:rPr>
              <a:t>Betacal on large, bimodal CA dataset.</a:t>
            </a:r>
            <a:endParaRPr sz="900">
              <a:solidFill>
                <a:schemeClr val="dk1"/>
              </a:solidFill>
              <a:latin typeface="Roboto"/>
              <a:ea typeface="Roboto"/>
              <a:cs typeface="Roboto"/>
              <a:sym typeface="Roboto"/>
            </a:endParaRPr>
          </a:p>
        </p:txBody>
      </p:sp>
      <p:sp>
        <p:nvSpPr>
          <p:cNvPr id="489" name="Google Shape;489;p60"/>
          <p:cNvSpPr txBox="1"/>
          <p:nvPr/>
        </p:nvSpPr>
        <p:spPr>
          <a:xfrm>
            <a:off x="131225" y="2899238"/>
            <a:ext cx="955500" cy="104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Roboto"/>
                <a:ea typeface="Roboto"/>
                <a:cs typeface="Roboto"/>
                <a:sym typeface="Roboto"/>
              </a:rPr>
              <a:t>Miscalibration still exists on p(snow) extremes even after calibration.</a:t>
            </a:r>
            <a:endParaRPr sz="900">
              <a:solidFill>
                <a:schemeClr val="dk1"/>
              </a:solidFill>
              <a:latin typeface="Roboto"/>
              <a:ea typeface="Roboto"/>
              <a:cs typeface="Roboto"/>
              <a:sym typeface="Roboto"/>
            </a:endParaRPr>
          </a:p>
        </p:txBody>
      </p:sp>
      <p:sp>
        <p:nvSpPr>
          <p:cNvPr id="490" name="Google Shape;490;p60"/>
          <p:cNvSpPr txBox="1"/>
          <p:nvPr/>
        </p:nvSpPr>
        <p:spPr>
          <a:xfrm>
            <a:off x="131225" y="3987350"/>
            <a:ext cx="955500" cy="10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Roboto"/>
                <a:ea typeface="Roboto"/>
                <a:cs typeface="Roboto"/>
                <a:sym typeface="Roboto"/>
              </a:rPr>
              <a:t>But low brier scores indicate strong accuracy overall.</a:t>
            </a:r>
            <a:endParaRPr sz="900">
              <a:solidFill>
                <a:schemeClr val="dk1"/>
              </a:solidFill>
              <a:latin typeface="Roboto"/>
              <a:ea typeface="Roboto"/>
              <a:cs typeface="Roboto"/>
              <a:sym typeface="Roboto"/>
            </a:endParaRPr>
          </a:p>
        </p:txBody>
      </p:sp>
      <p:sp>
        <p:nvSpPr>
          <p:cNvPr id="491" name="Google Shape;491;p60"/>
          <p:cNvSpPr txBox="1"/>
          <p:nvPr/>
        </p:nvSpPr>
        <p:spPr>
          <a:xfrm>
            <a:off x="131225" y="1755263"/>
            <a:ext cx="955500" cy="104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Roboto"/>
                <a:ea typeface="Roboto"/>
                <a:cs typeface="Roboto"/>
                <a:sym typeface="Roboto"/>
              </a:rPr>
              <a:t>Calibration pulls raw XGBoost scores closer to </a:t>
            </a:r>
            <a:r>
              <a:rPr lang="en" sz="900">
                <a:solidFill>
                  <a:schemeClr val="dk1"/>
                </a:solidFill>
                <a:latin typeface="Roboto"/>
                <a:ea typeface="Roboto"/>
                <a:cs typeface="Roboto"/>
                <a:sym typeface="Roboto"/>
              </a:rPr>
              <a:t>diagonal</a:t>
            </a:r>
            <a:r>
              <a:rPr lang="en" sz="900">
                <a:solidFill>
                  <a:schemeClr val="dk1"/>
                </a:solidFill>
                <a:latin typeface="Roboto"/>
                <a:ea typeface="Roboto"/>
                <a:cs typeface="Roboto"/>
                <a:sym typeface="Roboto"/>
              </a:rPr>
              <a:t> line of perfect calibration.</a:t>
            </a:r>
            <a:endParaRPr sz="900">
              <a:solidFill>
                <a:schemeClr val="dk1"/>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97" name="Google Shape;497;p61"/>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F1 Accuracy</a:t>
            </a:r>
            <a:r>
              <a:rPr lang="en" sz="2420"/>
              <a:t> (CA)</a:t>
            </a:r>
            <a:endParaRPr sz="2420"/>
          </a:p>
          <a:p>
            <a:pPr indent="0" lvl="0" marL="0" rtl="0" algn="l">
              <a:spcBef>
                <a:spcPts val="0"/>
              </a:spcBef>
              <a:spcAft>
                <a:spcPts val="0"/>
              </a:spcAft>
              <a:buNone/>
            </a:pPr>
            <a:r>
              <a:t/>
            </a:r>
            <a:endParaRPr/>
          </a:p>
        </p:txBody>
      </p:sp>
      <p:sp>
        <p:nvSpPr>
          <p:cNvPr id="498" name="Google Shape;498;p61"/>
          <p:cNvSpPr txBox="1"/>
          <p:nvPr/>
        </p:nvSpPr>
        <p:spPr>
          <a:xfrm>
            <a:off x="200700" y="4085300"/>
            <a:ext cx="2102700" cy="92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Roboto"/>
                <a:ea typeface="Roboto"/>
                <a:cs typeface="Roboto"/>
                <a:sym typeface="Roboto"/>
              </a:rPr>
              <a:t>Snow predictive accuracy is strong in clear phase regions (outside of freezing) but deteriorates near freezing and reaches the </a:t>
            </a:r>
            <a:r>
              <a:rPr lang="en" sz="700">
                <a:solidFill>
                  <a:schemeClr val="dk1"/>
                </a:solidFill>
                <a:latin typeface="Roboto"/>
                <a:ea typeface="Roboto"/>
                <a:cs typeface="Roboto"/>
                <a:sym typeface="Roboto"/>
              </a:rPr>
              <a:t>lowest</a:t>
            </a:r>
            <a:r>
              <a:rPr lang="en" sz="700">
                <a:solidFill>
                  <a:schemeClr val="dk1"/>
                </a:solidFill>
                <a:latin typeface="Roboto"/>
                <a:ea typeface="Roboto"/>
                <a:cs typeface="Roboto"/>
                <a:sym typeface="Roboto"/>
              </a:rPr>
              <a:t> point at ~1.5°C.</a:t>
            </a:r>
            <a:br>
              <a:rPr lang="en" sz="700">
                <a:solidFill>
                  <a:schemeClr val="dk1"/>
                </a:solidFill>
                <a:latin typeface="Roboto"/>
                <a:ea typeface="Roboto"/>
                <a:cs typeface="Roboto"/>
                <a:sym typeface="Roboto"/>
              </a:rPr>
            </a:br>
            <a:r>
              <a:rPr lang="en" sz="700">
                <a:solidFill>
                  <a:schemeClr val="dk1"/>
                </a:solidFill>
                <a:latin typeface="Roboto"/>
                <a:ea typeface="Roboto"/>
                <a:cs typeface="Roboto"/>
                <a:sym typeface="Roboto"/>
              </a:rPr>
              <a:t>F1 also deteriorates after 4°C when phase transitions from solid to liquid.</a:t>
            </a:r>
            <a:endParaRPr sz="700">
              <a:solidFill>
                <a:schemeClr val="dk1"/>
              </a:solidFill>
              <a:latin typeface="Roboto"/>
              <a:ea typeface="Roboto"/>
              <a:cs typeface="Roboto"/>
              <a:sym typeface="Roboto"/>
            </a:endParaRPr>
          </a:p>
        </p:txBody>
      </p:sp>
      <p:sp>
        <p:nvSpPr>
          <p:cNvPr id="499" name="Google Shape;499;p61"/>
          <p:cNvSpPr txBox="1"/>
          <p:nvPr/>
        </p:nvSpPr>
        <p:spPr>
          <a:xfrm>
            <a:off x="2535000" y="4263800"/>
            <a:ext cx="2037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Roboto"/>
                <a:ea typeface="Roboto"/>
                <a:cs typeface="Roboto"/>
                <a:sym typeface="Roboto"/>
              </a:rPr>
              <a:t>Rain </a:t>
            </a:r>
            <a:r>
              <a:rPr lang="en" sz="700">
                <a:solidFill>
                  <a:schemeClr val="dk1"/>
                </a:solidFill>
                <a:latin typeface="Roboto"/>
                <a:ea typeface="Roboto"/>
                <a:cs typeface="Roboto"/>
                <a:sym typeface="Roboto"/>
              </a:rPr>
              <a:t>predictive</a:t>
            </a:r>
            <a:r>
              <a:rPr lang="en" sz="700">
                <a:solidFill>
                  <a:schemeClr val="dk1"/>
                </a:solidFill>
                <a:latin typeface="Roboto"/>
                <a:ea typeface="Roboto"/>
                <a:cs typeface="Roboto"/>
                <a:sym typeface="Roboto"/>
              </a:rPr>
              <a:t> accuracy gradually improves with increasing wet bulb temperature. </a:t>
            </a:r>
            <a:endParaRPr sz="700">
              <a:solidFill>
                <a:schemeClr val="dk1"/>
              </a:solidFill>
              <a:latin typeface="Roboto"/>
              <a:ea typeface="Roboto"/>
              <a:cs typeface="Roboto"/>
              <a:sym typeface="Roboto"/>
            </a:endParaRPr>
          </a:p>
          <a:p>
            <a:pPr indent="0" lvl="0" marL="0" rtl="0" algn="ctr">
              <a:spcBef>
                <a:spcPts val="0"/>
              </a:spcBef>
              <a:spcAft>
                <a:spcPts val="0"/>
              </a:spcAft>
              <a:buNone/>
            </a:pPr>
            <a:r>
              <a:rPr lang="en" sz="700">
                <a:solidFill>
                  <a:schemeClr val="dk1"/>
                </a:solidFill>
                <a:latin typeface="Roboto"/>
                <a:ea typeface="Roboto"/>
                <a:cs typeface="Roboto"/>
                <a:sym typeface="Roboto"/>
              </a:rPr>
              <a:t>Val and test track each other tightly throughout; more stable and generalizable rain signal than CO.</a:t>
            </a:r>
            <a:endParaRPr sz="700">
              <a:solidFill>
                <a:schemeClr val="dk1"/>
              </a:solidFill>
              <a:latin typeface="Roboto"/>
              <a:ea typeface="Roboto"/>
              <a:cs typeface="Roboto"/>
              <a:sym typeface="Roboto"/>
            </a:endParaRPr>
          </a:p>
        </p:txBody>
      </p:sp>
      <p:sp>
        <p:nvSpPr>
          <p:cNvPr id="500" name="Google Shape;500;p61"/>
          <p:cNvSpPr txBox="1"/>
          <p:nvPr/>
        </p:nvSpPr>
        <p:spPr>
          <a:xfrm>
            <a:off x="7029350" y="4085300"/>
            <a:ext cx="1880700" cy="92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Roboto"/>
                <a:ea typeface="Roboto"/>
                <a:cs typeface="Roboto"/>
                <a:sym typeface="Roboto"/>
              </a:rPr>
              <a:t>Of the events that a human called ambiguous, what fraction does the model also flag as uncertain?</a:t>
            </a:r>
            <a:endParaRPr sz="700">
              <a:solidFill>
                <a:schemeClr val="dk1"/>
              </a:solidFill>
              <a:latin typeface="Roboto"/>
              <a:ea typeface="Roboto"/>
              <a:cs typeface="Roboto"/>
              <a:sym typeface="Roboto"/>
            </a:endParaRPr>
          </a:p>
          <a:p>
            <a:pPr indent="0" lvl="0" marL="0" rtl="0" algn="ctr">
              <a:spcBef>
                <a:spcPts val="0"/>
              </a:spcBef>
              <a:spcAft>
                <a:spcPts val="0"/>
              </a:spcAft>
              <a:buNone/>
            </a:pPr>
            <a:r>
              <a:rPr lang="en" sz="700">
                <a:solidFill>
                  <a:schemeClr val="dk1"/>
                </a:solidFill>
                <a:latin typeface="Roboto"/>
                <a:ea typeface="Roboto"/>
                <a:cs typeface="Roboto"/>
                <a:sym typeface="Roboto"/>
              </a:rPr>
              <a:t>(denominator is only the subset of events where the observer reported mix)</a:t>
            </a:r>
            <a:endParaRPr sz="700">
              <a:solidFill>
                <a:schemeClr val="dk1"/>
              </a:solidFill>
              <a:latin typeface="Roboto"/>
              <a:ea typeface="Roboto"/>
              <a:cs typeface="Roboto"/>
              <a:sym typeface="Roboto"/>
            </a:endParaRPr>
          </a:p>
          <a:p>
            <a:pPr indent="0" lvl="0" marL="0" rtl="0" algn="ctr">
              <a:spcBef>
                <a:spcPts val="0"/>
              </a:spcBef>
              <a:spcAft>
                <a:spcPts val="0"/>
              </a:spcAft>
              <a:buNone/>
            </a:pPr>
            <a:br>
              <a:rPr lang="en" sz="700">
                <a:solidFill>
                  <a:schemeClr val="dk1"/>
                </a:solidFill>
                <a:latin typeface="Roboto"/>
                <a:ea typeface="Roboto"/>
                <a:cs typeface="Roboto"/>
                <a:sym typeface="Roboto"/>
              </a:rPr>
            </a:br>
            <a:r>
              <a:rPr lang="en" sz="700">
                <a:solidFill>
                  <a:schemeClr val="dk1"/>
                </a:solidFill>
                <a:latin typeface="Roboto"/>
                <a:ea typeface="Roboto"/>
                <a:cs typeface="Roboto"/>
                <a:sym typeface="Roboto"/>
              </a:rPr>
              <a:t>Peaks near 0°C. Model learns where it should be more uncertain.</a:t>
            </a:r>
            <a:endParaRPr sz="700">
              <a:solidFill>
                <a:schemeClr val="dk1"/>
              </a:solidFill>
              <a:latin typeface="Roboto"/>
              <a:ea typeface="Roboto"/>
              <a:cs typeface="Roboto"/>
              <a:sym typeface="Roboto"/>
            </a:endParaRPr>
          </a:p>
        </p:txBody>
      </p:sp>
      <p:sp>
        <p:nvSpPr>
          <p:cNvPr id="501" name="Google Shape;501;p61"/>
          <p:cNvSpPr txBox="1"/>
          <p:nvPr/>
        </p:nvSpPr>
        <p:spPr>
          <a:xfrm>
            <a:off x="6436950" y="1228150"/>
            <a:ext cx="25524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dk1"/>
                </a:solidFill>
                <a:latin typeface="Roboto"/>
                <a:ea typeface="Roboto"/>
                <a:cs typeface="Roboto"/>
                <a:sym typeface="Roboto"/>
              </a:rPr>
              <a:t>Fraction of true "mix" events the model places in the mix band →</a:t>
            </a:r>
            <a:r>
              <a:rPr lang="en" sz="700">
                <a:solidFill>
                  <a:schemeClr val="dk1"/>
                </a:solidFill>
                <a:latin typeface="Roboto"/>
                <a:ea typeface="Roboto"/>
                <a:cs typeface="Roboto"/>
                <a:sym typeface="Roboto"/>
              </a:rPr>
              <a:t> </a:t>
            </a:r>
            <a:r>
              <a:rPr lang="en" sz="700">
                <a:solidFill>
                  <a:schemeClr val="dk1"/>
                </a:solidFill>
                <a:latin typeface="Roboto"/>
                <a:ea typeface="Roboto"/>
                <a:cs typeface="Roboto"/>
                <a:sym typeface="Roboto"/>
              </a:rPr>
              <a:t>measures whether the model's uncertainty is calibrated to the right temperature range.</a:t>
            </a:r>
            <a:endParaRPr sz="700">
              <a:solidFill>
                <a:schemeClr val="dk1"/>
              </a:solidFill>
              <a:latin typeface="Roboto"/>
              <a:ea typeface="Roboto"/>
              <a:cs typeface="Roboto"/>
              <a:sym typeface="Roboto"/>
            </a:endParaRPr>
          </a:p>
        </p:txBody>
      </p:sp>
      <p:pic>
        <p:nvPicPr>
          <p:cNvPr id="502" name="Google Shape;502;p61"/>
          <p:cNvPicPr preferRelativeResize="0"/>
          <p:nvPr/>
        </p:nvPicPr>
        <p:blipFill>
          <a:blip r:embed="rId3">
            <a:alphaModFix/>
          </a:blip>
          <a:stretch>
            <a:fillRect/>
          </a:stretch>
        </p:blipFill>
        <p:spPr>
          <a:xfrm>
            <a:off x="152400" y="1888450"/>
            <a:ext cx="8839204" cy="2196853"/>
          </a:xfrm>
          <a:prstGeom prst="rect">
            <a:avLst/>
          </a:prstGeom>
          <a:noFill/>
          <a:ln>
            <a:noFill/>
          </a:ln>
        </p:spPr>
      </p:pic>
      <p:sp>
        <p:nvSpPr>
          <p:cNvPr id="503" name="Google Shape;503;p61"/>
          <p:cNvSpPr txBox="1"/>
          <p:nvPr/>
        </p:nvSpPr>
        <p:spPr>
          <a:xfrm>
            <a:off x="4938775" y="4109750"/>
            <a:ext cx="1723800" cy="88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Roboto"/>
                <a:ea typeface="Roboto"/>
                <a:cs typeface="Roboto"/>
                <a:sym typeface="Roboto"/>
              </a:rPr>
              <a:t>At what temperatures does the model decline to commit?</a:t>
            </a:r>
            <a:endParaRPr sz="700">
              <a:solidFill>
                <a:schemeClr val="dk1"/>
              </a:solidFill>
              <a:latin typeface="Roboto"/>
              <a:ea typeface="Roboto"/>
              <a:cs typeface="Roboto"/>
              <a:sym typeface="Roboto"/>
            </a:endParaRPr>
          </a:p>
          <a:p>
            <a:pPr indent="0" lvl="0" marL="0" rtl="0" algn="ctr">
              <a:spcBef>
                <a:spcPts val="0"/>
              </a:spcBef>
              <a:spcAft>
                <a:spcPts val="0"/>
              </a:spcAft>
              <a:buNone/>
            </a:pPr>
            <a:r>
              <a:rPr lang="en" sz="700">
                <a:solidFill>
                  <a:schemeClr val="dk1"/>
                </a:solidFill>
                <a:latin typeface="Roboto"/>
                <a:ea typeface="Roboto"/>
                <a:cs typeface="Roboto"/>
                <a:sym typeface="Roboto"/>
              </a:rPr>
              <a:t>(</a:t>
            </a:r>
            <a:r>
              <a:rPr lang="en" sz="700">
                <a:solidFill>
                  <a:schemeClr val="dk1"/>
                </a:solidFill>
                <a:latin typeface="Roboto"/>
                <a:ea typeface="Roboto"/>
                <a:cs typeface="Roboto"/>
                <a:sym typeface="Roboto"/>
              </a:rPr>
              <a:t>denominator is all predictions in that T_wet bin, regardless of true label)</a:t>
            </a:r>
            <a:endParaRPr sz="700">
              <a:solidFill>
                <a:schemeClr val="dk1"/>
              </a:solidFill>
              <a:latin typeface="Roboto"/>
              <a:ea typeface="Roboto"/>
              <a:cs typeface="Roboto"/>
              <a:sym typeface="Roboto"/>
            </a:endParaRPr>
          </a:p>
          <a:p>
            <a:pPr indent="0" lvl="0" marL="0" rtl="0" algn="ctr">
              <a:spcBef>
                <a:spcPts val="0"/>
              </a:spcBef>
              <a:spcAft>
                <a:spcPts val="0"/>
              </a:spcAft>
              <a:buNone/>
            </a:pPr>
            <a:br>
              <a:rPr lang="en" sz="700">
                <a:solidFill>
                  <a:schemeClr val="dk1"/>
                </a:solidFill>
                <a:latin typeface="Roboto"/>
                <a:ea typeface="Roboto"/>
                <a:cs typeface="Roboto"/>
                <a:sym typeface="Roboto"/>
              </a:rPr>
            </a:br>
            <a:r>
              <a:rPr lang="en" sz="700">
                <a:solidFill>
                  <a:schemeClr val="dk1"/>
                </a:solidFill>
                <a:latin typeface="Roboto"/>
                <a:ea typeface="Roboto"/>
                <a:cs typeface="Roboto"/>
                <a:sym typeface="Roboto"/>
              </a:rPr>
              <a:t>Peaks near 0°C. Model learns where it should be more uncertain.</a:t>
            </a:r>
            <a:endParaRPr sz="700">
              <a:solidFill>
                <a:schemeClr val="dk1"/>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t/>
            </a:r>
            <a:endParaRPr sz="700">
              <a:solidFill>
                <a:schemeClr val="dk1"/>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09" name="Google Shape;509;p62"/>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F1 Accuracy</a:t>
            </a:r>
            <a:r>
              <a:rPr lang="en" sz="2420"/>
              <a:t> (CA) - AIR TEMPERATURE</a:t>
            </a:r>
            <a:endParaRPr sz="2420"/>
          </a:p>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15" name="Google Shape;515;p63"/>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Uncertainty/”Mix” Capture by Wet Bulb Threshold</a:t>
            </a:r>
            <a:r>
              <a:rPr lang="en" sz="2420"/>
              <a:t> (CA)</a:t>
            </a:r>
            <a:endParaRPr sz="2420"/>
          </a:p>
          <a:p>
            <a:pPr indent="0" lvl="0" marL="0" rtl="0" algn="l">
              <a:spcBef>
                <a:spcPts val="0"/>
              </a:spcBef>
              <a:spcAft>
                <a:spcPts val="0"/>
              </a:spcAft>
              <a:buNone/>
            </a:pPr>
            <a:r>
              <a:t/>
            </a:r>
            <a:endParaRPr/>
          </a:p>
        </p:txBody>
      </p:sp>
      <p:pic>
        <p:nvPicPr>
          <p:cNvPr id="516" name="Google Shape;516;p63"/>
          <p:cNvPicPr preferRelativeResize="0"/>
          <p:nvPr/>
        </p:nvPicPr>
        <p:blipFill>
          <a:blip r:embed="rId3">
            <a:alphaModFix/>
          </a:blip>
          <a:stretch>
            <a:fillRect/>
          </a:stretch>
        </p:blipFill>
        <p:spPr>
          <a:xfrm>
            <a:off x="0" y="942640"/>
            <a:ext cx="9144003" cy="3848696"/>
          </a:xfrm>
          <a:prstGeom prst="rect">
            <a:avLst/>
          </a:prstGeom>
          <a:noFill/>
          <a:ln>
            <a:noFill/>
          </a:ln>
        </p:spPr>
      </p:pic>
      <p:sp>
        <p:nvSpPr>
          <p:cNvPr id="517" name="Google Shape;517;p63"/>
          <p:cNvSpPr txBox="1"/>
          <p:nvPr/>
        </p:nvSpPr>
        <p:spPr>
          <a:xfrm>
            <a:off x="5472450" y="47433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t>shows how the model's calibrated p(snow) is distributed for each true class (snow=blue, rain=green, mix=pink) across 2°C T_wet bins </a:t>
            </a:r>
            <a:endParaRPr sz="7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23" name="Google Shape;523;p64"/>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Near Freezing</a:t>
            </a:r>
            <a:r>
              <a:rPr lang="en" sz="2420"/>
              <a:t> (CA) - baseline</a:t>
            </a:r>
            <a:endParaRPr sz="2420"/>
          </a:p>
          <a:p>
            <a:pPr indent="0" lvl="0" marL="0" rtl="0" algn="l">
              <a:spcBef>
                <a:spcPts val="0"/>
              </a:spcBef>
              <a:spcAft>
                <a:spcPts val="0"/>
              </a:spcAft>
              <a:buNone/>
            </a:pPr>
            <a:r>
              <a:t/>
            </a:r>
            <a:endParaRPr/>
          </a:p>
        </p:txBody>
      </p:sp>
      <p:pic>
        <p:nvPicPr>
          <p:cNvPr id="524" name="Google Shape;524;p64"/>
          <p:cNvPicPr preferRelativeResize="0"/>
          <p:nvPr/>
        </p:nvPicPr>
        <p:blipFill>
          <a:blip r:embed="rId3">
            <a:alphaModFix/>
          </a:blip>
          <a:stretch>
            <a:fillRect/>
          </a:stretch>
        </p:blipFill>
        <p:spPr>
          <a:xfrm>
            <a:off x="152400" y="1274800"/>
            <a:ext cx="8839198" cy="338843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30" name="Google Shape;530;p65"/>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Near Freezing</a:t>
            </a:r>
            <a:r>
              <a:rPr lang="en" sz="2420"/>
              <a:t> (CA) - no MRoS</a:t>
            </a:r>
            <a:endParaRPr sz="2420"/>
          </a:p>
          <a:p>
            <a:pPr indent="0" lvl="0" marL="0" rtl="0" algn="l">
              <a:spcBef>
                <a:spcPts val="0"/>
              </a:spcBef>
              <a:spcAft>
                <a:spcPts val="0"/>
              </a:spcAft>
              <a:buNone/>
            </a:pPr>
            <a:r>
              <a:t/>
            </a:r>
            <a:endParaRPr/>
          </a:p>
        </p:txBody>
      </p:sp>
      <p:pic>
        <p:nvPicPr>
          <p:cNvPr id="531" name="Google Shape;531;p65"/>
          <p:cNvPicPr preferRelativeResize="0"/>
          <p:nvPr/>
        </p:nvPicPr>
        <p:blipFill>
          <a:blip r:embed="rId4">
            <a:alphaModFix/>
          </a:blip>
          <a:stretch>
            <a:fillRect/>
          </a:stretch>
        </p:blipFill>
        <p:spPr>
          <a:xfrm>
            <a:off x="152400" y="1274780"/>
            <a:ext cx="8839198" cy="338845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37" name="Google Shape;537;p66"/>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Near Freezing</a:t>
            </a:r>
            <a:r>
              <a:rPr lang="en" sz="2420"/>
              <a:t> (CA) - baseline</a:t>
            </a:r>
            <a:endParaRPr sz="2420"/>
          </a:p>
          <a:p>
            <a:pPr indent="0" lvl="0" marL="0" rtl="0" algn="l">
              <a:spcBef>
                <a:spcPts val="0"/>
              </a:spcBef>
              <a:spcAft>
                <a:spcPts val="0"/>
              </a:spcAft>
              <a:buNone/>
            </a:pPr>
            <a:r>
              <a:t/>
            </a:r>
            <a:endParaRPr/>
          </a:p>
        </p:txBody>
      </p:sp>
      <p:pic>
        <p:nvPicPr>
          <p:cNvPr id="538" name="Google Shape;538;p66"/>
          <p:cNvPicPr preferRelativeResize="0"/>
          <p:nvPr/>
        </p:nvPicPr>
        <p:blipFill>
          <a:blip r:embed="rId3">
            <a:alphaModFix/>
          </a:blip>
          <a:stretch>
            <a:fillRect/>
          </a:stretch>
        </p:blipFill>
        <p:spPr>
          <a:xfrm>
            <a:off x="152438" y="1274800"/>
            <a:ext cx="8839116" cy="338842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44" name="Google Shape;544;p67"/>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Near Freezing</a:t>
            </a:r>
            <a:r>
              <a:rPr lang="en" sz="2420"/>
              <a:t> (CA) - no MRoS</a:t>
            </a:r>
            <a:endParaRPr sz="2420"/>
          </a:p>
          <a:p>
            <a:pPr indent="0" lvl="0" marL="0" rtl="0" algn="l">
              <a:spcBef>
                <a:spcPts val="0"/>
              </a:spcBef>
              <a:spcAft>
                <a:spcPts val="0"/>
              </a:spcAft>
              <a:buNone/>
            </a:pPr>
            <a:r>
              <a:t/>
            </a:r>
            <a:endParaRPr/>
          </a:p>
        </p:txBody>
      </p:sp>
      <p:pic>
        <p:nvPicPr>
          <p:cNvPr id="545" name="Google Shape;545;p67"/>
          <p:cNvPicPr preferRelativeResize="0"/>
          <p:nvPr/>
        </p:nvPicPr>
        <p:blipFill>
          <a:blip r:embed="rId3">
            <a:alphaModFix/>
          </a:blip>
          <a:stretch>
            <a:fillRect/>
          </a:stretch>
        </p:blipFill>
        <p:spPr>
          <a:xfrm>
            <a:off x="152450" y="1274806"/>
            <a:ext cx="8839102" cy="338841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9" name="Shape 549"/>
        <p:cNvGrpSpPr/>
        <p:nvPr/>
      </p:nvGrpSpPr>
      <p:grpSpPr>
        <a:xfrm>
          <a:off x="0" y="0"/>
          <a:ext cx="0" cy="0"/>
          <a:chOff x="0" y="0"/>
          <a:chExt cx="0" cy="0"/>
        </a:xfrm>
      </p:grpSpPr>
      <p:sp>
        <p:nvSpPr>
          <p:cNvPr id="550" name="Google Shape;550;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51" name="Google Shape;551;p68"/>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SHAP Results: Feature Importance (o.g. CA - IDW)</a:t>
            </a:r>
            <a:endParaRPr/>
          </a:p>
        </p:txBody>
      </p:sp>
      <p:pic>
        <p:nvPicPr>
          <p:cNvPr id="552" name="Google Shape;552;p68"/>
          <p:cNvPicPr preferRelativeResize="0"/>
          <p:nvPr/>
        </p:nvPicPr>
        <p:blipFill>
          <a:blip r:embed="rId3">
            <a:alphaModFix/>
          </a:blip>
          <a:stretch>
            <a:fillRect/>
          </a:stretch>
        </p:blipFill>
        <p:spPr>
          <a:xfrm>
            <a:off x="996437" y="1240650"/>
            <a:ext cx="7151131" cy="35484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6" name="Shape 556"/>
        <p:cNvGrpSpPr/>
        <p:nvPr/>
      </p:nvGrpSpPr>
      <p:grpSpPr>
        <a:xfrm>
          <a:off x="0" y="0"/>
          <a:ext cx="0" cy="0"/>
          <a:chOff x="0" y="0"/>
          <a:chExt cx="0" cy="0"/>
        </a:xfrm>
      </p:grpSpPr>
      <p:sp>
        <p:nvSpPr>
          <p:cNvPr id="557" name="Google Shape;557;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58" name="Google Shape;558;p69"/>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SHAP Results: Feature Importance (CA - IDW)</a:t>
            </a:r>
            <a:endParaRPr/>
          </a:p>
        </p:txBody>
      </p:sp>
      <p:pic>
        <p:nvPicPr>
          <p:cNvPr id="559" name="Google Shape;559;p69"/>
          <p:cNvPicPr preferRelativeResize="0"/>
          <p:nvPr/>
        </p:nvPicPr>
        <p:blipFill>
          <a:blip r:embed="rId3">
            <a:alphaModFix/>
          </a:blip>
          <a:stretch>
            <a:fillRect/>
          </a:stretch>
        </p:blipFill>
        <p:spPr>
          <a:xfrm>
            <a:off x="972450" y="1278375"/>
            <a:ext cx="7199109" cy="35484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3" name="Shape 563"/>
        <p:cNvGrpSpPr/>
        <p:nvPr/>
      </p:nvGrpSpPr>
      <p:grpSpPr>
        <a:xfrm>
          <a:off x="0" y="0"/>
          <a:ext cx="0" cy="0"/>
          <a:chOff x="0" y="0"/>
          <a:chExt cx="0" cy="0"/>
        </a:xfrm>
      </p:grpSpPr>
      <p:sp>
        <p:nvSpPr>
          <p:cNvPr id="564" name="Google Shape;564;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65" name="Google Shape;565;p70"/>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SHAP Results: Feature Importance (o.g. CA - kriging)</a:t>
            </a:r>
            <a:endParaRPr/>
          </a:p>
        </p:txBody>
      </p:sp>
      <p:pic>
        <p:nvPicPr>
          <p:cNvPr id="566" name="Google Shape;566;p70"/>
          <p:cNvPicPr preferRelativeResize="0"/>
          <p:nvPr/>
        </p:nvPicPr>
        <p:blipFill>
          <a:blip r:embed="rId3">
            <a:alphaModFix/>
          </a:blip>
          <a:stretch>
            <a:fillRect/>
          </a:stretch>
        </p:blipFill>
        <p:spPr>
          <a:xfrm>
            <a:off x="996463" y="1240650"/>
            <a:ext cx="7151087" cy="35484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72" name="Google Shape;572;p71"/>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SHAP Results: Feature Importance (CA)</a:t>
            </a:r>
            <a:endParaRPr/>
          </a:p>
        </p:txBody>
      </p:sp>
      <p:pic>
        <p:nvPicPr>
          <p:cNvPr id="573" name="Google Shape;573;p71"/>
          <p:cNvPicPr preferRelativeResize="0"/>
          <p:nvPr/>
        </p:nvPicPr>
        <p:blipFill>
          <a:blip r:embed="rId3">
            <a:alphaModFix/>
          </a:blip>
          <a:stretch>
            <a:fillRect/>
          </a:stretch>
        </p:blipFill>
        <p:spPr>
          <a:xfrm>
            <a:off x="796125" y="1121550"/>
            <a:ext cx="7551750" cy="374024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7" name="Shape 577"/>
        <p:cNvGrpSpPr/>
        <p:nvPr/>
      </p:nvGrpSpPr>
      <p:grpSpPr>
        <a:xfrm>
          <a:off x="0" y="0"/>
          <a:ext cx="0" cy="0"/>
          <a:chOff x="0" y="0"/>
          <a:chExt cx="0" cy="0"/>
        </a:xfrm>
      </p:grpSpPr>
      <p:sp>
        <p:nvSpPr>
          <p:cNvPr id="578" name="Google Shape;578;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79" name="Google Shape;579;p72"/>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SHAP Results: Feature Importance (CA)</a:t>
            </a:r>
            <a:endParaRPr/>
          </a:p>
        </p:txBody>
      </p:sp>
      <p:pic>
        <p:nvPicPr>
          <p:cNvPr id="580" name="Google Shape;580;p72"/>
          <p:cNvPicPr preferRelativeResize="0"/>
          <p:nvPr/>
        </p:nvPicPr>
        <p:blipFill>
          <a:blip r:embed="rId3">
            <a:alphaModFix/>
          </a:blip>
          <a:stretch>
            <a:fillRect/>
          </a:stretch>
        </p:blipFill>
        <p:spPr>
          <a:xfrm>
            <a:off x="796125" y="1121552"/>
            <a:ext cx="7551750" cy="374023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86" name="Google Shape;586;p73"/>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SHAP Results: Feature Importance (CA)</a:t>
            </a:r>
            <a:endParaRPr/>
          </a:p>
        </p:txBody>
      </p:sp>
      <p:pic>
        <p:nvPicPr>
          <p:cNvPr id="587" name="Google Shape;587;p73"/>
          <p:cNvPicPr preferRelativeResize="0"/>
          <p:nvPr/>
        </p:nvPicPr>
        <p:blipFill>
          <a:blip r:embed="rId3">
            <a:alphaModFix/>
          </a:blip>
          <a:stretch>
            <a:fillRect/>
          </a:stretch>
        </p:blipFill>
        <p:spPr>
          <a:xfrm>
            <a:off x="0" y="960319"/>
            <a:ext cx="9143999" cy="376216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93" name="Google Shape;593;p74"/>
          <p:cNvSpPr txBox="1"/>
          <p:nvPr>
            <p:ph idx="1" type="subTitle"/>
          </p:nvPr>
        </p:nvSpPr>
        <p:spPr>
          <a:xfrm>
            <a:off x="3889000" y="3123200"/>
            <a:ext cx="4989900" cy="7926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b="1" lang="en" sz="2400"/>
              <a:t>CA Ablation Study</a:t>
            </a:r>
            <a:endParaRPr i="1" sz="2000">
              <a:solidFill>
                <a:srgbClr val="595959"/>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99" name="Google Shape;599;p75"/>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Ablation F1 and ROC Comparisons (CA)</a:t>
            </a:r>
            <a:endParaRPr/>
          </a:p>
        </p:txBody>
      </p:sp>
      <p:pic>
        <p:nvPicPr>
          <p:cNvPr id="600" name="Google Shape;600;p75" title="ablation_comparison.png"/>
          <p:cNvPicPr preferRelativeResize="0"/>
          <p:nvPr/>
        </p:nvPicPr>
        <p:blipFill>
          <a:blip r:embed="rId3">
            <a:alphaModFix/>
          </a:blip>
          <a:stretch>
            <a:fillRect/>
          </a:stretch>
        </p:blipFill>
        <p:spPr>
          <a:xfrm>
            <a:off x="152400" y="1338225"/>
            <a:ext cx="8839198" cy="330479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06" name="Google Shape;606;p76"/>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Ablation - normalized metrics (CA)</a:t>
            </a:r>
            <a:endParaRPr/>
          </a:p>
        </p:txBody>
      </p:sp>
      <p:pic>
        <p:nvPicPr>
          <p:cNvPr id="607" name="Google Shape;607;p76"/>
          <p:cNvPicPr preferRelativeResize="0"/>
          <p:nvPr/>
        </p:nvPicPr>
        <p:blipFill>
          <a:blip r:embed="rId3">
            <a:alphaModFix/>
          </a:blip>
          <a:stretch>
            <a:fillRect/>
          </a:stretch>
        </p:blipFill>
        <p:spPr>
          <a:xfrm>
            <a:off x="203775" y="1155500"/>
            <a:ext cx="8736450" cy="359246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13" name="Google Shape;613;p77"/>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614" name="Google Shape;614;p77" title="ablation_mix_tradeoff.png"/>
          <p:cNvPicPr preferRelativeResize="0"/>
          <p:nvPr/>
        </p:nvPicPr>
        <p:blipFill rotWithShape="1">
          <a:blip r:embed="rId3">
            <a:alphaModFix/>
          </a:blip>
          <a:srcRect b="0" l="60" r="50" t="0"/>
          <a:stretch/>
        </p:blipFill>
        <p:spPr>
          <a:xfrm>
            <a:off x="4541703" y="991937"/>
            <a:ext cx="4602300" cy="3547952"/>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20" name="Google Shape;620;p78"/>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ECE Calibration</a:t>
            </a:r>
            <a:endParaRPr/>
          </a:p>
        </p:txBody>
      </p:sp>
      <p:pic>
        <p:nvPicPr>
          <p:cNvPr id="621" name="Google Shape;621;p78"/>
          <p:cNvPicPr preferRelativeResize="0"/>
          <p:nvPr/>
        </p:nvPicPr>
        <p:blipFill>
          <a:blip r:embed="rId3">
            <a:alphaModFix/>
          </a:blip>
          <a:stretch>
            <a:fillRect/>
          </a:stretch>
        </p:blipFill>
        <p:spPr>
          <a:xfrm>
            <a:off x="913325" y="1035775"/>
            <a:ext cx="7317354" cy="40727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27" name="Google Shape;627;p79"/>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When the model is confidently wrong: CA case study</a:t>
            </a:r>
            <a:endParaRPr/>
          </a:p>
        </p:txBody>
      </p:sp>
      <p:sp>
        <p:nvSpPr>
          <p:cNvPr id="628" name="Google Shape;628;p79"/>
          <p:cNvSpPr txBox="1"/>
          <p:nvPr/>
        </p:nvSpPr>
        <p:spPr>
          <a:xfrm>
            <a:off x="142225" y="3775200"/>
            <a:ext cx="88290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Roboto"/>
                <a:ea typeface="Roboto"/>
                <a:cs typeface="Roboto"/>
                <a:sym typeface="Roboto"/>
              </a:rPr>
              <a:t>A</a:t>
            </a:r>
            <a:r>
              <a:rPr lang="en" sz="1300">
                <a:latin typeface="Roboto"/>
                <a:ea typeface="Roboto"/>
                <a:cs typeface="Roboto"/>
                <a:sym typeface="Roboto"/>
              </a:rPr>
              <a:t> ground observer at ~1570m elevation sees snow during a marginal event, but every other signal available to the model (the surrounding MRoS stations via LOOCV, IMERG's satellite retrieval, and the near-zero wet-bulb)</a:t>
            </a:r>
            <a:r>
              <a:rPr lang="en" sz="1300">
                <a:latin typeface="Roboto"/>
                <a:ea typeface="Roboto"/>
                <a:cs typeface="Roboto"/>
                <a:sym typeface="Roboto"/>
              </a:rPr>
              <a:t> </a:t>
            </a:r>
            <a:r>
              <a:rPr lang="en" sz="1300">
                <a:latin typeface="Roboto"/>
                <a:ea typeface="Roboto"/>
                <a:cs typeface="Roboto"/>
                <a:sym typeface="Roboto"/>
              </a:rPr>
              <a:t>is pointing toward rain. Model is making inference from imperfect inputs? This seems like a case where gridded and network data have a systematic warm/low-elevation bias relative to the MRoS point observation. </a:t>
            </a:r>
            <a:endParaRPr sz="1300">
              <a:latin typeface="Roboto"/>
              <a:ea typeface="Roboto"/>
              <a:cs typeface="Roboto"/>
              <a:sym typeface="Roboto"/>
            </a:endParaRPr>
          </a:p>
        </p:txBody>
      </p:sp>
      <p:graphicFrame>
        <p:nvGraphicFramePr>
          <p:cNvPr id="629" name="Google Shape;629;p79"/>
          <p:cNvGraphicFramePr/>
          <p:nvPr/>
        </p:nvGraphicFramePr>
        <p:xfrm>
          <a:off x="477338" y="1238850"/>
          <a:ext cx="3000000" cy="3000000"/>
        </p:xfrm>
        <a:graphic>
          <a:graphicData uri="http://schemas.openxmlformats.org/drawingml/2006/table">
            <a:tbl>
              <a:tblPr>
                <a:noFill/>
                <a:tableStyleId>{4083C57D-9AA2-440F-BEE3-277E8C269043}</a:tableStyleId>
              </a:tblPr>
              <a:tblGrid>
                <a:gridCol w="2862950"/>
                <a:gridCol w="2576650"/>
                <a:gridCol w="2576650"/>
              </a:tblGrid>
              <a:tr h="460775">
                <a:tc>
                  <a:txBody>
                    <a:bodyPr/>
                    <a:lstStyle/>
                    <a:p>
                      <a:pPr indent="0" lvl="0" marL="0" rtl="0" algn="l">
                        <a:spcBef>
                          <a:spcPts val="0"/>
                        </a:spcBef>
                        <a:spcAft>
                          <a:spcPts val="0"/>
                        </a:spcAft>
                        <a:buNone/>
                      </a:pPr>
                      <a:r>
                        <a:rPr lang="en"/>
                        <a:t>Mean value:</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Problem cluster (n=42)</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c>
                  <a:txBody>
                    <a:bodyPr/>
                    <a:lstStyle/>
                    <a:p>
                      <a:pPr indent="0" lvl="0" marL="0" rtl="0" algn="l">
                        <a:spcBef>
                          <a:spcPts val="0"/>
                        </a:spcBef>
                        <a:spcAft>
                          <a:spcPts val="0"/>
                        </a:spcAft>
                        <a:buNone/>
                      </a:pPr>
                      <a:r>
                        <a:rPr lang="en"/>
                        <a:t>Full snow population (n=9802)</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AD1DC"/>
                    </a:solidFill>
                  </a:tcPr>
                </a:tc>
              </a:tr>
              <a:tr h="341800">
                <a:tc>
                  <a:txBody>
                    <a:bodyPr/>
                    <a:lstStyle/>
                    <a:p>
                      <a:pPr indent="0" lvl="0" marL="0" rtl="0" algn="l">
                        <a:spcBef>
                          <a:spcPts val="0"/>
                        </a:spcBef>
                        <a:spcAft>
                          <a:spcPts val="0"/>
                        </a:spcAft>
                        <a:buNone/>
                      </a:pPr>
                      <a:r>
                        <a:rPr lang="en"/>
                        <a:t>mros_p_rain_loocv</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a:t>0.674</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0.117</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41800">
                <a:tc>
                  <a:txBody>
                    <a:bodyPr/>
                    <a:lstStyle/>
                    <a:p>
                      <a:pPr indent="0" lvl="0" marL="0" rtl="0" algn="l">
                        <a:spcBef>
                          <a:spcPts val="0"/>
                        </a:spcBef>
                        <a:spcAft>
                          <a:spcPts val="0"/>
                        </a:spcAft>
                        <a:buNone/>
                      </a:pPr>
                      <a:r>
                        <a:rPr lang="en"/>
                        <a:t>mros_p_snow_loocv</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0.223</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a:t>0.786</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41800">
                <a:tc>
                  <a:txBody>
                    <a:bodyPr/>
                    <a:lstStyle/>
                    <a:p>
                      <a:pPr indent="0" lvl="0" marL="0" rtl="0" algn="l">
                        <a:spcBef>
                          <a:spcPts val="0"/>
                        </a:spcBef>
                        <a:spcAft>
                          <a:spcPts val="0"/>
                        </a:spcAft>
                        <a:buNone/>
                      </a:pPr>
                      <a:r>
                        <a:rPr lang="en"/>
                        <a:t>temp_wet</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-0.15C</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-4.38C</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41800">
                <a:tc>
                  <a:txBody>
                    <a:bodyPr/>
                    <a:lstStyle/>
                    <a:p>
                      <a:pPr indent="0" lvl="0" marL="0" rtl="0" algn="l">
                        <a:spcBef>
                          <a:spcPts val="0"/>
                        </a:spcBef>
                        <a:spcAft>
                          <a:spcPts val="0"/>
                        </a:spcAft>
                        <a:buNone/>
                      </a:pPr>
                      <a:r>
                        <a:rPr lang="en"/>
                        <a:t>elev</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1567m</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1745m</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41800">
                <a:tc>
                  <a:txBody>
                    <a:bodyPr/>
                    <a:lstStyle/>
                    <a:p>
                      <a:pPr indent="0" lvl="0" marL="0" rtl="0" algn="l">
                        <a:spcBef>
                          <a:spcPts val="0"/>
                        </a:spcBef>
                        <a:spcAft>
                          <a:spcPts val="0"/>
                        </a:spcAft>
                        <a:buNone/>
                      </a:pPr>
                      <a:r>
                        <a:rPr lang="en"/>
                        <a:t>IMERG PLP</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a:t>87.5%</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35" name="Google Shape;635;p80"/>
          <p:cNvSpPr txBox="1"/>
          <p:nvPr>
            <p:ph type="title"/>
          </p:nvPr>
        </p:nvSpPr>
        <p:spPr>
          <a:xfrm>
            <a:off x="92225" y="71712"/>
            <a:ext cx="8094300" cy="66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420"/>
              <a:t>ECE penalty w</a:t>
            </a:r>
            <a:r>
              <a:rPr lang="en" sz="2420"/>
              <a:t>hen the model is confidently wrong: CA case study</a:t>
            </a:r>
            <a:endParaRPr sz="2420"/>
          </a:p>
          <a:p>
            <a:pPr indent="0" lvl="0" marL="0" rtl="0" algn="l">
              <a:spcBef>
                <a:spcPts val="0"/>
              </a:spcBef>
              <a:spcAft>
                <a:spcPts val="0"/>
              </a:spcAft>
              <a:buSzPts val="990"/>
              <a:buNone/>
            </a:pPr>
            <a:r>
              <a:t/>
            </a:r>
            <a:endParaRPr sz="2420"/>
          </a:p>
        </p:txBody>
      </p:sp>
      <p:sp>
        <p:nvSpPr>
          <p:cNvPr id="636" name="Google Shape;636;p80"/>
          <p:cNvSpPr txBox="1"/>
          <p:nvPr/>
        </p:nvSpPr>
        <p:spPr>
          <a:xfrm>
            <a:off x="349500" y="1884800"/>
            <a:ext cx="4728600" cy="218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1"/>
                </a:solidFill>
                <a:latin typeface="Roboto"/>
                <a:ea typeface="Roboto"/>
                <a:cs typeface="Roboto"/>
                <a:sym typeface="Roboto"/>
              </a:rPr>
              <a:t>The model is well-calibrated for the vast majority of the observational space; the ECE inflation is driven by a small edge case at the low-elevation phase boundary where the MRoS network and gridded fields consistently disagree with the point observation. </a:t>
            </a:r>
            <a:endParaRPr sz="1300">
              <a:solidFill>
                <a:schemeClr val="dk1"/>
              </a:solidFill>
              <a:latin typeface="Roboto"/>
              <a:ea typeface="Roboto"/>
              <a:cs typeface="Roboto"/>
              <a:sym typeface="Roboto"/>
            </a:endParaRPr>
          </a:p>
          <a:p>
            <a:pPr indent="0" lvl="0" marL="0" rtl="0" algn="ctr">
              <a:spcBef>
                <a:spcPts val="0"/>
              </a:spcBef>
              <a:spcAft>
                <a:spcPts val="0"/>
              </a:spcAft>
              <a:buNone/>
            </a:pPr>
            <a:r>
              <a:t/>
            </a:r>
            <a:endParaRPr b="1" sz="1300">
              <a:solidFill>
                <a:schemeClr val="dk1"/>
              </a:solidFill>
              <a:latin typeface="Roboto"/>
              <a:ea typeface="Roboto"/>
              <a:cs typeface="Roboto"/>
              <a:sym typeface="Roboto"/>
            </a:endParaRPr>
          </a:p>
          <a:p>
            <a:pPr indent="0" lvl="0" marL="0" rtl="0" algn="ctr">
              <a:spcBef>
                <a:spcPts val="0"/>
              </a:spcBef>
              <a:spcAft>
                <a:spcPts val="0"/>
              </a:spcAft>
              <a:buNone/>
            </a:pPr>
            <a:r>
              <a:rPr b="1" lang="en" sz="1300">
                <a:solidFill>
                  <a:schemeClr val="dk1"/>
                </a:solidFill>
                <a:latin typeface="Roboto"/>
                <a:ea typeface="Roboto"/>
                <a:cs typeface="Roboto"/>
                <a:sym typeface="Roboto"/>
              </a:rPr>
              <a:t>This can be attributed to the difficulty of citizen science phase observations, possible human error, and or genuine corrections by human observers on biased station / temperature </a:t>
            </a:r>
            <a:r>
              <a:rPr b="1" lang="en" sz="1300">
                <a:solidFill>
                  <a:schemeClr val="dk1"/>
                </a:solidFill>
                <a:latin typeface="Roboto"/>
                <a:ea typeface="Roboto"/>
                <a:cs typeface="Roboto"/>
                <a:sym typeface="Roboto"/>
              </a:rPr>
              <a:t>predictions</a:t>
            </a:r>
            <a:endParaRPr b="1" sz="1200">
              <a:solidFill>
                <a:schemeClr val="dk1"/>
              </a:solidFill>
              <a:latin typeface="Roboto"/>
              <a:ea typeface="Roboto"/>
              <a:cs typeface="Roboto"/>
              <a:sym typeface="Roboto"/>
            </a:endParaRPr>
          </a:p>
        </p:txBody>
      </p:sp>
      <p:pic>
        <p:nvPicPr>
          <p:cNvPr id="637" name="Google Shape;637;p80"/>
          <p:cNvPicPr preferRelativeResize="0"/>
          <p:nvPr/>
        </p:nvPicPr>
        <p:blipFill rotWithShape="1">
          <a:blip r:embed="rId3">
            <a:alphaModFix/>
          </a:blip>
          <a:srcRect b="0" l="66364" r="0" t="0"/>
          <a:stretch/>
        </p:blipFill>
        <p:spPr>
          <a:xfrm>
            <a:off x="5190274" y="1196900"/>
            <a:ext cx="3613327" cy="356159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1" name="Shape 641"/>
        <p:cNvGrpSpPr/>
        <p:nvPr/>
      </p:nvGrpSpPr>
      <p:grpSpPr>
        <a:xfrm>
          <a:off x="0" y="0"/>
          <a:ext cx="0" cy="0"/>
          <a:chOff x="0" y="0"/>
          <a:chExt cx="0" cy="0"/>
        </a:xfrm>
      </p:grpSpPr>
      <p:sp>
        <p:nvSpPr>
          <p:cNvPr id="642" name="Google Shape;642;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43" name="Google Shape;643;p81"/>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 on ECE inflation and citizen science obs</a:t>
            </a:r>
            <a:endParaRPr/>
          </a:p>
        </p:txBody>
      </p:sp>
      <p:sp>
        <p:nvSpPr>
          <p:cNvPr id="644" name="Google Shape;644;p81"/>
          <p:cNvSpPr txBox="1"/>
          <p:nvPr/>
        </p:nvSpPr>
        <p:spPr>
          <a:xfrm>
            <a:off x="311700" y="1308525"/>
            <a:ext cx="8213700" cy="27861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Font typeface="Roboto"/>
              <a:buChar char="●"/>
            </a:pPr>
            <a:r>
              <a:rPr lang="en" sz="1300">
                <a:latin typeface="Roboto"/>
                <a:ea typeface="Roboto"/>
                <a:cs typeface="Roboto"/>
                <a:sym typeface="Roboto"/>
              </a:rPr>
              <a:t>When a citizen observer is at a lower-elevation site during a marginal event, they may be capturing a real orographic or micrometeorological snow signal that the surrounding station network misses</a:t>
            </a:r>
            <a:endParaRPr sz="1300">
              <a:latin typeface="Roboto"/>
              <a:ea typeface="Roboto"/>
              <a:cs typeface="Roboto"/>
              <a:sym typeface="Roboto"/>
            </a:endParaRPr>
          </a:p>
          <a:p>
            <a:pPr indent="-311150" lvl="0" marL="457200" rtl="0" algn="l">
              <a:spcBef>
                <a:spcPts val="0"/>
              </a:spcBef>
              <a:spcAft>
                <a:spcPts val="0"/>
              </a:spcAft>
              <a:buSzPts val="1300"/>
              <a:buFont typeface="Roboto"/>
              <a:buChar char="●"/>
            </a:pPr>
            <a:r>
              <a:rPr lang="en" sz="1300">
                <a:latin typeface="Roboto"/>
                <a:ea typeface="Roboto"/>
                <a:cs typeface="Roboto"/>
                <a:sym typeface="Roboto"/>
              </a:rPr>
              <a:t>The freezing level can drop extremely rapidly with elevation over very short distances in the Sierra Nevadas, (i.e., during atmospheric river events) and a single observer at 1570m may be in snow while stations at 1400m nearby are in rain. </a:t>
            </a:r>
            <a:endParaRPr sz="1300">
              <a:latin typeface="Roboto"/>
              <a:ea typeface="Roboto"/>
              <a:cs typeface="Roboto"/>
              <a:sym typeface="Roboto"/>
            </a:endParaRPr>
          </a:p>
          <a:p>
            <a:pPr indent="-311150" lvl="1" marL="914400" rtl="0" algn="l">
              <a:spcBef>
                <a:spcPts val="0"/>
              </a:spcBef>
              <a:spcAft>
                <a:spcPts val="0"/>
              </a:spcAft>
              <a:buSzPts val="1300"/>
              <a:buFont typeface="Roboto"/>
              <a:buChar char="○"/>
            </a:pPr>
            <a:r>
              <a:rPr lang="en" sz="1300">
                <a:latin typeface="Roboto"/>
                <a:ea typeface="Roboto"/>
                <a:cs typeface="Roboto"/>
                <a:sym typeface="Roboto"/>
              </a:rPr>
              <a:t>The LOOCV surface spatially interpolates across that gradient and comes out rain-dominant. </a:t>
            </a:r>
            <a:endParaRPr sz="1300">
              <a:latin typeface="Roboto"/>
              <a:ea typeface="Roboto"/>
              <a:cs typeface="Roboto"/>
              <a:sym typeface="Roboto"/>
            </a:endParaRPr>
          </a:p>
          <a:p>
            <a:pPr indent="-311150" lvl="1" marL="914400" rtl="0" algn="l">
              <a:spcBef>
                <a:spcPts val="0"/>
              </a:spcBef>
              <a:spcAft>
                <a:spcPts val="0"/>
              </a:spcAft>
              <a:buSzPts val="1300"/>
              <a:buFont typeface="Roboto"/>
              <a:buChar char="○"/>
            </a:pPr>
            <a:r>
              <a:rPr lang="en" sz="1300">
                <a:latin typeface="Roboto"/>
                <a:ea typeface="Roboto"/>
                <a:cs typeface="Roboto"/>
                <a:sym typeface="Roboto"/>
              </a:rPr>
              <a:t>IMERG compounds this because its retrieval is weighted toward the lower, warmer surrounding cells. </a:t>
            </a:r>
            <a:endParaRPr sz="1300">
              <a:latin typeface="Roboto"/>
              <a:ea typeface="Roboto"/>
              <a:cs typeface="Roboto"/>
              <a:sym typeface="Roboto"/>
            </a:endParaRPr>
          </a:p>
          <a:p>
            <a:pPr indent="-311150" lvl="1" marL="914400" rtl="0" algn="l">
              <a:spcBef>
                <a:spcPts val="0"/>
              </a:spcBef>
              <a:spcAft>
                <a:spcPts val="0"/>
              </a:spcAft>
              <a:buSzPts val="1300"/>
              <a:buFont typeface="Roboto"/>
              <a:buChar char="○"/>
            </a:pPr>
            <a:r>
              <a:rPr lang="en" sz="1300">
                <a:latin typeface="Roboto"/>
                <a:ea typeface="Roboto"/>
                <a:cs typeface="Roboto"/>
                <a:sym typeface="Roboto"/>
              </a:rPr>
              <a:t>The model then learns to trust the LOOCV surface for the general case → but in these edge cases, the individual citizen observer is the only instrument actually located at that elevation, in that microclimate, at that moment</a:t>
            </a:r>
            <a:endParaRPr sz="1300">
              <a:latin typeface="Roboto"/>
              <a:ea typeface="Roboto"/>
              <a:cs typeface="Roboto"/>
              <a:sym typeface="Roboto"/>
            </a:endParaRPr>
          </a:p>
          <a:p>
            <a:pPr indent="-311150" lvl="0" marL="457200" rtl="0" algn="l">
              <a:spcBef>
                <a:spcPts val="0"/>
              </a:spcBef>
              <a:spcAft>
                <a:spcPts val="0"/>
              </a:spcAft>
              <a:buSzPts val="1300"/>
              <a:buFont typeface="Roboto"/>
              <a:buChar char="●"/>
            </a:pPr>
            <a:r>
              <a:rPr lang="en" sz="1300">
                <a:latin typeface="Roboto"/>
                <a:ea typeface="Roboto"/>
                <a:cs typeface="Roboto"/>
                <a:sym typeface="Roboto"/>
              </a:rPr>
              <a:t>In a way, the citizen science observations are a form of ground truth that reveals the limitation of everything else</a:t>
            </a:r>
            <a:endParaRPr sz="1300">
              <a:latin typeface="Roboto"/>
              <a:ea typeface="Roboto"/>
              <a:cs typeface="Roboto"/>
              <a:sym typeface="Robo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8" name="Shape 648"/>
        <p:cNvGrpSpPr/>
        <p:nvPr/>
      </p:nvGrpSpPr>
      <p:grpSpPr>
        <a:xfrm>
          <a:off x="0" y="0"/>
          <a:ext cx="0" cy="0"/>
          <a:chOff x="0" y="0"/>
          <a:chExt cx="0" cy="0"/>
        </a:xfrm>
      </p:grpSpPr>
      <p:sp>
        <p:nvSpPr>
          <p:cNvPr id="649" name="Google Shape;649;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0" name="Google Shape;650;p82"/>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 on ECE inflation and citizen science obs</a:t>
            </a:r>
            <a:endParaRPr/>
          </a:p>
        </p:txBody>
      </p:sp>
      <p:sp>
        <p:nvSpPr>
          <p:cNvPr id="651" name="Google Shape;651;p82"/>
          <p:cNvSpPr txBox="1"/>
          <p:nvPr/>
        </p:nvSpPr>
        <p:spPr>
          <a:xfrm>
            <a:off x="311700" y="1308525"/>
            <a:ext cx="8213700" cy="25860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Font typeface="Roboto"/>
              <a:buChar char="●"/>
            </a:pPr>
            <a:r>
              <a:rPr lang="en" sz="1300">
                <a:latin typeface="Roboto"/>
                <a:ea typeface="Roboto"/>
                <a:cs typeface="Roboto"/>
                <a:sym typeface="Roboto"/>
              </a:rPr>
              <a:t>The ECE inflation in the low-p(snow) bin is concentrated at lower-elevation boundary sites during marginal events →</a:t>
            </a:r>
            <a:r>
              <a:rPr lang="en" sz="1300">
                <a:latin typeface="Roboto"/>
                <a:ea typeface="Roboto"/>
                <a:cs typeface="Roboto"/>
                <a:sym typeface="Roboto"/>
              </a:rPr>
              <a:t> o</a:t>
            </a:r>
            <a:r>
              <a:rPr lang="en" sz="1300">
                <a:latin typeface="Roboto"/>
                <a:ea typeface="Roboto"/>
                <a:cs typeface="Roboto"/>
                <a:sym typeface="Roboto"/>
              </a:rPr>
              <a:t>bservational gap that motivates citizen science networks like MRoS in the first place. </a:t>
            </a:r>
            <a:endParaRPr sz="1300">
              <a:latin typeface="Roboto"/>
              <a:ea typeface="Roboto"/>
              <a:cs typeface="Roboto"/>
              <a:sym typeface="Roboto"/>
            </a:endParaRPr>
          </a:p>
          <a:p>
            <a:pPr indent="-311150" lvl="1" marL="914400" rtl="0" algn="l">
              <a:spcBef>
                <a:spcPts val="0"/>
              </a:spcBef>
              <a:spcAft>
                <a:spcPts val="0"/>
              </a:spcAft>
              <a:buSzPts val="1300"/>
              <a:buFont typeface="Roboto"/>
              <a:buChar char="○"/>
            </a:pPr>
            <a:r>
              <a:rPr lang="en" sz="1300">
                <a:latin typeface="Roboto"/>
                <a:ea typeface="Roboto"/>
                <a:cs typeface="Roboto"/>
                <a:sym typeface="Roboto"/>
              </a:rPr>
              <a:t>The model's miscalibration in this regime is a direct reflection of the sparse conventional network, not modeling failure</a:t>
            </a:r>
            <a:endParaRPr sz="1300">
              <a:latin typeface="Roboto"/>
              <a:ea typeface="Roboto"/>
              <a:cs typeface="Roboto"/>
              <a:sym typeface="Roboto"/>
            </a:endParaRPr>
          </a:p>
          <a:p>
            <a:pPr indent="-311150" lvl="0" marL="457200" rtl="0" algn="l">
              <a:spcBef>
                <a:spcPts val="0"/>
              </a:spcBef>
              <a:spcAft>
                <a:spcPts val="0"/>
              </a:spcAft>
              <a:buSzPts val="1300"/>
              <a:buFont typeface="Roboto"/>
              <a:buChar char="●"/>
            </a:pPr>
            <a:r>
              <a:rPr lang="en" sz="1300">
                <a:latin typeface="Roboto"/>
                <a:ea typeface="Roboto"/>
                <a:cs typeface="Roboto"/>
                <a:sym typeface="Roboto"/>
              </a:rPr>
              <a:t>75% of the p≈0 cluster is genuinely snow (per the observer) despite all gridded signals pointing to rain → evidence that MRoS observers are providing physically meaningful, non-redundant information about phase at locations and elevations that conventional networks don't sample</a:t>
            </a:r>
            <a:endParaRPr sz="1300">
              <a:latin typeface="Roboto"/>
              <a:ea typeface="Roboto"/>
              <a:cs typeface="Roboto"/>
              <a:sym typeface="Roboto"/>
            </a:endParaRPr>
          </a:p>
          <a:p>
            <a:pPr indent="-311150" lvl="0" marL="457200" rtl="0" algn="l">
              <a:spcBef>
                <a:spcPts val="0"/>
              </a:spcBef>
              <a:spcAft>
                <a:spcPts val="0"/>
              </a:spcAft>
              <a:buSzPts val="1300"/>
              <a:buFont typeface="Roboto"/>
              <a:buChar char="●"/>
            </a:pPr>
            <a:r>
              <a:rPr lang="en" sz="1300">
                <a:latin typeface="Roboto"/>
                <a:ea typeface="Roboto"/>
                <a:cs typeface="Roboto"/>
                <a:sym typeface="Roboto"/>
              </a:rPr>
              <a:t>Calibration degrades for low-elevation boundary sites during near-freezing marginal events where the LOOCV surface is rain-dominant</a:t>
            </a:r>
            <a:endParaRPr sz="1300">
              <a:latin typeface="Roboto"/>
              <a:ea typeface="Roboto"/>
              <a:cs typeface="Roboto"/>
              <a:sym typeface="Roboto"/>
            </a:endParaRPr>
          </a:p>
          <a:p>
            <a:pPr indent="-311150" lvl="1" marL="914400" rtl="0" algn="l">
              <a:spcBef>
                <a:spcPts val="0"/>
              </a:spcBef>
              <a:spcAft>
                <a:spcPts val="0"/>
              </a:spcAft>
              <a:buSzPts val="1300"/>
              <a:buFont typeface="Roboto"/>
              <a:buChar char="○"/>
            </a:pPr>
            <a:r>
              <a:rPr lang="en" sz="1300">
                <a:latin typeface="Roboto"/>
                <a:ea typeface="Roboto"/>
                <a:cs typeface="Roboto"/>
                <a:sym typeface="Roboto"/>
              </a:rPr>
              <a:t>expected consequence of spatial interpolation across steep orographic gradients, not a systematic model bias?</a:t>
            </a:r>
            <a:endParaRPr sz="1300">
              <a:latin typeface="Roboto"/>
              <a:ea typeface="Roboto"/>
              <a:cs typeface="Roboto"/>
              <a:sym typeface="Robo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7" name="Google Shape;657;p83"/>
          <p:cNvSpPr txBox="1"/>
          <p:nvPr>
            <p:ph type="ctrTitle"/>
          </p:nvPr>
        </p:nvSpPr>
        <p:spPr>
          <a:xfrm>
            <a:off x="311700" y="301500"/>
            <a:ext cx="2903100" cy="1395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Results</a:t>
            </a:r>
            <a:endParaRPr/>
          </a:p>
        </p:txBody>
      </p:sp>
      <p:sp>
        <p:nvSpPr>
          <p:cNvPr id="658" name="Google Shape;658;p83"/>
          <p:cNvSpPr txBox="1"/>
          <p:nvPr>
            <p:ph idx="1" type="subTitle"/>
          </p:nvPr>
        </p:nvSpPr>
        <p:spPr>
          <a:xfrm>
            <a:off x="3889000" y="3123200"/>
            <a:ext cx="4989900" cy="7926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b="1" lang="en" sz="2400"/>
              <a:t>Binary </a:t>
            </a:r>
            <a:r>
              <a:rPr lang="en" sz="2400"/>
              <a:t>Model on CO</a:t>
            </a:r>
            <a:endParaRPr sz="2400"/>
          </a:p>
          <a:p>
            <a:pPr indent="0" lvl="0" marL="0" rtl="0" algn="ctr">
              <a:lnSpc>
                <a:spcPct val="90000"/>
              </a:lnSpc>
              <a:spcBef>
                <a:spcPts val="0"/>
              </a:spcBef>
              <a:spcAft>
                <a:spcPts val="0"/>
              </a:spcAft>
              <a:buNone/>
            </a:pPr>
            <a:r>
              <a:rPr i="1" lang="en" sz="2000">
                <a:solidFill>
                  <a:srgbClr val="595959"/>
                </a:solidFill>
              </a:rPr>
              <a:t>(</a:t>
            </a:r>
            <a:r>
              <a:rPr b="1" i="1" lang="en" sz="2000">
                <a:solidFill>
                  <a:srgbClr val="595959"/>
                </a:solidFill>
              </a:rPr>
              <a:t>kriging</a:t>
            </a:r>
            <a:r>
              <a:rPr i="1" lang="en" sz="2000">
                <a:solidFill>
                  <a:srgbClr val="595959"/>
                </a:solidFill>
              </a:rPr>
              <a:t>-based interpolated MRoS and station predictors)</a:t>
            </a:r>
            <a:endParaRPr i="1" sz="2000">
              <a:solidFill>
                <a:srgbClr val="595959"/>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64" name="Google Shape;664;p84"/>
          <p:cNvSpPr txBox="1"/>
          <p:nvPr>
            <p:ph type="title"/>
          </p:nvPr>
        </p:nvSpPr>
        <p:spPr>
          <a:xfrm>
            <a:off x="311700" y="172028"/>
            <a:ext cx="78747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20"/>
              <a:t>Confusion Matrices</a:t>
            </a:r>
            <a:endParaRPr sz="2420"/>
          </a:p>
        </p:txBody>
      </p:sp>
      <p:pic>
        <p:nvPicPr>
          <p:cNvPr id="665" name="Google Shape;665;p84"/>
          <p:cNvPicPr preferRelativeResize="0"/>
          <p:nvPr/>
        </p:nvPicPr>
        <p:blipFill>
          <a:blip r:embed="rId3">
            <a:alphaModFix/>
          </a:blip>
          <a:stretch>
            <a:fillRect/>
          </a:stretch>
        </p:blipFill>
        <p:spPr>
          <a:xfrm>
            <a:off x="524763" y="1235350"/>
            <a:ext cx="8094479" cy="36137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71" name="Google Shape;671;p85"/>
          <p:cNvSpPr txBox="1"/>
          <p:nvPr>
            <p:ph type="title"/>
          </p:nvPr>
        </p:nvSpPr>
        <p:spPr>
          <a:xfrm>
            <a:off x="311700" y="172028"/>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420"/>
              <a:t>AUROC, AP</a:t>
            </a:r>
            <a:endParaRPr sz="2420"/>
          </a:p>
          <a:p>
            <a:pPr indent="0" lvl="0" marL="0" rtl="0" algn="l">
              <a:spcBef>
                <a:spcPts val="0"/>
              </a:spcBef>
              <a:spcAft>
                <a:spcPts val="0"/>
              </a:spcAft>
              <a:buNone/>
            </a:pPr>
            <a:r>
              <a:t/>
            </a:r>
            <a:endParaRPr sz="2420"/>
          </a:p>
        </p:txBody>
      </p:sp>
      <p:pic>
        <p:nvPicPr>
          <p:cNvPr id="672" name="Google Shape;672;p85"/>
          <p:cNvPicPr preferRelativeResize="0"/>
          <p:nvPr/>
        </p:nvPicPr>
        <p:blipFill>
          <a:blip r:embed="rId3">
            <a:alphaModFix/>
          </a:blip>
          <a:stretch>
            <a:fillRect/>
          </a:stretch>
        </p:blipFill>
        <p:spPr>
          <a:xfrm>
            <a:off x="584737" y="1196476"/>
            <a:ext cx="7974527" cy="361368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78" name="Google Shape;678;p86"/>
          <p:cNvSpPr txBox="1"/>
          <p:nvPr/>
        </p:nvSpPr>
        <p:spPr>
          <a:xfrm>
            <a:off x="246375" y="1199375"/>
            <a:ext cx="8648400" cy="35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FF0000"/>
              </a:solidFill>
              <a:latin typeface="Roboto"/>
              <a:ea typeface="Roboto"/>
              <a:cs typeface="Roboto"/>
              <a:sym typeface="Roboto"/>
            </a:endParaRPr>
          </a:p>
        </p:txBody>
      </p:sp>
      <p:pic>
        <p:nvPicPr>
          <p:cNvPr id="679" name="Google Shape;679;p86"/>
          <p:cNvPicPr preferRelativeResize="0"/>
          <p:nvPr/>
        </p:nvPicPr>
        <p:blipFill>
          <a:blip r:embed="rId3">
            <a:alphaModFix/>
          </a:blip>
          <a:stretch>
            <a:fillRect/>
          </a:stretch>
        </p:blipFill>
        <p:spPr>
          <a:xfrm>
            <a:off x="1119116" y="0"/>
            <a:ext cx="6905769" cy="5143500"/>
          </a:xfrm>
          <a:prstGeom prst="rect">
            <a:avLst/>
          </a:prstGeom>
          <a:noFill/>
          <a:ln>
            <a:noFill/>
          </a:ln>
        </p:spPr>
      </p:pic>
      <p:sp>
        <p:nvSpPr>
          <p:cNvPr id="680" name="Google Shape;680;p86"/>
          <p:cNvSpPr txBox="1"/>
          <p:nvPr/>
        </p:nvSpPr>
        <p:spPr>
          <a:xfrm>
            <a:off x="131225" y="1047200"/>
            <a:ext cx="858600" cy="6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Roboto"/>
                <a:ea typeface="Roboto"/>
                <a:cs typeface="Roboto"/>
                <a:sym typeface="Roboto"/>
              </a:rPr>
              <a:t>Isotonic regression </a:t>
            </a:r>
            <a:r>
              <a:rPr lang="en" sz="900">
                <a:solidFill>
                  <a:schemeClr val="dk1"/>
                </a:solidFill>
                <a:latin typeface="Roboto"/>
                <a:ea typeface="Roboto"/>
                <a:cs typeface="Roboto"/>
                <a:sym typeface="Roboto"/>
              </a:rPr>
              <a:t>on sparser CO dataset.</a:t>
            </a:r>
            <a:endParaRPr sz="900">
              <a:solidFill>
                <a:schemeClr val="dk1"/>
              </a:solidFill>
              <a:latin typeface="Roboto"/>
              <a:ea typeface="Roboto"/>
              <a:cs typeface="Roboto"/>
              <a:sym typeface="Roboto"/>
            </a:endParaRPr>
          </a:p>
        </p:txBody>
      </p:sp>
      <p:sp>
        <p:nvSpPr>
          <p:cNvPr id="681" name="Google Shape;681;p86"/>
          <p:cNvSpPr txBox="1"/>
          <p:nvPr/>
        </p:nvSpPr>
        <p:spPr>
          <a:xfrm>
            <a:off x="131225" y="2899238"/>
            <a:ext cx="955500" cy="104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Roboto"/>
                <a:ea typeface="Roboto"/>
                <a:cs typeface="Roboto"/>
                <a:sym typeface="Roboto"/>
              </a:rPr>
              <a:t>Miscalibration still exists on p(snow) extremes even after calibration.</a:t>
            </a:r>
            <a:endParaRPr sz="900">
              <a:solidFill>
                <a:schemeClr val="dk1"/>
              </a:solidFill>
              <a:latin typeface="Roboto"/>
              <a:ea typeface="Roboto"/>
              <a:cs typeface="Roboto"/>
              <a:sym typeface="Roboto"/>
            </a:endParaRPr>
          </a:p>
        </p:txBody>
      </p:sp>
      <p:sp>
        <p:nvSpPr>
          <p:cNvPr id="682" name="Google Shape;682;p86"/>
          <p:cNvSpPr txBox="1"/>
          <p:nvPr/>
        </p:nvSpPr>
        <p:spPr>
          <a:xfrm>
            <a:off x="131225" y="3987350"/>
            <a:ext cx="955500" cy="10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Roboto"/>
                <a:ea typeface="Roboto"/>
                <a:cs typeface="Roboto"/>
                <a:sym typeface="Roboto"/>
              </a:rPr>
              <a:t>But low brier scores indicate strong accuracy overall.</a:t>
            </a:r>
            <a:endParaRPr sz="900">
              <a:solidFill>
                <a:schemeClr val="dk1"/>
              </a:solidFill>
              <a:latin typeface="Roboto"/>
              <a:ea typeface="Roboto"/>
              <a:cs typeface="Roboto"/>
              <a:sym typeface="Roboto"/>
            </a:endParaRPr>
          </a:p>
        </p:txBody>
      </p:sp>
      <p:sp>
        <p:nvSpPr>
          <p:cNvPr id="683" name="Google Shape;683;p86"/>
          <p:cNvSpPr txBox="1"/>
          <p:nvPr/>
        </p:nvSpPr>
        <p:spPr>
          <a:xfrm>
            <a:off x="131225" y="1755263"/>
            <a:ext cx="955500" cy="104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Roboto"/>
                <a:ea typeface="Roboto"/>
                <a:cs typeface="Roboto"/>
                <a:sym typeface="Roboto"/>
              </a:rPr>
              <a:t>Calibration pulls raw XGBoost scores closer to diagonal line of perfect calibration.</a:t>
            </a:r>
            <a:endParaRPr sz="900">
              <a:solidFill>
                <a:schemeClr val="dk1"/>
              </a:solidFill>
              <a:latin typeface="Roboto"/>
              <a:ea typeface="Roboto"/>
              <a:cs typeface="Roboto"/>
              <a:sym typeface="Roboto"/>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89" name="Google Shape;689;p87"/>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F1 Accuracy vs Wet Bulb Temperature (CO)</a:t>
            </a:r>
            <a:endParaRPr/>
          </a:p>
        </p:txBody>
      </p:sp>
      <p:sp>
        <p:nvSpPr>
          <p:cNvPr id="690" name="Google Shape;690;p87"/>
          <p:cNvSpPr txBox="1"/>
          <p:nvPr/>
        </p:nvSpPr>
        <p:spPr>
          <a:xfrm>
            <a:off x="175250" y="4125325"/>
            <a:ext cx="2148300" cy="86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Roboto"/>
                <a:ea typeface="Roboto"/>
                <a:cs typeface="Roboto"/>
                <a:sym typeface="Roboto"/>
              </a:rPr>
              <a:t>Strong performance at cold temperatures below -4°C, then a steady degradation as T_wet approaches 0°C and above. Sharp drop off in both val and test accuracies after 2</a:t>
            </a:r>
            <a:r>
              <a:rPr lang="en" sz="700">
                <a:solidFill>
                  <a:schemeClr val="dk1"/>
                </a:solidFill>
                <a:latin typeface="Roboto"/>
                <a:ea typeface="Roboto"/>
                <a:cs typeface="Roboto"/>
                <a:sym typeface="Roboto"/>
              </a:rPr>
              <a:t>°C.</a:t>
            </a:r>
            <a:endParaRPr sz="700">
              <a:solidFill>
                <a:schemeClr val="dk1"/>
              </a:solidFill>
              <a:latin typeface="Roboto"/>
              <a:ea typeface="Roboto"/>
              <a:cs typeface="Roboto"/>
              <a:sym typeface="Roboto"/>
            </a:endParaRPr>
          </a:p>
          <a:p>
            <a:pPr indent="0" lvl="0" marL="0" rtl="0" algn="ctr">
              <a:spcBef>
                <a:spcPts val="0"/>
              </a:spcBef>
              <a:spcAft>
                <a:spcPts val="0"/>
              </a:spcAft>
              <a:buNone/>
            </a:pPr>
            <a:r>
              <a:rPr lang="en" sz="700">
                <a:solidFill>
                  <a:schemeClr val="dk1"/>
                </a:solidFill>
                <a:latin typeface="Roboto"/>
                <a:ea typeface="Roboto"/>
                <a:cs typeface="Roboto"/>
                <a:sym typeface="Roboto"/>
              </a:rPr>
              <a:t>CO degrades more sharply above freezing than CA’s transition zone.</a:t>
            </a:r>
            <a:endParaRPr sz="700">
              <a:solidFill>
                <a:schemeClr val="dk1"/>
              </a:solidFill>
              <a:latin typeface="Roboto"/>
              <a:ea typeface="Roboto"/>
              <a:cs typeface="Roboto"/>
              <a:sym typeface="Roboto"/>
            </a:endParaRPr>
          </a:p>
        </p:txBody>
      </p:sp>
      <p:sp>
        <p:nvSpPr>
          <p:cNvPr id="691" name="Google Shape;691;p87"/>
          <p:cNvSpPr txBox="1"/>
          <p:nvPr/>
        </p:nvSpPr>
        <p:spPr>
          <a:xfrm>
            <a:off x="2513475" y="4191400"/>
            <a:ext cx="1990200" cy="79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Roboto"/>
                <a:ea typeface="Roboto"/>
                <a:cs typeface="Roboto"/>
                <a:sym typeface="Roboto"/>
              </a:rPr>
              <a:t>Rain F1 is 0 below -2°C (no rain at those temps)</a:t>
            </a:r>
            <a:r>
              <a:rPr lang="en" sz="700">
                <a:solidFill>
                  <a:schemeClr val="dk1"/>
                </a:solidFill>
                <a:latin typeface="Roboto"/>
                <a:ea typeface="Roboto"/>
                <a:cs typeface="Roboto"/>
                <a:sym typeface="Roboto"/>
              </a:rPr>
              <a:t>, then rises </a:t>
            </a:r>
            <a:r>
              <a:rPr lang="en" sz="700">
                <a:solidFill>
                  <a:schemeClr val="dk1"/>
                </a:solidFill>
                <a:latin typeface="Roboto"/>
                <a:ea typeface="Roboto"/>
                <a:cs typeface="Roboto"/>
                <a:sym typeface="Roboto"/>
              </a:rPr>
              <a:t>steeply but noisily through the transition zone. Val reaches ~0.9 near 0°C but oscillates. Test is consistently lower and more erratic than val.</a:t>
            </a:r>
            <a:endParaRPr sz="700">
              <a:solidFill>
                <a:schemeClr val="dk1"/>
              </a:solidFill>
              <a:latin typeface="Roboto"/>
              <a:ea typeface="Roboto"/>
              <a:cs typeface="Roboto"/>
              <a:sym typeface="Roboto"/>
            </a:endParaRPr>
          </a:p>
        </p:txBody>
      </p:sp>
      <p:sp>
        <p:nvSpPr>
          <p:cNvPr id="692" name="Google Shape;692;p87"/>
          <p:cNvSpPr txBox="1"/>
          <p:nvPr/>
        </p:nvSpPr>
        <p:spPr>
          <a:xfrm>
            <a:off x="7047400" y="4304350"/>
            <a:ext cx="18873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Roboto"/>
                <a:ea typeface="Roboto"/>
                <a:cs typeface="Roboto"/>
                <a:sym typeface="Roboto"/>
              </a:rPr>
              <a:t>Incoherent, val/test diverge a lot; model doesn’t quite know where it should be uncertain here.</a:t>
            </a:r>
            <a:endParaRPr sz="700">
              <a:solidFill>
                <a:schemeClr val="dk1"/>
              </a:solidFill>
              <a:latin typeface="Roboto"/>
              <a:ea typeface="Roboto"/>
              <a:cs typeface="Roboto"/>
              <a:sym typeface="Roboto"/>
            </a:endParaRPr>
          </a:p>
        </p:txBody>
      </p:sp>
      <p:sp>
        <p:nvSpPr>
          <p:cNvPr id="693" name="Google Shape;693;p87"/>
          <p:cNvSpPr txBox="1"/>
          <p:nvPr/>
        </p:nvSpPr>
        <p:spPr>
          <a:xfrm>
            <a:off x="6436950" y="1228150"/>
            <a:ext cx="25524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dk1"/>
                </a:solidFill>
                <a:latin typeface="Roboto"/>
                <a:ea typeface="Roboto"/>
                <a:cs typeface="Roboto"/>
                <a:sym typeface="Roboto"/>
              </a:rPr>
              <a:t>Fraction of true "mix" events the model places in the mix band →</a:t>
            </a:r>
            <a:r>
              <a:rPr lang="en" sz="700">
                <a:solidFill>
                  <a:schemeClr val="dk1"/>
                </a:solidFill>
                <a:latin typeface="Roboto"/>
                <a:ea typeface="Roboto"/>
                <a:cs typeface="Roboto"/>
                <a:sym typeface="Roboto"/>
              </a:rPr>
              <a:t> </a:t>
            </a:r>
            <a:r>
              <a:rPr lang="en" sz="700">
                <a:solidFill>
                  <a:schemeClr val="dk1"/>
                </a:solidFill>
                <a:latin typeface="Roboto"/>
                <a:ea typeface="Roboto"/>
                <a:cs typeface="Roboto"/>
                <a:sym typeface="Roboto"/>
              </a:rPr>
              <a:t>measures whether the model's uncertainty is calibrated to the right temperature range.</a:t>
            </a:r>
            <a:endParaRPr sz="700">
              <a:solidFill>
                <a:schemeClr val="dk1"/>
              </a:solidFill>
              <a:latin typeface="Roboto"/>
              <a:ea typeface="Roboto"/>
              <a:cs typeface="Roboto"/>
              <a:sym typeface="Roboto"/>
            </a:endParaRPr>
          </a:p>
        </p:txBody>
      </p:sp>
      <p:pic>
        <p:nvPicPr>
          <p:cNvPr id="694" name="Google Shape;694;p87"/>
          <p:cNvPicPr preferRelativeResize="0"/>
          <p:nvPr/>
        </p:nvPicPr>
        <p:blipFill>
          <a:blip r:embed="rId3">
            <a:alphaModFix/>
          </a:blip>
          <a:stretch>
            <a:fillRect/>
          </a:stretch>
        </p:blipFill>
        <p:spPr>
          <a:xfrm>
            <a:off x="152400" y="1888450"/>
            <a:ext cx="8839204" cy="2196853"/>
          </a:xfrm>
          <a:prstGeom prst="rect">
            <a:avLst/>
          </a:prstGeom>
          <a:noFill/>
          <a:ln>
            <a:noFill/>
          </a:ln>
        </p:spPr>
      </p:pic>
      <p:sp>
        <p:nvSpPr>
          <p:cNvPr id="695" name="Google Shape;695;p87"/>
          <p:cNvSpPr txBox="1"/>
          <p:nvPr/>
        </p:nvSpPr>
        <p:spPr>
          <a:xfrm>
            <a:off x="4916350" y="4357525"/>
            <a:ext cx="1887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latin typeface="Roboto"/>
                <a:ea typeface="Roboto"/>
                <a:cs typeface="Roboto"/>
                <a:sym typeface="Roboto"/>
              </a:rPr>
              <a:t>overlap between "model uncertain" and "observer reported mix" is weak </a:t>
            </a:r>
            <a:endParaRPr sz="700">
              <a:latin typeface="Roboto"/>
              <a:ea typeface="Roboto"/>
              <a:cs typeface="Roboto"/>
              <a:sym typeface="Robo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01" name="Google Shape;701;p88"/>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Uncertainty/”Mix” Capture by Wet Bulb Threshold (CO)</a:t>
            </a:r>
            <a:endParaRPr/>
          </a:p>
        </p:txBody>
      </p:sp>
      <p:sp>
        <p:nvSpPr>
          <p:cNvPr id="702" name="Google Shape;702;p88"/>
          <p:cNvSpPr txBox="1"/>
          <p:nvPr/>
        </p:nvSpPr>
        <p:spPr>
          <a:xfrm>
            <a:off x="311700" y="2664275"/>
            <a:ext cx="2794200" cy="845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300">
                <a:solidFill>
                  <a:schemeClr val="dk1"/>
                </a:solidFill>
                <a:latin typeface="Roboto"/>
                <a:ea typeface="Roboto"/>
                <a:cs typeface="Roboto"/>
                <a:sym typeface="Roboto"/>
              </a:rPr>
              <a:t>Are we appropriately optimizing the wet-bulb thresholding band for mixed phase?</a:t>
            </a:r>
            <a:endParaRPr sz="1300">
              <a:solidFill>
                <a:schemeClr val="dk1"/>
              </a:solidFill>
              <a:latin typeface="Roboto"/>
              <a:ea typeface="Roboto"/>
              <a:cs typeface="Roboto"/>
              <a:sym typeface="Roboto"/>
            </a:endParaRPr>
          </a:p>
        </p:txBody>
      </p:sp>
      <p:pic>
        <p:nvPicPr>
          <p:cNvPr id="703" name="Google Shape;703;p88"/>
          <p:cNvPicPr preferRelativeResize="0"/>
          <p:nvPr/>
        </p:nvPicPr>
        <p:blipFill>
          <a:blip r:embed="rId3">
            <a:alphaModFix/>
          </a:blip>
          <a:stretch>
            <a:fillRect/>
          </a:stretch>
        </p:blipFill>
        <p:spPr>
          <a:xfrm>
            <a:off x="-5300" y="998250"/>
            <a:ext cx="9154580" cy="3853151"/>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09" name="Google Shape;709;p89"/>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Near Freezing (CO) - baseline</a:t>
            </a:r>
            <a:endParaRPr/>
          </a:p>
        </p:txBody>
      </p:sp>
      <p:pic>
        <p:nvPicPr>
          <p:cNvPr id="710" name="Google Shape;710;p89"/>
          <p:cNvPicPr preferRelativeResize="0"/>
          <p:nvPr/>
        </p:nvPicPr>
        <p:blipFill>
          <a:blip r:embed="rId3">
            <a:alphaModFix/>
          </a:blip>
          <a:stretch>
            <a:fillRect/>
          </a:stretch>
        </p:blipFill>
        <p:spPr>
          <a:xfrm>
            <a:off x="152400" y="1274800"/>
            <a:ext cx="8839198" cy="338843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16" name="Google Shape;716;p90"/>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Near Freezing (CO) - no MRoS</a:t>
            </a:r>
            <a:endParaRPr/>
          </a:p>
        </p:txBody>
      </p:sp>
      <p:pic>
        <p:nvPicPr>
          <p:cNvPr id="717" name="Google Shape;717;p90"/>
          <p:cNvPicPr preferRelativeResize="0"/>
          <p:nvPr/>
        </p:nvPicPr>
        <p:blipFill>
          <a:blip r:embed="rId3">
            <a:alphaModFix/>
          </a:blip>
          <a:stretch>
            <a:fillRect/>
          </a:stretch>
        </p:blipFill>
        <p:spPr>
          <a:xfrm>
            <a:off x="152463" y="1274800"/>
            <a:ext cx="8839073" cy="3388424"/>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23" name="Google Shape;723;p91"/>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Near Freezing (CO) - baseline</a:t>
            </a:r>
            <a:endParaRPr/>
          </a:p>
        </p:txBody>
      </p:sp>
      <p:pic>
        <p:nvPicPr>
          <p:cNvPr id="724" name="Google Shape;724;p91"/>
          <p:cNvPicPr preferRelativeResize="0"/>
          <p:nvPr/>
        </p:nvPicPr>
        <p:blipFill>
          <a:blip r:embed="rId3">
            <a:alphaModFix/>
          </a:blip>
          <a:stretch>
            <a:fillRect/>
          </a:stretch>
        </p:blipFill>
        <p:spPr>
          <a:xfrm>
            <a:off x="152400" y="1274800"/>
            <a:ext cx="8839198" cy="3388436"/>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30" name="Google Shape;730;p92"/>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Near Freezing (CO) - no MRoS</a:t>
            </a:r>
            <a:endParaRPr/>
          </a:p>
        </p:txBody>
      </p:sp>
      <p:pic>
        <p:nvPicPr>
          <p:cNvPr id="731" name="Google Shape;731;p92"/>
          <p:cNvPicPr preferRelativeResize="0"/>
          <p:nvPr/>
        </p:nvPicPr>
        <p:blipFill>
          <a:blip r:embed="rId3">
            <a:alphaModFix/>
          </a:blip>
          <a:stretch>
            <a:fillRect/>
          </a:stretch>
        </p:blipFill>
        <p:spPr>
          <a:xfrm>
            <a:off x="152400" y="1274780"/>
            <a:ext cx="8839198" cy="3388456"/>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5" name="Shape 735"/>
        <p:cNvGrpSpPr/>
        <p:nvPr/>
      </p:nvGrpSpPr>
      <p:grpSpPr>
        <a:xfrm>
          <a:off x="0" y="0"/>
          <a:ext cx="0" cy="0"/>
          <a:chOff x="0" y="0"/>
          <a:chExt cx="0" cy="0"/>
        </a:xfrm>
      </p:grpSpPr>
      <p:sp>
        <p:nvSpPr>
          <p:cNvPr id="736" name="Google Shape;736;p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37" name="Google Shape;737;p93"/>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SHAP Results: Feature Importance (CO-IDW)</a:t>
            </a:r>
            <a:endParaRPr/>
          </a:p>
        </p:txBody>
      </p:sp>
      <p:pic>
        <p:nvPicPr>
          <p:cNvPr id="738" name="Google Shape;738;p93"/>
          <p:cNvPicPr preferRelativeResize="0"/>
          <p:nvPr/>
        </p:nvPicPr>
        <p:blipFill>
          <a:blip r:embed="rId3">
            <a:alphaModFix/>
          </a:blip>
          <a:stretch>
            <a:fillRect/>
          </a:stretch>
        </p:blipFill>
        <p:spPr>
          <a:xfrm>
            <a:off x="961325" y="1237000"/>
            <a:ext cx="7221351" cy="3555751"/>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44" name="Google Shape;744;p94"/>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SHAP Results: Feature Importance (CO-kriging)</a:t>
            </a:r>
            <a:endParaRPr/>
          </a:p>
        </p:txBody>
      </p:sp>
      <p:pic>
        <p:nvPicPr>
          <p:cNvPr id="745" name="Google Shape;745;p94"/>
          <p:cNvPicPr preferRelativeResize="0"/>
          <p:nvPr/>
        </p:nvPicPr>
        <p:blipFill>
          <a:blip r:embed="rId3">
            <a:alphaModFix/>
          </a:blip>
          <a:stretch>
            <a:fillRect/>
          </a:stretch>
        </p:blipFill>
        <p:spPr>
          <a:xfrm>
            <a:off x="982375" y="1237002"/>
            <a:ext cx="7179258" cy="35557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51" name="Google Shape;751;p95"/>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SHAP Results: Feature Importance (CO-kriging v2)</a:t>
            </a:r>
            <a:endParaRPr/>
          </a:p>
        </p:txBody>
      </p:sp>
      <p:pic>
        <p:nvPicPr>
          <p:cNvPr id="752" name="Google Shape;752;p95"/>
          <p:cNvPicPr preferRelativeResize="0"/>
          <p:nvPr/>
        </p:nvPicPr>
        <p:blipFill>
          <a:blip r:embed="rId3">
            <a:alphaModFix/>
          </a:blip>
          <a:stretch>
            <a:fillRect/>
          </a:stretch>
        </p:blipFill>
        <p:spPr>
          <a:xfrm>
            <a:off x="0" y="1013194"/>
            <a:ext cx="9143999" cy="376216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58" name="Google Shape;758;p96"/>
          <p:cNvSpPr txBox="1"/>
          <p:nvPr>
            <p:ph idx="1" type="subTitle"/>
          </p:nvPr>
        </p:nvSpPr>
        <p:spPr>
          <a:xfrm>
            <a:off x="3889000" y="3123200"/>
            <a:ext cx="4989900" cy="7926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b="1" lang="en" sz="2400"/>
              <a:t>CO Ablation Study</a:t>
            </a:r>
            <a:endParaRPr i="1" sz="2000">
              <a:solidFill>
                <a:srgbClr val="595959"/>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64" name="Google Shape;764;p97"/>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765" name="Google Shape;765;p97"/>
          <p:cNvPicPr preferRelativeResize="0"/>
          <p:nvPr/>
        </p:nvPicPr>
        <p:blipFill>
          <a:blip r:embed="rId3">
            <a:alphaModFix/>
          </a:blip>
          <a:stretch>
            <a:fillRect/>
          </a:stretch>
        </p:blipFill>
        <p:spPr>
          <a:xfrm>
            <a:off x="152400" y="1358425"/>
            <a:ext cx="8839198" cy="330479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71" name="Google Shape;771;p98"/>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Ablation - normalized metrics</a:t>
            </a:r>
            <a:endParaRPr/>
          </a:p>
        </p:txBody>
      </p:sp>
      <p:pic>
        <p:nvPicPr>
          <p:cNvPr id="772" name="Google Shape;772;p98"/>
          <p:cNvPicPr preferRelativeResize="0"/>
          <p:nvPr/>
        </p:nvPicPr>
        <p:blipFill>
          <a:blip r:embed="rId3">
            <a:alphaModFix/>
          </a:blip>
          <a:stretch>
            <a:fillRect/>
          </a:stretch>
        </p:blipFill>
        <p:spPr>
          <a:xfrm>
            <a:off x="215650" y="1202150"/>
            <a:ext cx="8712710" cy="3592468"/>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78" name="Google Shape;778;p99"/>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779" name="Google Shape;779;p99"/>
          <p:cNvPicPr preferRelativeResize="0"/>
          <p:nvPr/>
        </p:nvPicPr>
        <p:blipFill>
          <a:blip r:embed="rId3">
            <a:alphaModFix/>
          </a:blip>
          <a:stretch>
            <a:fillRect/>
          </a:stretch>
        </p:blipFill>
        <p:spPr>
          <a:xfrm>
            <a:off x="0" y="991951"/>
            <a:ext cx="4558675" cy="3508167"/>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85" name="Google Shape;785;p100"/>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ECE Calibration</a:t>
            </a:r>
            <a:endParaRPr/>
          </a:p>
        </p:txBody>
      </p:sp>
      <p:pic>
        <p:nvPicPr>
          <p:cNvPr id="786" name="Google Shape;786;p100"/>
          <p:cNvPicPr preferRelativeResize="0"/>
          <p:nvPr/>
        </p:nvPicPr>
        <p:blipFill>
          <a:blip r:embed="rId3">
            <a:alphaModFix/>
          </a:blip>
          <a:stretch>
            <a:fillRect/>
          </a:stretch>
        </p:blipFill>
        <p:spPr>
          <a:xfrm>
            <a:off x="590375" y="1022975"/>
            <a:ext cx="7317354" cy="40727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92" name="Google Shape;792;p101"/>
          <p:cNvSpPr txBox="1"/>
          <p:nvPr>
            <p:ph type="ctrTitle"/>
          </p:nvPr>
        </p:nvSpPr>
        <p:spPr>
          <a:xfrm>
            <a:off x="311700" y="301500"/>
            <a:ext cx="2903100" cy="1395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Summary</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0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98" name="Google Shape;798;p102"/>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Results: CA</a:t>
            </a:r>
            <a:endParaRPr/>
          </a:p>
        </p:txBody>
      </p:sp>
      <p:sp>
        <p:nvSpPr>
          <p:cNvPr id="799" name="Google Shape;799;p102"/>
          <p:cNvSpPr txBox="1"/>
          <p:nvPr/>
        </p:nvSpPr>
        <p:spPr>
          <a:xfrm>
            <a:off x="199350" y="1003250"/>
            <a:ext cx="8821800" cy="356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200">
                <a:solidFill>
                  <a:schemeClr val="dk1"/>
                </a:solidFill>
                <a:latin typeface="Roboto"/>
                <a:ea typeface="Roboto"/>
                <a:cs typeface="Roboto"/>
                <a:sym typeface="Roboto"/>
              </a:rPr>
              <a:t>California (binary model, kriged predictors, beta calibration)</a:t>
            </a:r>
            <a:endParaRPr b="1" sz="1200">
              <a:solidFill>
                <a:schemeClr val="dk1"/>
              </a:solidFill>
              <a:latin typeface="Roboto"/>
              <a:ea typeface="Roboto"/>
              <a:cs typeface="Roboto"/>
              <a:sym typeface="Roboto"/>
            </a:endParaRPr>
          </a:p>
          <a:p>
            <a:pPr indent="-304800" lvl="0" marL="457200" rtl="0" algn="l">
              <a:lnSpc>
                <a:spcPct val="115000"/>
              </a:lnSpc>
              <a:spcBef>
                <a:spcPts val="120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 model classifies pure rain/snow well: 92% snow recall and 89% rain recall on both validation and test (n=2,301 each, 320 mix-labeled obs excluded), with test AUC 0.965 and AP 0.978. </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Beta calibration on the large, bimodal CA dataset pulls raw XGBoost scores toward the diagonal, though miscalibration persists at the p(snow) extremes; Brier scores stay low (~0.07). </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F1 vs. wet-bulb temperature shows snow accuracy is strong in clear-phase regimes but dips sharply near freezing (lowest around ~1.5°C) and again above 4°C, while rain F1 improves monotonically with temperature and generalizes tightly between val and test. </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 abstention rate peaks near 0°C –</a:t>
            </a:r>
            <a:r>
              <a:rPr lang="en" sz="1200">
                <a:solidFill>
                  <a:schemeClr val="dk1"/>
                </a:solidFill>
                <a:latin typeface="Roboto"/>
                <a:ea typeface="Roboto"/>
                <a:cs typeface="Roboto"/>
                <a:sym typeface="Roboto"/>
              </a:rPr>
              <a:t> the</a:t>
            </a:r>
            <a:r>
              <a:rPr lang="en" sz="1200">
                <a:solidFill>
                  <a:schemeClr val="dk1"/>
                </a:solidFill>
                <a:latin typeface="Roboto"/>
                <a:ea typeface="Roboto"/>
                <a:cs typeface="Roboto"/>
                <a:sym typeface="Roboto"/>
              </a:rPr>
              <a:t> model sort of knows where to be uncertain </a:t>
            </a:r>
            <a:r>
              <a:rPr lang="en" sz="1200">
                <a:solidFill>
                  <a:schemeClr val="dk1"/>
                </a:solidFill>
                <a:latin typeface="Roboto"/>
                <a:ea typeface="Roboto"/>
                <a:cs typeface="Roboto"/>
                <a:sym typeface="Roboto"/>
              </a:rPr>
              <a:t>– </a:t>
            </a:r>
            <a:r>
              <a:rPr lang="en" sz="1200">
                <a:solidFill>
                  <a:schemeClr val="dk1"/>
                </a:solidFill>
                <a:latin typeface="Roboto"/>
                <a:ea typeface="Roboto"/>
                <a:cs typeface="Roboto"/>
                <a:sym typeface="Roboto"/>
              </a:rPr>
              <a:t>but the band captures only 29% of true observer-reported mix events. </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SHAP shows the MRoS LOOCV surfaces (p_snow, p_rain), elevation, and IMERG PLP dominate, with elevation especially important inside the |T_wet| ≤ 2°C zone. </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Ablation shows that dropping MRoS LOOCV surfaces costs the most F1 (0.905 → 0.850) after thermo_only (0.817), while individual temperature features are nearly redundant. </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 ECE case study is interesting for CA: a 42-observation cluster of low-elevation (~1570m), near-freezing snow events drive most of the calibration penalty because every gridded signal points to rain while observers report snow →</a:t>
            </a:r>
            <a:r>
              <a:rPr lang="en" sz="1200">
                <a:solidFill>
                  <a:schemeClr val="dk1"/>
                </a:solidFill>
                <a:latin typeface="Roboto"/>
                <a:ea typeface="Roboto"/>
                <a:cs typeface="Roboto"/>
                <a:sym typeface="Roboto"/>
              </a:rPr>
              <a:t> </a:t>
            </a:r>
            <a:r>
              <a:rPr lang="en" sz="1200">
                <a:solidFill>
                  <a:schemeClr val="dk1"/>
                </a:solidFill>
                <a:latin typeface="Roboto"/>
                <a:ea typeface="Roboto"/>
                <a:cs typeface="Roboto"/>
                <a:sym typeface="Roboto"/>
              </a:rPr>
              <a:t> </a:t>
            </a:r>
            <a:r>
              <a:rPr lang="en" sz="1200">
                <a:solidFill>
                  <a:schemeClr val="dk1"/>
                </a:solidFill>
                <a:latin typeface="Roboto"/>
                <a:ea typeface="Roboto"/>
                <a:cs typeface="Roboto"/>
                <a:sym typeface="Roboto"/>
              </a:rPr>
              <a:t>shows that</a:t>
            </a:r>
            <a:r>
              <a:rPr lang="en" sz="1200">
                <a:solidFill>
                  <a:schemeClr val="dk1"/>
                </a:solidFill>
                <a:latin typeface="Roboto"/>
                <a:ea typeface="Roboto"/>
                <a:cs typeface="Roboto"/>
                <a:sym typeface="Roboto"/>
              </a:rPr>
              <a:t> citizen observations carry non-redundant ground truth in the regime where conventional networks under-sample </a:t>
            </a:r>
            <a:endParaRPr sz="1200">
              <a:solidFill>
                <a:schemeClr val="dk1"/>
              </a:solidFill>
              <a:latin typeface="Roboto"/>
              <a:ea typeface="Roboto"/>
              <a:cs typeface="Roboto"/>
              <a:sym typeface="Roboto"/>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1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05" name="Google Shape;805;p103"/>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Results: CO</a:t>
            </a:r>
            <a:endParaRPr/>
          </a:p>
        </p:txBody>
      </p:sp>
      <p:sp>
        <p:nvSpPr>
          <p:cNvPr id="806" name="Google Shape;806;p103"/>
          <p:cNvSpPr txBox="1"/>
          <p:nvPr/>
        </p:nvSpPr>
        <p:spPr>
          <a:xfrm>
            <a:off x="481250" y="1431125"/>
            <a:ext cx="8141400" cy="323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200">
                <a:solidFill>
                  <a:schemeClr val="dk1"/>
                </a:solidFill>
                <a:latin typeface="Roboto"/>
                <a:ea typeface="Roboto"/>
                <a:cs typeface="Roboto"/>
                <a:sym typeface="Roboto"/>
              </a:rPr>
              <a:t>Colorado </a:t>
            </a:r>
            <a:r>
              <a:rPr b="1" lang="en" sz="1200">
                <a:solidFill>
                  <a:schemeClr val="dk1"/>
                </a:solidFill>
                <a:latin typeface="Roboto"/>
                <a:ea typeface="Roboto"/>
                <a:cs typeface="Roboto"/>
                <a:sym typeface="Roboto"/>
              </a:rPr>
              <a:t>(binary model, kriged predictors, isotonic calibration)</a:t>
            </a:r>
            <a:endParaRPr b="1" sz="1200">
              <a:solidFill>
                <a:schemeClr val="dk1"/>
              </a:solidFill>
              <a:latin typeface="Roboto"/>
              <a:ea typeface="Roboto"/>
              <a:cs typeface="Roboto"/>
              <a:sym typeface="Roboto"/>
            </a:endParaRPr>
          </a:p>
          <a:p>
            <a:pPr indent="-304800" lvl="0" marL="457200" rtl="0" algn="l">
              <a:lnSpc>
                <a:spcPct val="115000"/>
              </a:lnSpc>
              <a:spcBef>
                <a:spcPts val="1200"/>
              </a:spcBef>
              <a:spcAft>
                <a:spcPts val="0"/>
              </a:spcAft>
              <a:buClr>
                <a:schemeClr val="dk1"/>
              </a:buClr>
              <a:buSzPts val="1200"/>
              <a:buFont typeface="Roboto"/>
              <a:buChar char="●"/>
            </a:pPr>
            <a:r>
              <a:rPr lang="en" sz="1200">
                <a:solidFill>
                  <a:schemeClr val="dk1"/>
                </a:solidFill>
                <a:latin typeface="Roboto"/>
                <a:ea typeface="Roboto"/>
                <a:cs typeface="Roboto"/>
                <a:sym typeface="Roboto"/>
              </a:rPr>
              <a:t>Snow performance is really good (96% recall), but rain degrades from 81% (val) to 73% (test) on a much smaller sample (n=524, only ~96 rain obs), reflecting CO's snow-dominated, sparser dataset. </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AUC remains high (0.962 test) and isotonic calibration improves Brier (0.064 → 0.052), but the reliability curve is noisy in the mid-range. </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F1 vs. T_wet degrades more gradually and monotonically than CA's, but rain F1 is erratic with notable val/test divergence, and the mix-band diagnostic is incoherent →</a:t>
            </a:r>
            <a:r>
              <a:rPr lang="en" sz="1200">
                <a:solidFill>
                  <a:schemeClr val="dk1"/>
                </a:solidFill>
                <a:latin typeface="Roboto"/>
                <a:ea typeface="Roboto"/>
                <a:cs typeface="Roboto"/>
                <a:sym typeface="Roboto"/>
              </a:rPr>
              <a:t> </a:t>
            </a:r>
            <a:r>
              <a:rPr lang="en" sz="1200">
                <a:solidFill>
                  <a:schemeClr val="dk1"/>
                </a:solidFill>
                <a:latin typeface="Roboto"/>
                <a:ea typeface="Roboto"/>
                <a:cs typeface="Roboto"/>
                <a:sym typeface="Roboto"/>
              </a:rPr>
              <a:t>the model doesn't reliably localize its uncertainty. </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Band capture of true mix is 35%. </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SHAPfor CO differs sharply from CA: mros_p_snow_loocv and imerg_plp dominate, with IMERG importance rising steeply at warmer temperatures </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 CO ablation is </a:t>
            </a:r>
            <a:r>
              <a:rPr lang="en" sz="1200">
                <a:solidFill>
                  <a:schemeClr val="dk1"/>
                </a:solidFill>
                <a:latin typeface="Roboto"/>
                <a:ea typeface="Roboto"/>
                <a:cs typeface="Roboto"/>
                <a:sym typeface="Roboto"/>
              </a:rPr>
              <a:t>interesting</a:t>
            </a:r>
            <a:r>
              <a:rPr lang="en" sz="1200">
                <a:solidFill>
                  <a:schemeClr val="dk1"/>
                </a:solidFill>
                <a:latin typeface="Roboto"/>
                <a:ea typeface="Roboto"/>
                <a:cs typeface="Roboto"/>
                <a:sym typeface="Roboto"/>
              </a:rPr>
              <a:t> in that removing temperature features improves F1 (no_temp_dew is the best configuration at 0.893 vs. 0.860 baseline), suggesting interpolated temperatures inject noise in this sparser network? </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10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12" name="Google Shape;812;p104"/>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Results: CA vs CO</a:t>
            </a:r>
            <a:endParaRPr/>
          </a:p>
        </p:txBody>
      </p:sp>
      <p:sp>
        <p:nvSpPr>
          <p:cNvPr id="813" name="Google Shape;813;p104"/>
          <p:cNvSpPr txBox="1"/>
          <p:nvPr/>
        </p:nvSpPr>
        <p:spPr>
          <a:xfrm>
            <a:off x="481250" y="1431125"/>
            <a:ext cx="8141400" cy="323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chemeClr val="dk1"/>
                </a:solidFill>
                <a:latin typeface="Roboto"/>
                <a:ea typeface="Roboto"/>
                <a:cs typeface="Roboto"/>
                <a:sym typeface="Roboto"/>
              </a:rPr>
              <a:t>Cross-region takeaways</a:t>
            </a:r>
            <a:endParaRPr b="1" sz="11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100">
                <a:solidFill>
                  <a:schemeClr val="dk1"/>
                </a:solidFill>
                <a:latin typeface="Roboto"/>
                <a:ea typeface="Roboto"/>
                <a:cs typeface="Roboto"/>
                <a:sym typeface="Roboto"/>
              </a:rPr>
              <a:t>Assimilated predictors beat thermodynamics-only everywhere, but for complementary reasons:</a:t>
            </a:r>
            <a:endParaRPr sz="1100">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Font typeface="Roboto"/>
              <a:buChar char="●"/>
            </a:pPr>
            <a:r>
              <a:rPr lang="en" sz="1100">
                <a:solidFill>
                  <a:schemeClr val="dk1"/>
                </a:solidFill>
                <a:latin typeface="Roboto"/>
                <a:ea typeface="Roboto"/>
                <a:cs typeface="Roboto"/>
                <a:sym typeface="Roboto"/>
              </a:rPr>
              <a:t>CA: citizen-science surfaces are the load-bearing feature; removing MRoS LOOCV is the most damaging ablation </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CO: satellite IMERG PLP fills the sparse-network gap; removing IMERG PLP is among the most damaging while interpolated temperatures add noise in the sparse network</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a</a:t>
            </a:r>
            <a:r>
              <a:rPr lang="en" sz="1100">
                <a:solidFill>
                  <a:schemeClr val="dk1"/>
                </a:solidFill>
                <a:latin typeface="Roboto"/>
                <a:ea typeface="Roboto"/>
                <a:cs typeface="Roboto"/>
                <a:sym typeface="Roboto"/>
              </a:rPr>
              <a:t> minimal four-feature core nearly matches the full model</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the mix band works as an operational abstention flag (right temperature regime, at least in CA) but not as a mixed-phase detector</a:t>
            </a:r>
            <a:endParaRPr sz="1100">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captures 29% (CA) / 35% (CO) of observer-reported mix, but abstention rate correctly peaks near 0°C in CA </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near-freezing prediction remains hard regardless of feature set</a:t>
            </a:r>
            <a:endParaRPr sz="1100">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surface predictors cannot resolve hydrometeor melting/refreezing, which is governed by the atmospheric column</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Apparent miscalibration is concentrated in a small, physically interpretable cluster where citizen observations contradict all gridded inputs →</a:t>
            </a:r>
            <a:r>
              <a:rPr lang="en" sz="1100">
                <a:solidFill>
                  <a:schemeClr val="dk1"/>
                </a:solidFill>
                <a:latin typeface="Roboto"/>
                <a:ea typeface="Roboto"/>
                <a:cs typeface="Roboto"/>
                <a:sym typeface="Roboto"/>
              </a:rPr>
              <a:t> </a:t>
            </a:r>
            <a:r>
              <a:rPr lang="en" sz="1100">
                <a:solidFill>
                  <a:schemeClr val="dk1"/>
                </a:solidFill>
                <a:latin typeface="Roboto"/>
                <a:ea typeface="Roboto"/>
                <a:cs typeface="Roboto"/>
                <a:sym typeface="Roboto"/>
              </a:rPr>
              <a:t>a feature of the data, not a model failure.  </a:t>
            </a:r>
            <a:endParaRPr sz="1100">
              <a:solidFill>
                <a:schemeClr val="dk1"/>
              </a:solidFill>
              <a:latin typeface="Roboto"/>
              <a:ea typeface="Roboto"/>
              <a:cs typeface="Roboto"/>
              <a:sym typeface="Roboto"/>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10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19" name="Google Shape;819;p105"/>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 Questions</a:t>
            </a:r>
            <a:endParaRPr/>
          </a:p>
        </p:txBody>
      </p:sp>
      <p:sp>
        <p:nvSpPr>
          <p:cNvPr id="820" name="Google Shape;820;p105"/>
          <p:cNvSpPr txBox="1"/>
          <p:nvPr/>
        </p:nvSpPr>
        <p:spPr>
          <a:xfrm>
            <a:off x="501300" y="1133825"/>
            <a:ext cx="8141400" cy="36786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dk1"/>
              </a:buClr>
              <a:buSzPts val="1400"/>
              <a:buFont typeface="Roboto"/>
              <a:buChar char="-"/>
            </a:pPr>
            <a:r>
              <a:rPr i="1" lang="en">
                <a:solidFill>
                  <a:schemeClr val="dk1"/>
                </a:solidFill>
                <a:latin typeface="Roboto"/>
                <a:ea typeface="Roboto"/>
                <a:cs typeface="Roboto"/>
                <a:sym typeface="Roboto"/>
              </a:rPr>
              <a:t>Why is wet bulb not dominant in SHAP?</a:t>
            </a:r>
            <a:endParaRPr>
              <a:solidFill>
                <a:schemeClr val="dk1"/>
              </a:solidFill>
              <a:latin typeface="Roboto"/>
              <a:ea typeface="Roboto"/>
              <a:cs typeface="Roboto"/>
              <a:sym typeface="Roboto"/>
            </a:endParaRPr>
          </a:p>
          <a:p>
            <a:pPr indent="-311150" lvl="1" marL="914400" rtl="0" algn="l">
              <a:lnSpc>
                <a:spcPct val="100000"/>
              </a:lnSpc>
              <a:spcBef>
                <a:spcPts val="0"/>
              </a:spcBef>
              <a:spcAft>
                <a:spcPts val="0"/>
              </a:spcAft>
              <a:buClr>
                <a:srgbClr val="595959"/>
              </a:buClr>
              <a:buSzPts val="1300"/>
              <a:buFont typeface="Roboto"/>
              <a:buChar char="-"/>
            </a:pPr>
            <a:r>
              <a:rPr lang="en" sz="1300">
                <a:solidFill>
                  <a:srgbClr val="595959"/>
                </a:solidFill>
                <a:latin typeface="Roboto"/>
                <a:ea typeface="Roboto"/>
                <a:cs typeface="Roboto"/>
                <a:sym typeface="Roboto"/>
              </a:rPr>
              <a:t>the LOOCV surfaces already encode the thermodynamic signal spatially (they're built from phase observations that reflect local T_wet), so SHAP credit migrates to the richer composite feature</a:t>
            </a:r>
            <a:endParaRPr sz="1300">
              <a:solidFill>
                <a:srgbClr val="595959"/>
              </a:solidFill>
              <a:latin typeface="Roboto"/>
              <a:ea typeface="Roboto"/>
              <a:cs typeface="Roboto"/>
              <a:sym typeface="Roboto"/>
            </a:endParaRPr>
          </a:p>
          <a:p>
            <a:pPr indent="-311150" lvl="1" marL="914400" rtl="0" algn="l">
              <a:lnSpc>
                <a:spcPct val="100000"/>
              </a:lnSpc>
              <a:spcBef>
                <a:spcPts val="0"/>
              </a:spcBef>
              <a:spcAft>
                <a:spcPts val="0"/>
              </a:spcAft>
              <a:buClr>
                <a:srgbClr val="595959"/>
              </a:buClr>
              <a:buSzPts val="1300"/>
              <a:buFont typeface="Roboto"/>
              <a:buChar char="-"/>
            </a:pPr>
            <a:r>
              <a:rPr lang="en" sz="1300">
                <a:solidFill>
                  <a:srgbClr val="595959"/>
                </a:solidFill>
                <a:latin typeface="Roboto"/>
                <a:ea typeface="Roboto"/>
                <a:cs typeface="Roboto"/>
                <a:sym typeface="Roboto"/>
              </a:rPr>
              <a:t>this is </a:t>
            </a:r>
            <a:r>
              <a:rPr lang="en" sz="1300">
                <a:solidFill>
                  <a:srgbClr val="595959"/>
                </a:solidFill>
                <a:latin typeface="Roboto"/>
                <a:ea typeface="Roboto"/>
                <a:cs typeface="Roboto"/>
                <a:sym typeface="Roboto"/>
              </a:rPr>
              <a:t>correlated-feature credit-splitting</a:t>
            </a:r>
            <a:r>
              <a:rPr lang="en" sz="1300">
                <a:solidFill>
                  <a:srgbClr val="595959"/>
                </a:solidFill>
                <a:latin typeface="Roboto"/>
                <a:ea typeface="Roboto"/>
                <a:cs typeface="Roboto"/>
                <a:sym typeface="Roboto"/>
              </a:rPr>
              <a:t>, not evidence that T_wet is physically unimportant (also see slide </a:t>
            </a:r>
            <a:endParaRPr sz="1300">
              <a:solidFill>
                <a:srgbClr val="595959"/>
              </a:solidFill>
              <a:latin typeface="Roboto"/>
              <a:ea typeface="Roboto"/>
              <a:cs typeface="Roboto"/>
              <a:sym typeface="Roboto"/>
            </a:endParaRPr>
          </a:p>
          <a:p>
            <a:pPr indent="-317500" lvl="0" marL="457200" rtl="0" algn="l">
              <a:lnSpc>
                <a:spcPct val="100000"/>
              </a:lnSpc>
              <a:spcBef>
                <a:spcPts val="1000"/>
              </a:spcBef>
              <a:spcAft>
                <a:spcPts val="0"/>
              </a:spcAft>
              <a:buClr>
                <a:schemeClr val="dk1"/>
              </a:buClr>
              <a:buSzPts val="1400"/>
              <a:buFont typeface="Roboto"/>
              <a:buChar char="-"/>
            </a:pPr>
            <a:r>
              <a:rPr i="1" lang="en">
                <a:solidFill>
                  <a:schemeClr val="dk1"/>
                </a:solidFill>
                <a:latin typeface="Roboto"/>
                <a:ea typeface="Roboto"/>
                <a:cs typeface="Roboto"/>
                <a:sym typeface="Roboto"/>
              </a:rPr>
              <a:t>Why does CA exhibit a non-monotonic F1 collapse (dip at ~1.5°C, again &gt;4°C) while CO degrades smoothly?</a:t>
            </a:r>
            <a:r>
              <a:rPr lang="en">
                <a:solidFill>
                  <a:schemeClr val="dk1"/>
                </a:solidFill>
                <a:latin typeface="Roboto"/>
                <a:ea typeface="Roboto"/>
                <a:cs typeface="Roboto"/>
                <a:sym typeface="Roboto"/>
              </a:rPr>
              <a:t> </a:t>
            </a:r>
            <a:endParaRPr>
              <a:solidFill>
                <a:schemeClr val="dk1"/>
              </a:solidFill>
              <a:latin typeface="Roboto"/>
              <a:ea typeface="Roboto"/>
              <a:cs typeface="Roboto"/>
              <a:sym typeface="Roboto"/>
            </a:endParaRPr>
          </a:p>
          <a:p>
            <a:pPr indent="-311150" lvl="1" marL="914400" rtl="0" algn="l">
              <a:lnSpc>
                <a:spcPct val="100000"/>
              </a:lnSpc>
              <a:spcBef>
                <a:spcPts val="0"/>
              </a:spcBef>
              <a:spcAft>
                <a:spcPts val="0"/>
              </a:spcAft>
              <a:buClr>
                <a:srgbClr val="595959"/>
              </a:buClr>
              <a:buSzPts val="1300"/>
              <a:buFont typeface="Roboto"/>
              <a:buChar char="-"/>
            </a:pPr>
            <a:r>
              <a:rPr lang="en" sz="1300">
                <a:solidFill>
                  <a:srgbClr val="595959"/>
                </a:solidFill>
                <a:latin typeface="Roboto"/>
                <a:ea typeface="Roboto"/>
                <a:cs typeface="Roboto"/>
                <a:sym typeface="Roboto"/>
              </a:rPr>
              <a:t>See slide 16's observation: CA's wider temperature-elevation variety, atmospheric rivers, and bimodal elevation distribution create multiple distinct freezing regimes; CO's continental snow climate has one.</a:t>
            </a:r>
            <a:endParaRPr sz="1300">
              <a:solidFill>
                <a:srgbClr val="595959"/>
              </a:solidFill>
              <a:latin typeface="Roboto"/>
              <a:ea typeface="Roboto"/>
              <a:cs typeface="Roboto"/>
              <a:sym typeface="Roboto"/>
            </a:endParaRPr>
          </a:p>
          <a:p>
            <a:pPr indent="-317500" lvl="0" marL="457200" rtl="0" algn="l">
              <a:lnSpc>
                <a:spcPct val="100000"/>
              </a:lnSpc>
              <a:spcBef>
                <a:spcPts val="1000"/>
              </a:spcBef>
              <a:spcAft>
                <a:spcPts val="0"/>
              </a:spcAft>
              <a:buClr>
                <a:schemeClr val="dk1"/>
              </a:buClr>
              <a:buSzPts val="1400"/>
              <a:buFont typeface="Roboto"/>
              <a:buChar char="-"/>
            </a:pPr>
            <a:r>
              <a:rPr i="1" lang="en">
                <a:solidFill>
                  <a:schemeClr val="dk1"/>
                </a:solidFill>
                <a:latin typeface="Roboto"/>
                <a:ea typeface="Roboto"/>
                <a:cs typeface="Roboto"/>
                <a:sym typeface="Roboto"/>
              </a:rPr>
              <a:t>Is mix a detectable class at all, or is observer-reported "mix" itself irreducibly noisy?</a:t>
            </a:r>
            <a:r>
              <a:rPr lang="en">
                <a:solidFill>
                  <a:schemeClr val="dk1"/>
                </a:solidFill>
                <a:latin typeface="Roboto"/>
                <a:ea typeface="Roboto"/>
                <a:cs typeface="Roboto"/>
                <a:sym typeface="Roboto"/>
              </a:rPr>
              <a:t> </a:t>
            </a:r>
            <a:endParaRPr>
              <a:solidFill>
                <a:schemeClr val="dk1"/>
              </a:solidFill>
              <a:latin typeface="Roboto"/>
              <a:ea typeface="Roboto"/>
              <a:cs typeface="Roboto"/>
              <a:sym typeface="Roboto"/>
            </a:endParaRPr>
          </a:p>
          <a:p>
            <a:pPr indent="-311150" lvl="1" marL="914400" rtl="0" algn="l">
              <a:lnSpc>
                <a:spcPct val="100000"/>
              </a:lnSpc>
              <a:spcBef>
                <a:spcPts val="0"/>
              </a:spcBef>
              <a:spcAft>
                <a:spcPts val="0"/>
              </a:spcAft>
              <a:buClr>
                <a:srgbClr val="595959"/>
              </a:buClr>
              <a:buSzPts val="1300"/>
              <a:buFont typeface="Roboto"/>
              <a:buChar char="-"/>
            </a:pPr>
            <a:r>
              <a:rPr lang="en" sz="1300">
                <a:solidFill>
                  <a:srgbClr val="595959"/>
                </a:solidFill>
                <a:latin typeface="Roboto"/>
                <a:ea typeface="Roboto"/>
                <a:cs typeface="Roboto"/>
                <a:sym typeface="Roboto"/>
              </a:rPr>
              <a:t>Evidence for both readings (band lands in the right regime; capture is &lt;35%). </a:t>
            </a:r>
            <a:endParaRPr sz="1300">
              <a:solidFill>
                <a:srgbClr val="595959"/>
              </a:solidFill>
              <a:latin typeface="Roboto"/>
              <a:ea typeface="Roboto"/>
              <a:cs typeface="Roboto"/>
              <a:sym typeface="Roboto"/>
            </a:endParaRPr>
          </a:p>
          <a:p>
            <a:pPr indent="-317500" lvl="0" marL="457200" rtl="0" algn="l">
              <a:lnSpc>
                <a:spcPct val="100000"/>
              </a:lnSpc>
              <a:spcBef>
                <a:spcPts val="1000"/>
              </a:spcBef>
              <a:spcAft>
                <a:spcPts val="0"/>
              </a:spcAft>
              <a:buClr>
                <a:schemeClr val="dk1"/>
              </a:buClr>
              <a:buSzPts val="1400"/>
              <a:buFont typeface="Roboto"/>
              <a:buChar char="-"/>
            </a:pPr>
            <a:r>
              <a:rPr i="1" lang="en">
                <a:solidFill>
                  <a:schemeClr val="dk1"/>
                </a:solidFill>
                <a:latin typeface="Roboto"/>
                <a:ea typeface="Roboto"/>
                <a:cs typeface="Roboto"/>
                <a:sym typeface="Roboto"/>
              </a:rPr>
              <a:t>When the model and a citizen observer disagree at p≈0, who's right?</a:t>
            </a:r>
            <a:r>
              <a:rPr lang="en">
                <a:solidFill>
                  <a:schemeClr val="dk1"/>
                </a:solidFill>
                <a:latin typeface="Roboto"/>
                <a:ea typeface="Roboto"/>
                <a:cs typeface="Roboto"/>
                <a:sym typeface="Roboto"/>
              </a:rPr>
              <a:t> </a:t>
            </a:r>
            <a:endParaRPr>
              <a:solidFill>
                <a:schemeClr val="dk1"/>
              </a:solidFill>
              <a:latin typeface="Roboto"/>
              <a:ea typeface="Roboto"/>
              <a:cs typeface="Roboto"/>
              <a:sym typeface="Roboto"/>
            </a:endParaRPr>
          </a:p>
          <a:p>
            <a:pPr indent="-311150" lvl="1" marL="914400" rtl="0" algn="l">
              <a:lnSpc>
                <a:spcPct val="100000"/>
              </a:lnSpc>
              <a:spcBef>
                <a:spcPts val="0"/>
              </a:spcBef>
              <a:spcAft>
                <a:spcPts val="0"/>
              </a:spcAft>
              <a:buClr>
                <a:srgbClr val="595959"/>
              </a:buClr>
              <a:buSzPts val="1300"/>
              <a:buFont typeface="Roboto"/>
              <a:buChar char="-"/>
            </a:pPr>
            <a:r>
              <a:rPr lang="en" sz="1300">
                <a:solidFill>
                  <a:srgbClr val="595959"/>
                </a:solidFill>
                <a:latin typeface="Roboto"/>
                <a:ea typeface="Roboto"/>
                <a:cs typeface="Roboto"/>
                <a:sym typeface="Roboto"/>
              </a:rPr>
              <a:t>ECE case study suggests the observer is correct ~75% of the time. </a:t>
            </a:r>
            <a:endParaRPr sz="1300">
              <a:solidFill>
                <a:srgbClr val="595959"/>
              </a:solidFill>
              <a:latin typeface="Roboto"/>
              <a:ea typeface="Roboto"/>
              <a:cs typeface="Roboto"/>
              <a:sym typeface="Roboto"/>
            </a:endParaRPr>
          </a:p>
          <a:p>
            <a:pPr indent="-311150" lvl="1" marL="914400" rtl="0" algn="l">
              <a:lnSpc>
                <a:spcPct val="100000"/>
              </a:lnSpc>
              <a:spcBef>
                <a:spcPts val="0"/>
              </a:spcBef>
              <a:spcAft>
                <a:spcPts val="0"/>
              </a:spcAft>
              <a:buClr>
                <a:schemeClr val="dk1"/>
              </a:buClr>
              <a:buSzPts val="1300"/>
              <a:buFont typeface="Roboto"/>
              <a:buChar char="-"/>
            </a:pPr>
            <a:r>
              <a:rPr i="1" lang="en" sz="1300">
                <a:solidFill>
                  <a:schemeClr val="dk1"/>
                </a:solidFill>
                <a:latin typeface="Roboto"/>
                <a:ea typeface="Roboto"/>
                <a:cs typeface="Roboto"/>
                <a:sym typeface="Roboto"/>
              </a:rPr>
              <a:t>What does that imply for using these models to QC crowdsourced data →</a:t>
            </a:r>
            <a:r>
              <a:rPr i="1" lang="en" sz="1300">
                <a:solidFill>
                  <a:schemeClr val="dk1"/>
                </a:solidFill>
                <a:latin typeface="Roboto"/>
                <a:ea typeface="Roboto"/>
                <a:cs typeface="Roboto"/>
                <a:sym typeface="Roboto"/>
              </a:rPr>
              <a:t> </a:t>
            </a:r>
            <a:r>
              <a:rPr i="1" lang="en" sz="1300">
                <a:solidFill>
                  <a:schemeClr val="dk1"/>
                </a:solidFill>
                <a:latin typeface="Roboto"/>
                <a:ea typeface="Roboto"/>
                <a:cs typeface="Roboto"/>
                <a:sym typeface="Roboto"/>
              </a:rPr>
              <a:t>or vice versa?</a:t>
            </a:r>
            <a:endParaRPr i="1" sz="13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t/>
            </a:r>
            <a:endParaRPr sz="1300">
              <a:solidFill>
                <a:schemeClr val="dk1"/>
              </a:solidFill>
              <a:latin typeface="Roboto"/>
              <a:ea typeface="Roboto"/>
              <a:cs typeface="Roboto"/>
              <a:sym typeface="Roboto"/>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1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26" name="Google Shape;826;p106"/>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 on ablation study</a:t>
            </a:r>
            <a:endParaRPr/>
          </a:p>
        </p:txBody>
      </p:sp>
      <p:sp>
        <p:nvSpPr>
          <p:cNvPr id="827" name="Google Shape;827;p106"/>
          <p:cNvSpPr txBox="1"/>
          <p:nvPr/>
        </p:nvSpPr>
        <p:spPr>
          <a:xfrm>
            <a:off x="481250" y="1431125"/>
            <a:ext cx="4090800" cy="305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chemeClr val="dk1"/>
                </a:solidFill>
                <a:latin typeface="Roboto"/>
                <a:ea typeface="Roboto"/>
                <a:cs typeface="Roboto"/>
                <a:sym typeface="Roboto"/>
              </a:rPr>
              <a:t>For CA</a:t>
            </a:r>
            <a:endParaRPr b="1" sz="1100">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Font typeface="Roboto"/>
              <a:buChar char="●"/>
            </a:pPr>
            <a:r>
              <a:rPr lang="en" sz="1100">
                <a:solidFill>
                  <a:schemeClr val="dk1"/>
                </a:solidFill>
                <a:latin typeface="Roboto"/>
                <a:ea typeface="Roboto"/>
                <a:cs typeface="Roboto"/>
                <a:sym typeface="Roboto"/>
              </a:rPr>
              <a:t>The model's overconfidence seems a consequence of its rich feature set</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The climatological priors (mros_loocv) are essential for accuracy but also drive the ECE penalty</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Tradeoff: can have good F1 or better calibration but not both with the current architecture</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The mix capture problem is structural and feature-independent</a:t>
            </a:r>
            <a:endParaRPr sz="1600">
              <a:solidFill>
                <a:schemeClr val="dk1"/>
              </a:solidFill>
              <a:latin typeface="Roboto"/>
              <a:ea typeface="Roboto"/>
              <a:cs typeface="Roboto"/>
              <a:sym typeface="Roboto"/>
            </a:endParaRPr>
          </a:p>
        </p:txBody>
      </p:sp>
      <p:sp>
        <p:nvSpPr>
          <p:cNvPr id="828" name="Google Shape;828;p106"/>
          <p:cNvSpPr txBox="1"/>
          <p:nvPr/>
        </p:nvSpPr>
        <p:spPr>
          <a:xfrm>
            <a:off x="4712300" y="1431119"/>
            <a:ext cx="4090800" cy="305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chemeClr val="dk1"/>
                </a:solidFill>
                <a:latin typeface="Roboto"/>
                <a:ea typeface="Roboto"/>
                <a:cs typeface="Roboto"/>
                <a:sym typeface="Roboto"/>
              </a:rPr>
              <a:t>For CO</a:t>
            </a:r>
            <a:endParaRPr b="1" sz="1100">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Font typeface="Roboto"/>
              <a:buChar char="●"/>
            </a:pPr>
            <a:r>
              <a:rPr lang="en" sz="1100">
                <a:solidFill>
                  <a:schemeClr val="dk1"/>
                </a:solidFill>
                <a:latin typeface="Roboto"/>
                <a:ea typeface="Roboto"/>
                <a:cs typeface="Roboto"/>
                <a:sym typeface="Roboto"/>
              </a:rPr>
              <a:t>Temperature features (esp. temp_dew) are hurting more than helping →</a:t>
            </a:r>
            <a:r>
              <a:rPr lang="en" sz="1100">
                <a:solidFill>
                  <a:schemeClr val="dk1"/>
                </a:solidFill>
                <a:latin typeface="Roboto"/>
                <a:ea typeface="Roboto"/>
                <a:cs typeface="Roboto"/>
                <a:sym typeface="Roboto"/>
              </a:rPr>
              <a:t> </a:t>
            </a:r>
            <a:r>
              <a:rPr lang="en" sz="1100">
                <a:solidFill>
                  <a:schemeClr val="dk1"/>
                </a:solidFill>
                <a:latin typeface="Roboto"/>
                <a:ea typeface="Roboto"/>
                <a:cs typeface="Roboto"/>
                <a:sym typeface="Roboto"/>
              </a:rPr>
              <a:t>removing them improves F1</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imerg_plp is load-bearing but creates over-reliance on a single proxy for rain</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The min_core_wplp configuration suggests a leaner feature set with precipit</a:t>
            </a:r>
            <a:r>
              <a:rPr lang="en" sz="1100">
                <a:solidFill>
                  <a:schemeClr val="dk1"/>
                </a:solidFill>
                <a:latin typeface="Roboto"/>
                <a:ea typeface="Roboto"/>
                <a:cs typeface="Roboto"/>
                <a:sym typeface="Roboto"/>
              </a:rPr>
              <a:t>a</a:t>
            </a:r>
            <a:r>
              <a:rPr lang="en" sz="1100">
                <a:solidFill>
                  <a:schemeClr val="dk1"/>
                </a:solidFill>
                <a:latin typeface="Roboto"/>
                <a:ea typeface="Roboto"/>
                <a:cs typeface="Roboto"/>
                <a:sym typeface="Roboto"/>
              </a:rPr>
              <a:t>tion and snow climatology is a competitive alternative</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Unlike CA, there are meaningful differences in mix capture across ablations... is the problem partially tractable with feature engineering?</a:t>
            </a:r>
            <a:endParaRPr sz="1600">
              <a:solidFill>
                <a:schemeClr val="dk1"/>
              </a:solidFill>
              <a:latin typeface="Roboto"/>
              <a:ea typeface="Roboto"/>
              <a:cs typeface="Roboto"/>
              <a:sym typeface="Roboto"/>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07"/>
          <p:cNvSpPr txBox="1"/>
          <p:nvPr>
            <p:ph type="title"/>
          </p:nvPr>
        </p:nvSpPr>
        <p:spPr>
          <a:xfrm>
            <a:off x="311700" y="193250"/>
            <a:ext cx="7866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Questions</a:t>
            </a:r>
            <a:endParaRPr/>
          </a:p>
        </p:txBody>
      </p:sp>
      <p:sp>
        <p:nvSpPr>
          <p:cNvPr id="834" name="Google Shape;834;p107"/>
          <p:cNvSpPr txBox="1"/>
          <p:nvPr>
            <p:ph idx="1" type="body"/>
          </p:nvPr>
        </p:nvSpPr>
        <p:spPr>
          <a:xfrm>
            <a:off x="118998" y="1025842"/>
            <a:ext cx="8520600" cy="37518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Do additional predictor data assimilation techniques improve rain/snow predictive accuracy?</a:t>
            </a:r>
            <a:endParaRPr sz="1600"/>
          </a:p>
          <a:p>
            <a:pPr indent="-292100" lvl="1" marL="914400" rtl="0" algn="l">
              <a:spcBef>
                <a:spcPts val="0"/>
              </a:spcBef>
              <a:spcAft>
                <a:spcPts val="0"/>
              </a:spcAft>
              <a:buClr>
                <a:schemeClr val="dk2"/>
              </a:buClr>
              <a:buSzPts val="1000"/>
              <a:buChar char="○"/>
            </a:pPr>
            <a:r>
              <a:rPr lang="en" sz="1300">
                <a:solidFill>
                  <a:schemeClr val="dk2"/>
                </a:solidFill>
              </a:rPr>
              <a:t>Yes, extremely high AUC close to 1</a:t>
            </a:r>
            <a:endParaRPr sz="1300">
              <a:solidFill>
                <a:schemeClr val="dk2"/>
              </a:solidFill>
            </a:endParaRPr>
          </a:p>
          <a:p>
            <a:pPr indent="-311150" lvl="1" marL="914400" rtl="0" algn="l">
              <a:spcBef>
                <a:spcPts val="0"/>
              </a:spcBef>
              <a:spcAft>
                <a:spcPts val="0"/>
              </a:spcAft>
              <a:buClr>
                <a:schemeClr val="dk2"/>
              </a:buClr>
              <a:buSzPts val="1300"/>
              <a:buChar char="○"/>
            </a:pPr>
            <a:r>
              <a:rPr lang="en" sz="1300">
                <a:solidFill>
                  <a:schemeClr val="dk2"/>
                </a:solidFill>
              </a:rPr>
              <a:t>k</a:t>
            </a:r>
            <a:r>
              <a:rPr lang="en" sz="1300">
                <a:solidFill>
                  <a:schemeClr val="dk2"/>
                </a:solidFill>
              </a:rPr>
              <a:t>riging &gt; IDW</a:t>
            </a:r>
            <a:endParaRPr sz="1300">
              <a:solidFill>
                <a:schemeClr val="dk2"/>
              </a:solidFill>
            </a:endParaRPr>
          </a:p>
          <a:p>
            <a:pPr indent="-311150" lvl="1" marL="914400" rtl="0" algn="l">
              <a:spcBef>
                <a:spcPts val="0"/>
              </a:spcBef>
              <a:spcAft>
                <a:spcPts val="0"/>
              </a:spcAft>
              <a:buClr>
                <a:schemeClr val="dk2"/>
              </a:buClr>
              <a:buSzPts val="1300"/>
              <a:buChar char="○"/>
            </a:pPr>
            <a:r>
              <a:rPr lang="en" sz="1300">
                <a:solidFill>
                  <a:schemeClr val="dk2"/>
                </a:solidFill>
              </a:rPr>
              <a:t>SHAP illustrates importance from interpolated snow and rain MRoS LOOCV surfaces</a:t>
            </a:r>
            <a:endParaRPr sz="1300">
              <a:solidFill>
                <a:schemeClr val="dk2"/>
              </a:solidFill>
            </a:endParaRPr>
          </a:p>
          <a:p>
            <a:pPr indent="0" lvl="0" marL="0" rtl="0" algn="l">
              <a:spcBef>
                <a:spcPts val="1200"/>
              </a:spcBef>
              <a:spcAft>
                <a:spcPts val="1200"/>
              </a:spcAft>
              <a:buNone/>
            </a:pPr>
            <a:r>
              <a:t/>
            </a:r>
            <a:endParaRPr sz="1600"/>
          </a:p>
        </p:txBody>
      </p:sp>
      <p:sp>
        <p:nvSpPr>
          <p:cNvPr id="835" name="Google Shape;835;p10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36" name="Google Shape;836;p107"/>
          <p:cNvSpPr txBox="1"/>
          <p:nvPr/>
        </p:nvSpPr>
        <p:spPr>
          <a:xfrm>
            <a:off x="118998" y="2314124"/>
            <a:ext cx="8832300" cy="11814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000"/>
              </a:spcBef>
              <a:spcAft>
                <a:spcPts val="0"/>
              </a:spcAft>
              <a:buClr>
                <a:schemeClr val="dk1"/>
              </a:buClr>
              <a:buSzPts val="1600"/>
              <a:buFont typeface="Roboto"/>
              <a:buChar char="●"/>
            </a:pPr>
            <a:r>
              <a:rPr lang="en" sz="1600">
                <a:solidFill>
                  <a:schemeClr val="dk1"/>
                </a:solidFill>
                <a:latin typeface="Roboto"/>
                <a:ea typeface="Roboto"/>
                <a:cs typeface="Roboto"/>
                <a:sym typeface="Roboto"/>
              </a:rPr>
              <a:t>Since “mixed” phase is often excluded from predictive analyses, how can we better represent “mixed” precipitation predictions?</a:t>
            </a:r>
            <a:endParaRPr sz="1600">
              <a:solidFill>
                <a:schemeClr val="dk1"/>
              </a:solidFill>
              <a:latin typeface="Roboto"/>
              <a:ea typeface="Roboto"/>
              <a:cs typeface="Roboto"/>
              <a:sym typeface="Roboto"/>
            </a:endParaRPr>
          </a:p>
          <a:p>
            <a:pPr indent="-304800" lvl="1" marL="914400" rtl="0" algn="l">
              <a:lnSpc>
                <a:spcPct val="115000"/>
              </a:lnSpc>
              <a:spcBef>
                <a:spcPts val="0"/>
              </a:spcBef>
              <a:spcAft>
                <a:spcPts val="0"/>
              </a:spcAft>
              <a:buClr>
                <a:schemeClr val="dk2"/>
              </a:buClr>
              <a:buSzPts val="1200"/>
              <a:buFont typeface="Roboto"/>
              <a:buChar char="○"/>
            </a:pPr>
            <a:r>
              <a:rPr lang="en" sz="1300">
                <a:solidFill>
                  <a:schemeClr val="dk2"/>
                </a:solidFill>
                <a:latin typeface="Roboto"/>
                <a:ea typeface="Roboto"/>
                <a:cs typeface="Roboto"/>
                <a:sym typeface="Roboto"/>
              </a:rPr>
              <a:t>We explored optimizing an uncertainty zone based on wet bulb temperature to flag likelihood of mixed phase</a:t>
            </a:r>
            <a:endParaRPr sz="1300">
              <a:solidFill>
                <a:schemeClr val="dk2"/>
              </a:solidFill>
              <a:latin typeface="Roboto"/>
              <a:ea typeface="Roboto"/>
              <a:cs typeface="Roboto"/>
              <a:sym typeface="Roboto"/>
            </a:endParaRPr>
          </a:p>
        </p:txBody>
      </p:sp>
      <p:sp>
        <p:nvSpPr>
          <p:cNvPr id="837" name="Google Shape;837;p107"/>
          <p:cNvSpPr txBox="1"/>
          <p:nvPr/>
        </p:nvSpPr>
        <p:spPr>
          <a:xfrm>
            <a:off x="118998" y="3339407"/>
            <a:ext cx="8832300" cy="15885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000"/>
              </a:spcBef>
              <a:spcAft>
                <a:spcPts val="0"/>
              </a:spcAft>
              <a:buSzPts val="1600"/>
              <a:buFont typeface="Roboto"/>
              <a:buChar char="●"/>
            </a:pPr>
            <a:r>
              <a:rPr lang="en" sz="1600">
                <a:latin typeface="Roboto"/>
                <a:ea typeface="Roboto"/>
                <a:cs typeface="Roboto"/>
                <a:sym typeface="Roboto"/>
              </a:rPr>
              <a:t>Do these explored elements improve prediction near freezing?</a:t>
            </a:r>
            <a:endParaRPr sz="1600">
              <a:latin typeface="Roboto"/>
              <a:ea typeface="Roboto"/>
              <a:cs typeface="Roboto"/>
              <a:sym typeface="Roboto"/>
            </a:endParaRPr>
          </a:p>
          <a:p>
            <a:pPr indent="-311150" lvl="1" marL="914400" rtl="0" algn="l">
              <a:lnSpc>
                <a:spcPct val="115000"/>
              </a:lnSpc>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Partially. AUROC and F1 in the |T_wet| ≤ 2°C zone improve over thermo-only (near-freeze ROC AUC ~0.92 vs ~0.80), and the abstention mechanism correctly concentrates there →</a:t>
            </a:r>
            <a:r>
              <a:rPr lang="en" sz="1300">
                <a:solidFill>
                  <a:schemeClr val="dk2"/>
                </a:solidFill>
                <a:latin typeface="Roboto"/>
                <a:ea typeface="Roboto"/>
                <a:cs typeface="Roboto"/>
                <a:sym typeface="Roboto"/>
              </a:rPr>
              <a:t> </a:t>
            </a:r>
            <a:r>
              <a:rPr lang="en" sz="1300">
                <a:solidFill>
                  <a:schemeClr val="dk2"/>
                </a:solidFill>
                <a:latin typeface="Roboto"/>
                <a:ea typeface="Roboto"/>
                <a:cs typeface="Roboto"/>
                <a:sym typeface="Roboto"/>
              </a:rPr>
              <a:t>but absolute performance near freezing remains the weakest regime, and band capture of true mix stays below 35%</a:t>
            </a:r>
            <a:endParaRPr sz="1300">
              <a:solidFill>
                <a:schemeClr val="dk2"/>
              </a:solidFill>
              <a:latin typeface="Roboto"/>
              <a:ea typeface="Roboto"/>
              <a:cs typeface="Roboto"/>
              <a:sym typeface="Roboto"/>
            </a:endParaRPr>
          </a:p>
          <a:p>
            <a:pPr indent="-311150" lvl="1" marL="914400" rtl="0" algn="l">
              <a:lnSpc>
                <a:spcPct val="115000"/>
              </a:lnSpc>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Predictors beyond surface conditions might better capture this region of ambiguity… i.e., atmospheric column conditions</a:t>
            </a:r>
            <a:endParaRPr sz="1300">
              <a:solidFill>
                <a:schemeClr val="dk2"/>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0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43" name="Google Shape;843;p108"/>
          <p:cNvSpPr txBox="1"/>
          <p:nvPr>
            <p:ph type="title"/>
          </p:nvPr>
        </p:nvSpPr>
        <p:spPr>
          <a:xfrm>
            <a:off x="311700" y="193250"/>
            <a:ext cx="787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steps</a:t>
            </a:r>
            <a:endParaRPr/>
          </a:p>
        </p:txBody>
      </p:sp>
      <p:sp>
        <p:nvSpPr>
          <p:cNvPr id="844" name="Google Shape;844;p108"/>
          <p:cNvSpPr txBox="1"/>
          <p:nvPr/>
        </p:nvSpPr>
        <p:spPr>
          <a:xfrm>
            <a:off x="343500" y="1199863"/>
            <a:ext cx="8457000" cy="3319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Font typeface="Roboto"/>
              <a:buChar char="-"/>
            </a:pPr>
            <a:r>
              <a:rPr lang="en" sz="1800" strike="sngStrike">
                <a:solidFill>
                  <a:schemeClr val="dk1"/>
                </a:solidFill>
                <a:latin typeface="Roboto"/>
                <a:ea typeface="Roboto"/>
                <a:cs typeface="Roboto"/>
                <a:sym typeface="Roboto"/>
              </a:rPr>
              <a:t>Expand ROI and time period</a:t>
            </a:r>
            <a:endParaRPr sz="1800" strike="sngStrike">
              <a:solidFill>
                <a:schemeClr val="dk1"/>
              </a:solidFill>
              <a:highlight>
                <a:schemeClr val="accent6"/>
              </a:highlight>
              <a:latin typeface="Roboto"/>
              <a:ea typeface="Roboto"/>
              <a:cs typeface="Roboto"/>
              <a:sym typeface="Roboto"/>
            </a:endParaRPr>
          </a:p>
          <a:p>
            <a:pPr indent="-342900" lvl="0" marL="457200" rtl="0" algn="l">
              <a:lnSpc>
                <a:spcPct val="115000"/>
              </a:lnSpc>
              <a:spcBef>
                <a:spcPts val="1000"/>
              </a:spcBef>
              <a:spcAft>
                <a:spcPts val="0"/>
              </a:spcAft>
              <a:buClr>
                <a:schemeClr val="dk1"/>
              </a:buClr>
              <a:buSzPts val="1800"/>
              <a:buFont typeface="Roboto"/>
              <a:buChar char="-"/>
            </a:pPr>
            <a:r>
              <a:rPr lang="en" sz="1800" strike="sngStrike">
                <a:solidFill>
                  <a:schemeClr val="dk1"/>
                </a:solidFill>
                <a:latin typeface="Roboto"/>
                <a:ea typeface="Roboto"/>
                <a:cs typeface="Roboto"/>
                <a:sym typeface="Roboto"/>
              </a:rPr>
              <a:t>Ablation study</a:t>
            </a:r>
            <a:endParaRPr sz="1800" strike="sngStrike">
              <a:solidFill>
                <a:schemeClr val="dk1"/>
              </a:solidFill>
              <a:latin typeface="Roboto"/>
              <a:ea typeface="Roboto"/>
              <a:cs typeface="Roboto"/>
              <a:sym typeface="Roboto"/>
            </a:endParaRPr>
          </a:p>
          <a:p>
            <a:pPr indent="-342900" lvl="0" marL="457200" rtl="0" algn="l">
              <a:lnSpc>
                <a:spcPct val="115000"/>
              </a:lnSpc>
              <a:spcBef>
                <a:spcPts val="1000"/>
              </a:spcBef>
              <a:spcAft>
                <a:spcPts val="0"/>
              </a:spcAft>
              <a:buClr>
                <a:schemeClr val="dk1"/>
              </a:buClr>
              <a:buSzPts val="1800"/>
              <a:buFont typeface="Roboto"/>
              <a:buChar char="-"/>
            </a:pPr>
            <a:r>
              <a:rPr lang="en" sz="1800">
                <a:solidFill>
                  <a:schemeClr val="dk1"/>
                </a:solidFill>
                <a:latin typeface="Roboto"/>
                <a:ea typeface="Roboto"/>
                <a:cs typeface="Roboto"/>
                <a:sym typeface="Roboto"/>
              </a:rPr>
              <a:t>Conference submission (MtnClim 2026 – </a:t>
            </a:r>
            <a:r>
              <a:rPr lang="en" sz="1800">
                <a:solidFill>
                  <a:srgbClr val="FF0000"/>
                </a:solidFill>
                <a:latin typeface="Roboto"/>
                <a:ea typeface="Roboto"/>
                <a:cs typeface="Roboto"/>
                <a:sym typeface="Roboto"/>
              </a:rPr>
              <a:t>June 15 </a:t>
            </a:r>
            <a:r>
              <a:rPr lang="en" sz="1800">
                <a:solidFill>
                  <a:srgbClr val="FF0000"/>
                </a:solidFill>
                <a:latin typeface="Roboto"/>
                <a:ea typeface="Roboto"/>
                <a:cs typeface="Roboto"/>
                <a:sym typeface="Roboto"/>
              </a:rPr>
              <a:t>deadline</a:t>
            </a:r>
            <a:r>
              <a:rPr lang="en" sz="1800">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a:p>
            <a:pPr indent="-342900" lvl="1" marL="9144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Abstract</a:t>
            </a:r>
            <a:endParaRPr sz="1800">
              <a:solidFill>
                <a:schemeClr val="dk1"/>
              </a:solidFill>
              <a:latin typeface="Roboto"/>
              <a:ea typeface="Roboto"/>
              <a:cs typeface="Roboto"/>
              <a:sym typeface="Roboto"/>
            </a:endParaRPr>
          </a:p>
          <a:p>
            <a:pPr indent="-342900" lvl="1" marL="9144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Poster</a:t>
            </a:r>
            <a:endParaRPr sz="1800">
              <a:solidFill>
                <a:schemeClr val="dk1"/>
              </a:solidFill>
              <a:latin typeface="Roboto"/>
              <a:ea typeface="Roboto"/>
              <a:cs typeface="Roboto"/>
              <a:sym typeface="Roboto"/>
            </a:endParaRPr>
          </a:p>
          <a:p>
            <a:pPr indent="-342900" lvl="0" marL="457200" rtl="0" algn="l">
              <a:lnSpc>
                <a:spcPct val="115000"/>
              </a:lnSpc>
              <a:spcBef>
                <a:spcPts val="1000"/>
              </a:spcBef>
              <a:spcAft>
                <a:spcPts val="0"/>
              </a:spcAft>
              <a:buClr>
                <a:schemeClr val="dk1"/>
              </a:buClr>
              <a:buSzPts val="1800"/>
              <a:buFont typeface="Roboto"/>
              <a:buChar char="-"/>
            </a:pPr>
            <a:r>
              <a:rPr lang="en" sz="1800">
                <a:solidFill>
                  <a:schemeClr val="dk1"/>
                </a:solidFill>
                <a:latin typeface="Roboto"/>
                <a:ea typeface="Roboto"/>
                <a:cs typeface="Roboto"/>
                <a:sym typeface="Roboto"/>
              </a:rPr>
              <a:t>Benchmarking w wet bulb threshold methods (see Keith’s work)</a:t>
            </a:r>
            <a:endParaRPr sz="1800">
              <a:solidFill>
                <a:schemeClr val="dk1"/>
              </a:solidFill>
              <a:latin typeface="Roboto"/>
              <a:ea typeface="Roboto"/>
              <a:cs typeface="Roboto"/>
              <a:sym typeface="Roboto"/>
            </a:endParaRPr>
          </a:p>
          <a:p>
            <a:pPr indent="-342900" lvl="0" marL="457200" rtl="0" algn="l">
              <a:lnSpc>
                <a:spcPct val="115000"/>
              </a:lnSpc>
              <a:spcBef>
                <a:spcPts val="1000"/>
              </a:spcBef>
              <a:spcAft>
                <a:spcPts val="0"/>
              </a:spcAft>
              <a:buClr>
                <a:schemeClr val="dk1"/>
              </a:buClr>
              <a:buSzPts val="1800"/>
              <a:buFont typeface="Roboto"/>
              <a:buChar char="-"/>
            </a:pPr>
            <a:r>
              <a:rPr lang="en" sz="1800">
                <a:solidFill>
                  <a:schemeClr val="dk1"/>
                </a:solidFill>
                <a:latin typeface="Roboto"/>
                <a:ea typeface="Roboto"/>
                <a:cs typeface="Roboto"/>
                <a:sym typeface="Roboto"/>
              </a:rPr>
              <a:t>MRoS Blog Post ?</a:t>
            </a:r>
            <a:endParaRPr sz="1800">
              <a:solidFill>
                <a:schemeClr val="dk1"/>
              </a:solidFill>
              <a:latin typeface="Roboto"/>
              <a:ea typeface="Roboto"/>
              <a:cs typeface="Roboto"/>
              <a:sym typeface="Roboto"/>
            </a:endParaRPr>
          </a:p>
          <a:p>
            <a:pPr indent="-342900" lvl="0" marL="457200" rtl="0" algn="l">
              <a:lnSpc>
                <a:spcPct val="115000"/>
              </a:lnSpc>
              <a:spcBef>
                <a:spcPts val="1000"/>
              </a:spcBef>
              <a:spcAft>
                <a:spcPts val="1000"/>
              </a:spcAft>
              <a:buClr>
                <a:schemeClr val="dk1"/>
              </a:buClr>
              <a:buSzPts val="1800"/>
              <a:buFont typeface="Roboto"/>
              <a:buChar char="-"/>
            </a:pPr>
            <a:r>
              <a:rPr lang="en" sz="1800">
                <a:solidFill>
                  <a:schemeClr val="dk1"/>
                </a:solidFill>
                <a:latin typeface="Roboto"/>
                <a:ea typeface="Roboto"/>
                <a:cs typeface="Roboto"/>
                <a:sym typeface="Roboto"/>
              </a:rPr>
              <a:t>Manuscript</a:t>
            </a:r>
            <a:endParaRPr sz="1800">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RoS">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